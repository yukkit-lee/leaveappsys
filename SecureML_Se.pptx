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2"/>
    <p:sldId id="256" r:id="rId3"/>
    <p:sldId id="264" r:id="rId4"/>
    <p:sldId id="285" r:id="rId5"/>
    <p:sldId id="286" r:id="rId6"/>
    <p:sldId id="287" r:id="rId7"/>
    <p:sldId id="295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6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5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232" autoAdjust="0"/>
  </p:normalViewPr>
  <p:slideViewPr>
    <p:cSldViewPr snapToGrid="0" showGuides="1">
      <p:cViewPr varScale="1">
        <p:scale>
          <a:sx n="73" d="100"/>
          <a:sy n="73" d="100"/>
        </p:scale>
        <p:origin x="869" y="67"/>
      </p:cViewPr>
      <p:guideLst>
        <p:guide orient="horz" pos="2275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大家好，我今天汇报的论文是 </a:t>
            </a:r>
            <a:r>
              <a:rPr lang="en-US" altLang="zh-CN" b="1"/>
              <a:t>《SecureML: A System for Scalable Privacy-Preserving Machine Learning》</a:t>
            </a:r>
            <a:r>
              <a:rPr lang="zh-CN" altLang="en-US"/>
              <a:t>。</a:t>
            </a:r>
          </a:p>
          <a:p>
            <a:r>
              <a:rPr lang="zh-CN" altLang="en-US"/>
              <a:t>它通过重新设计一套安全计算算法体系，使得机器学习在隐私保护条件下仍能高效运行，将性能提升了数千倍</a:t>
            </a:r>
            <a:endParaRPr lang="en-US" altLang="zh-CN"/>
          </a:p>
          <a:p>
            <a:r>
              <a:rPr lang="zh-CN" altLang="en-US"/>
              <a:t>我将从以下六个方面来介绍：</a:t>
            </a:r>
            <a:br>
              <a:rPr lang="zh-CN" altLang="en-US"/>
            </a:br>
            <a:r>
              <a:rPr lang="zh-CN" altLang="en-US" b="1"/>
              <a:t>背景与问题、研究意义、系统架构、核心创新、实验结果、以及总结与展望。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在机器学习时代，</a:t>
            </a:r>
            <a:r>
              <a:rPr lang="zh-CN" altLang="en-US" b="1"/>
              <a:t>“数据就是燃料”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zh-CN" altLang="en-US"/>
              <a:t>模型的准确率高度依赖于数据量与多样性。</a:t>
            </a:r>
            <a:br>
              <a:rPr lang="zh-CN" altLang="en-US"/>
            </a:br>
            <a:r>
              <a:rPr lang="zh-CN" altLang="en-US"/>
              <a:t>然而，现实中的数据往往分散在不同机构手中</a:t>
            </a:r>
            <a:r>
              <a:rPr lang="en-US" altLang="zh-CN"/>
              <a:t>——</a:t>
            </a:r>
            <a:r>
              <a:rPr lang="zh-CN" altLang="en-US"/>
              <a:t>医院拥有病历，银行有交易记录，电商掌握消费行为。</a:t>
            </a:r>
            <a:br>
              <a:rPr lang="zh-CN" altLang="en-US"/>
            </a:br>
            <a:r>
              <a:rPr lang="zh-CN" altLang="en-US"/>
              <a:t>这些数据一旦结合，就能训练出更强大的预测模型。但是，</a:t>
            </a:r>
            <a:r>
              <a:rPr lang="zh-CN" altLang="en-US" b="1"/>
              <a:t>隐私保护与法律合规</a:t>
            </a:r>
            <a:r>
              <a:rPr lang="zh-CN" altLang="en-US"/>
              <a:t>成了拦路虎。</a:t>
            </a:r>
          </a:p>
          <a:p>
            <a:r>
              <a:rPr lang="zh-CN" altLang="en-US"/>
              <a:t>以医疗场景为例：假设三家医院想合作训练一个疾病预测模型。但病历中包含个人身份、遗传信息和治疗历史，受</a:t>
            </a:r>
            <a:r>
              <a:rPr lang="en-US" altLang="zh-CN"/>
              <a:t>《GDPR》</a:t>
            </a:r>
            <a:r>
              <a:rPr lang="zh-CN" altLang="en-US"/>
              <a:t>和</a:t>
            </a:r>
            <a:r>
              <a:rPr lang="en-US" altLang="zh-CN"/>
              <a:t>《</a:t>
            </a:r>
            <a:r>
              <a:rPr lang="zh-CN" altLang="en-US"/>
              <a:t>个人信息保护法</a:t>
            </a:r>
            <a:r>
              <a:rPr lang="en-US" altLang="zh-CN"/>
              <a:t>》</a:t>
            </a:r>
            <a:r>
              <a:rPr lang="zh-CN" altLang="en-US"/>
              <a:t>约束，医院之间</a:t>
            </a:r>
            <a:r>
              <a:rPr lang="zh-CN" altLang="en-US" b="1"/>
              <a:t>不能直接交换原始数据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zh-CN" altLang="en-US"/>
              <a:t>金融领域也是同样：银行希望与支付公司共享欺诈交易样本，但客户的账户数据具有高度敏感性。这种无法共享的现象被称为**“数据孤岛”**。</a:t>
            </a:r>
          </a:p>
          <a:p>
            <a:r>
              <a:rPr lang="zh-CN" altLang="en-US"/>
              <a:t>为了打破数据孤岛，研究者尝试过多种加密计算方法。其中两种最典型的就是 </a:t>
            </a:r>
            <a:r>
              <a:rPr lang="zh-CN" altLang="en-US" b="1"/>
              <a:t>同态加密（</a:t>
            </a:r>
            <a:r>
              <a:rPr lang="en-US" altLang="zh-CN" b="1"/>
              <a:t>Homomorphic Encryption, HE</a:t>
            </a:r>
            <a:r>
              <a:rPr lang="zh-CN" altLang="en-US" b="1"/>
              <a:t>）</a:t>
            </a:r>
            <a:r>
              <a:rPr lang="zh-CN" altLang="en-US"/>
              <a:t> 和 </a:t>
            </a:r>
            <a:r>
              <a:rPr lang="zh-CN" altLang="en-US" b="1"/>
              <a:t>安全多方计算（</a:t>
            </a:r>
            <a:r>
              <a:rPr lang="en-US" altLang="zh-CN" b="1"/>
              <a:t>Secure Multi-Party Computation, MPC</a:t>
            </a:r>
            <a:r>
              <a:rPr lang="zh-CN" altLang="en-US" b="1"/>
              <a:t>）</a:t>
            </a:r>
            <a:r>
              <a:rPr lang="zh-CN" altLang="en-US"/>
              <a:t>。</a:t>
            </a:r>
          </a:p>
          <a:p>
            <a:r>
              <a:rPr lang="zh-CN" altLang="en-US"/>
              <a:t>同态加密的优点是“加密状态下可计算”，但它的速度极慢。在加密域里做一次乘法，可能要比明文慢几千倍。多方安全计算能确保参与方都无法看到他人数据，但它需要频繁通信，尤其在神经网络训练这种高维度任务中，通信量会呈指数增长。另外还有 </a:t>
            </a:r>
            <a:r>
              <a:rPr lang="zh-CN" altLang="en-US" b="1"/>
              <a:t>可信执行环境（</a:t>
            </a:r>
            <a:r>
              <a:rPr lang="en-US" altLang="zh-CN" b="1"/>
              <a:t>TEE</a:t>
            </a:r>
            <a:r>
              <a:rPr lang="zh-CN" altLang="en-US" b="1"/>
              <a:t>）</a:t>
            </a:r>
            <a:r>
              <a:rPr lang="zh-CN" altLang="en-US"/>
              <a:t>，例如 </a:t>
            </a:r>
            <a:r>
              <a:rPr lang="en-US" altLang="zh-CN"/>
              <a:t>Intel SGX</a:t>
            </a:r>
            <a:r>
              <a:rPr lang="zh-CN" altLang="en-US"/>
              <a:t>，但它依赖硬件信任假设，容易受到侧信道攻击。因此，虽然这些技术理论上能保护隐私，但</a:t>
            </a:r>
            <a:r>
              <a:rPr lang="zh-CN" altLang="en-US" b="1"/>
              <a:t>在实践中很难扩展到大规模数据集</a:t>
            </a:r>
            <a:r>
              <a:rPr lang="zh-CN" altLang="en-US"/>
              <a:t>。这就引出了 </a:t>
            </a:r>
            <a:r>
              <a:rPr lang="en-US" altLang="zh-CN"/>
              <a:t>SecureML </a:t>
            </a:r>
            <a:r>
              <a:rPr lang="zh-CN" altLang="en-US"/>
              <a:t>的核心问题：</a:t>
            </a:r>
          </a:p>
          <a:p>
            <a:r>
              <a:rPr lang="zh-CN" altLang="en-US"/>
              <a:t>“如何在不泄露原始数据的前提下，实现可扩展、可落地的联合模型训练？”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为了打破数据孤岛，研究者尝试过多种加密计算方法。其中两种最典型的就是 </a:t>
            </a:r>
            <a:r>
              <a:rPr lang="zh-CN" altLang="en-US" b="1"/>
              <a:t>同态加密（</a:t>
            </a:r>
            <a:r>
              <a:rPr lang="en-US" altLang="zh-CN" b="1"/>
              <a:t>Homomorphic Encryption, HE</a:t>
            </a:r>
            <a:r>
              <a:rPr lang="zh-CN" altLang="en-US" b="1"/>
              <a:t>）</a:t>
            </a:r>
            <a:r>
              <a:rPr lang="zh-CN" altLang="en-US"/>
              <a:t> 和 </a:t>
            </a:r>
            <a:r>
              <a:rPr lang="zh-CN" altLang="en-US" b="1"/>
              <a:t>安全多方计算（</a:t>
            </a:r>
            <a:r>
              <a:rPr lang="en-US" altLang="zh-CN" b="1"/>
              <a:t>Secure Multi-Party Computation, MPC</a:t>
            </a:r>
            <a:r>
              <a:rPr lang="zh-CN" altLang="en-US" b="1"/>
              <a:t>）</a:t>
            </a:r>
            <a:r>
              <a:rPr lang="zh-CN" altLang="en-US"/>
              <a:t>。</a:t>
            </a:r>
          </a:p>
          <a:p>
            <a:r>
              <a:rPr lang="zh-CN" altLang="en-US"/>
              <a:t>同态加密的优点是“加密状态下可计算”，但它的速度极慢。在加密域里做一次乘法，可能要比明文慢几千倍。多方安全计算能确保参与方都无法看到他人数据，但它需要频繁通信，尤其在神经网络训练这种高维度任务中，通信量会呈指数增长。另外还有 </a:t>
            </a:r>
            <a:r>
              <a:rPr lang="zh-CN" altLang="en-US" b="1"/>
              <a:t>可信执行环境（</a:t>
            </a:r>
            <a:r>
              <a:rPr lang="en-US" altLang="zh-CN" b="1"/>
              <a:t>TEE</a:t>
            </a:r>
            <a:r>
              <a:rPr lang="zh-CN" altLang="en-US" b="1"/>
              <a:t>）</a:t>
            </a:r>
            <a:r>
              <a:rPr lang="zh-CN" altLang="en-US"/>
              <a:t>，例如 </a:t>
            </a:r>
            <a:r>
              <a:rPr lang="en-US" altLang="zh-CN"/>
              <a:t>Intel SGX</a:t>
            </a:r>
            <a:r>
              <a:rPr lang="zh-CN" altLang="en-US"/>
              <a:t>，但它依赖硬件信任假设，容易受到侧信道攻击。因此，虽然这些技术理论上能保护隐私，但</a:t>
            </a:r>
            <a:r>
              <a:rPr lang="zh-CN" altLang="en-US" b="1"/>
              <a:t>在实践中很难扩展到大规模数据集</a:t>
            </a:r>
            <a:r>
              <a:rPr lang="zh-CN" altLang="en-US"/>
              <a:t>。这就引出了 </a:t>
            </a:r>
            <a:r>
              <a:rPr lang="en-US" altLang="zh-CN"/>
              <a:t>SecureML </a:t>
            </a:r>
            <a:r>
              <a:rPr lang="zh-CN" altLang="en-US"/>
              <a:t>的核心问题：</a:t>
            </a:r>
          </a:p>
          <a:p>
            <a:r>
              <a:rPr lang="zh-CN" altLang="en-US"/>
              <a:t>“如何在不泄露原始数据的前提下，实现可扩展、可落地的联合模型训练？”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从</a:t>
            </a:r>
            <a:r>
              <a:rPr lang="zh-CN" altLang="en-US" b="1"/>
              <a:t>理论角度</a:t>
            </a:r>
            <a:r>
              <a:rPr lang="zh-CN" altLang="en-US"/>
              <a:t>看，这篇论文首次证明了</a:t>
            </a:r>
            <a:r>
              <a:rPr lang="en-US" altLang="zh-CN"/>
              <a:t>——</a:t>
            </a:r>
            <a:r>
              <a:rPr lang="zh-CN" altLang="en-US"/>
              <a:t>隐私保护并不必然意味着极端低效。作者通过新的协议设计，让安全计算的性能提升了</a:t>
            </a:r>
            <a:r>
              <a:rPr lang="zh-CN" altLang="en-US" b="1"/>
              <a:t>几百到上千倍</a:t>
            </a:r>
            <a:r>
              <a:rPr lang="zh-CN" altLang="en-US"/>
              <a:t>。</a:t>
            </a:r>
          </a:p>
          <a:p>
            <a:r>
              <a:rPr lang="zh-CN" altLang="en-US"/>
              <a:t>从</a:t>
            </a:r>
            <a:r>
              <a:rPr lang="zh-CN" altLang="en-US" b="1"/>
              <a:t>应用角度</a:t>
            </a:r>
            <a:r>
              <a:rPr lang="zh-CN" altLang="en-US"/>
              <a:t>看，</a:t>
            </a:r>
            <a:r>
              <a:rPr lang="en-US" altLang="zh-CN"/>
              <a:t>SecureML </a:t>
            </a:r>
            <a:r>
              <a:rPr lang="zh-CN" altLang="en-US"/>
              <a:t>也是第一个支持神经网络训练的隐私保护系统。在此之前，几乎所有隐私计算研究只停留在</a:t>
            </a:r>
            <a:r>
              <a:rPr lang="zh-CN" altLang="en-US" b="1"/>
              <a:t>线性回归</a:t>
            </a:r>
            <a:r>
              <a:rPr lang="zh-CN" altLang="en-US"/>
              <a:t>或</a:t>
            </a:r>
            <a:r>
              <a:rPr lang="zh-CN" altLang="en-US" b="1"/>
              <a:t>逻辑回归</a:t>
            </a:r>
            <a:r>
              <a:rPr lang="zh-CN" altLang="en-US"/>
              <a:t>，大家普遍认为神经网络的安全训练“在可预见的未来都不可能实现”。</a:t>
            </a:r>
            <a:br>
              <a:rPr lang="zh-CN" altLang="en-US"/>
            </a:br>
            <a:r>
              <a:rPr lang="en-US" altLang="zh-CN"/>
              <a:t>SecureML </a:t>
            </a:r>
            <a:r>
              <a:rPr lang="zh-CN" altLang="en-US"/>
              <a:t>改变了这种看法，为隐私深度学习打开了大门。更重要的是，它提出了一整套可复用的设计框架：包括</a:t>
            </a:r>
            <a:r>
              <a:rPr lang="zh-CN" altLang="en-US" b="1"/>
              <a:t>两服务器模型、截断法、</a:t>
            </a:r>
            <a:r>
              <a:rPr lang="en-US" altLang="zh-CN" b="1"/>
              <a:t>MPC </a:t>
            </a:r>
            <a:r>
              <a:rPr lang="zh-CN" altLang="en-US" b="1"/>
              <a:t>友好激活函数、协议向量化</a:t>
            </a:r>
            <a:r>
              <a:rPr lang="zh-CN" altLang="en-US"/>
              <a:t>等思路。</a:t>
            </a:r>
            <a:br>
              <a:rPr lang="zh-CN" altLang="en-US"/>
            </a:br>
            <a:r>
              <a:rPr lang="zh-CN" altLang="en-US"/>
              <a:t>这些思想后来被广泛采用，比如 </a:t>
            </a:r>
            <a:r>
              <a:rPr lang="en-US" altLang="zh-CN"/>
              <a:t>SecureNN</a:t>
            </a:r>
            <a:r>
              <a:rPr lang="zh-CN" altLang="en-US"/>
              <a:t>、</a:t>
            </a:r>
            <a:r>
              <a:rPr lang="en-US" altLang="zh-CN"/>
              <a:t>CrypTen</a:t>
            </a:r>
            <a:r>
              <a:rPr lang="zh-CN" altLang="en-US"/>
              <a:t>、</a:t>
            </a:r>
            <a:r>
              <a:rPr lang="en-US" altLang="zh-CN"/>
              <a:t>CryptGPU </a:t>
            </a:r>
            <a:r>
              <a:rPr lang="zh-CN" altLang="en-US"/>
              <a:t>等系统，都在不同程度上延续了 </a:t>
            </a:r>
            <a:r>
              <a:rPr lang="en-US" altLang="zh-CN"/>
              <a:t>SecureML </a:t>
            </a:r>
            <a:r>
              <a:rPr lang="zh-CN" altLang="en-US"/>
              <a:t>的设计理念。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SecureML </a:t>
            </a:r>
            <a:r>
              <a:rPr lang="zh-CN" altLang="en-US"/>
              <a:t>的架构核心是 </a:t>
            </a:r>
            <a:r>
              <a:rPr lang="zh-CN" altLang="en-US" b="1"/>
              <a:t>“两服务器模型” </a:t>
            </a:r>
            <a:r>
              <a:rPr lang="en-US" altLang="zh-CN" b="1"/>
              <a:t>(Two-Server Model)</a:t>
            </a:r>
            <a:r>
              <a:rPr lang="en-US" altLang="zh-CN"/>
              <a:t> </a:t>
            </a:r>
            <a:r>
              <a:rPr lang="zh-CN" altLang="en-US"/>
              <a:t>。</a:t>
            </a:r>
          </a:p>
          <a:p>
            <a:r>
              <a:rPr lang="zh-CN" altLang="en-US"/>
              <a:t>我们可以把它想象成一种“拼图机制”：</a:t>
            </a:r>
            <a:endParaRPr lang="en-US" altLang="zh-CN"/>
          </a:p>
          <a:p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客户端 </a:t>
            </a:r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(Clients):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比如多家医院，它们是数据持有方。</a:t>
            </a:r>
          </a:p>
          <a:p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服务器 </a:t>
            </a:r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(Servers):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S0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S1</a:t>
            </a:r>
            <a:endParaRPr lang="zh-CN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这个“拼图”在密码学上叫做 “加法秘密分享”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(Additive Secret Sharing)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流程是：</a:t>
            </a:r>
          </a:p>
          <a:p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数据分享：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客户端（比如医院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）有一个数据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，它会随机生成一个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x0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，然后计算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x1=x-x0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数据分发：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医院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x0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发给服务器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S0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，把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x1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发给服务器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S1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安全性：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S0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只拿到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x0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（一个随机数），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S1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只拿到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x1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任何一方都无法单独还原 </a:t>
            </a:r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en-US" altLang="zh-CN"/>
          </a:p>
          <a:p>
            <a:r>
              <a:rPr lang="zh-CN" altLang="en-US"/>
              <a:t>流程是这样的：</a:t>
            </a:r>
            <a:endParaRPr lang="en-US" altLang="zh-CN"/>
          </a:p>
          <a:p>
            <a:r>
              <a:rPr lang="zh-CN" altLang="en-US"/>
              <a:t>多个客户端（即数据持有者）先在本地对数据进行预处理，比如标准化、分片或加密。</a:t>
            </a:r>
            <a:endParaRPr lang="en-US" altLang="zh-CN"/>
          </a:p>
          <a:p>
            <a:r>
              <a:rPr lang="zh-CN" altLang="en-US"/>
              <a:t>每个客户端将数据拆成两份</a:t>
            </a:r>
            <a:r>
              <a:rPr lang="en-US" altLang="zh-CN"/>
              <a:t>——</a:t>
            </a:r>
            <a:r>
              <a:rPr lang="zh-CN" altLang="en-US"/>
              <a:t>类似</a:t>
            </a:r>
            <a:r>
              <a:rPr lang="en-US" altLang="zh-CN"/>
              <a:t>“</a:t>
            </a:r>
            <a:r>
              <a:rPr lang="zh-CN" altLang="en-US"/>
              <a:t>切成两半的拼图</a:t>
            </a:r>
            <a:r>
              <a:rPr lang="en-US" altLang="zh-CN"/>
              <a:t>”</a:t>
            </a:r>
            <a:r>
              <a:rPr lang="zh-CN" altLang="en-US"/>
              <a:t>，分别发给两台不串通的服务器</a:t>
            </a:r>
            <a:r>
              <a:rPr lang="en-US" altLang="zh-CN"/>
              <a:t> S</a:t>
            </a:r>
            <a:r>
              <a:rPr lang="en-US" altLang="en-US"/>
              <a:t>₀</a:t>
            </a:r>
            <a:r>
              <a:rPr lang="en-US" altLang="zh-CN"/>
              <a:t> </a:t>
            </a:r>
            <a:r>
              <a:rPr lang="zh-CN" altLang="en-US"/>
              <a:t>和</a:t>
            </a:r>
            <a:r>
              <a:rPr lang="en-US" altLang="zh-CN"/>
              <a:t> S</a:t>
            </a:r>
            <a:r>
              <a:rPr lang="en-US" altLang="en-US"/>
              <a:t>₁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两台服务器各自持有一半数据碎片，无法单独恢复原始信息，但可以通过安全两方计算</a:t>
            </a:r>
            <a:r>
              <a:rPr lang="en-US" altLang="zh-CN"/>
              <a:t> (2PC) </a:t>
            </a:r>
            <a:r>
              <a:rPr lang="zh-CN" altLang="en-US"/>
              <a:t>合作训练模型。</a:t>
            </a:r>
            <a:endParaRPr lang="en-US" altLang="zh-CN"/>
          </a:p>
          <a:p>
            <a:r>
              <a:rPr lang="zh-CN" altLang="en-US"/>
              <a:t>客户端在上传数据后即可离线，整个训练由服务器完成。</a:t>
            </a:r>
            <a:endParaRPr lang="en-US" altLang="zh-CN"/>
          </a:p>
          <a:p>
            <a:r>
              <a:rPr lang="zh-CN" altLang="en-US"/>
              <a:t>最终，两台服务器只输出模型参数，而不会泄露任何单方数据。</a:t>
            </a:r>
            <a:endParaRPr lang="en-US" altLang="zh-CN"/>
          </a:p>
          <a:p>
            <a:r>
              <a:rPr lang="en-US" altLang="zh-CN"/>
              <a:t>SecureML </a:t>
            </a:r>
            <a:r>
              <a:rPr lang="zh-CN" altLang="en-US"/>
              <a:t>把训练过程拆成两个阶段：</a:t>
            </a:r>
          </a:p>
          <a:p>
            <a:r>
              <a:rPr lang="zh-CN" altLang="en-US"/>
              <a:t>离线阶段（</a:t>
            </a:r>
            <a:r>
              <a:rPr lang="en-US" altLang="zh-CN"/>
              <a:t>Offline Phase</a:t>
            </a:r>
            <a:r>
              <a:rPr lang="zh-CN" altLang="en-US"/>
              <a:t>）：预先生成大量用于安全计算的随机乘法三元组，这一步与具体数据无关。</a:t>
            </a:r>
            <a:endParaRPr lang="en-US" altLang="zh-CN"/>
          </a:p>
          <a:p>
            <a:r>
              <a:rPr lang="zh-CN" altLang="en-US"/>
              <a:t>在线阶段（</a:t>
            </a:r>
            <a:r>
              <a:rPr lang="en-US" altLang="zh-CN"/>
              <a:t>Online Phase</a:t>
            </a:r>
            <a:r>
              <a:rPr lang="zh-CN" altLang="en-US"/>
              <a:t>）：在训练时只进行轻量级算术运算，不再执行复杂加密。</a:t>
            </a:r>
          </a:p>
          <a:p>
            <a:r>
              <a:rPr lang="zh-CN" altLang="en-US"/>
              <a:t>这种</a:t>
            </a:r>
            <a:r>
              <a:rPr lang="en-US" altLang="zh-CN"/>
              <a:t>“</a:t>
            </a:r>
            <a:r>
              <a:rPr lang="zh-CN" altLang="en-US"/>
              <a:t>重离线、轻在线</a:t>
            </a:r>
            <a:r>
              <a:rPr lang="en-US" altLang="zh-CN"/>
              <a:t>”</a:t>
            </a:r>
            <a:r>
              <a:rPr lang="zh-CN" altLang="en-US"/>
              <a:t>的架构，是</a:t>
            </a:r>
            <a:r>
              <a:rPr lang="en-US" altLang="zh-CN"/>
              <a:t> SecureML </a:t>
            </a:r>
            <a:r>
              <a:rPr lang="zh-CN" altLang="en-US"/>
              <a:t>能够做到高效训练的关键。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这篇论文的安全模型是 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“半诚实模型” </a:t>
            </a:r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(Semi-Honest Model)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baseline="300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1616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这是什么意思？在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MPC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中，我们有两种对手：</a:t>
            </a:r>
          </a:p>
          <a:p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恶意 </a:t>
            </a:r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(Malicious)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对手会不择手段，比如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篡改协议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、发送假数据、提前中止计算来攻击你。防御这种对手代价极高。</a:t>
            </a:r>
          </a:p>
          <a:p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半诚实 </a:t>
            </a:r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(Semi-Honest)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也叫“诚实但好奇”。对手会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严格遵守协议的每一步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，但他会保留计算过程中收到的所有信息（比如中间值），试图在事后推断出额外的信息 </a:t>
            </a:r>
            <a:r>
              <a:rPr lang="en-US" altLang="zh-CN" sz="1200" kern="1200" baseline="300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17171717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SecureML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假设对手是“半诚实”的。</a:t>
            </a:r>
          </a:p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强调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为什么这个假设是合理的？</a:t>
            </a: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论文设想的场景中（比如几家银行或医院合作），参与方都是有声誉的大机构，它们有强烈的动机去遵守法律和协议（不会主动“作恶”），但它们又互不信任（会“好奇”对方的数据）。半诚实模型完美地刻画了这种**“既合作又竞争”**的商业联盟关系。</a:t>
            </a: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PowerPoint: “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不串通”假设）</a:t>
            </a:r>
          </a:p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SecureML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还有一个最关键的假设：</a:t>
            </a:r>
          </a:p>
          <a:p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两台服务器 </a:t>
            </a:r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S0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S1</a:t>
            </a:r>
            <a:r>
              <a:rPr lang="zh-CN" alt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不传统</a:t>
            </a:r>
            <a:endParaRPr lang="en-US" altLang="zh-CN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只要其中之一保持诚实，系统就是安全的。一旦它们合谋，交换手上的数据分享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x0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x1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，原始数据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就会立刻泄露。</a:t>
            </a: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这个假设在现实中偏强，因此论文在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章节中也讨论了替代方案，比如让客户端参与部分离线计算 ，但这会引入新的安全模型，要求客户端和服务器也不能串通 </a:t>
            </a:r>
            <a:r>
              <a:rPr lang="en-US" altLang="zh-CN" sz="1200" kern="1200" baseline="300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我们知道在机器学习中尤其是</a:t>
            </a:r>
            <a:r>
              <a:rPr lang="en-US" altLang="zh-CN">
                <a:sym typeface="+mn-ea"/>
              </a:rPr>
              <a:t>SGD</a:t>
            </a:r>
            <a:r>
              <a:rPr lang="zh-CN" altLang="en-US">
                <a:sym typeface="+mn-ea"/>
              </a:rPr>
              <a:t>，需要大量浮点数乘法，而加密十进制数计算效率低 </a:t>
            </a:r>
            <a:r>
              <a:rPr lang="en-US" altLang="zh-CN">
                <a:sym typeface="+mn-ea"/>
              </a:rPr>
              <a:t>-&gt; </a:t>
            </a:r>
            <a:r>
              <a:rPr lang="zh-CN" altLang="en-US">
                <a:sym typeface="+mn-ea"/>
              </a:rPr>
              <a:t>加密计算 保证精度</a:t>
            </a:r>
          </a:p>
          <a:p>
            <a:r>
              <a:rPr lang="zh-CN" altLang="en-US"/>
              <a:t>在传统安全计算中，小数运算是最耗时的部分</a:t>
            </a:r>
            <a:r>
              <a:rPr lang="en-US" altLang="zh-CN"/>
              <a:t>,</a:t>
            </a:r>
            <a:r>
              <a:rPr lang="zh-CN" altLang="en-US"/>
              <a:t>计算代价极高。</a:t>
            </a:r>
            <a:endParaRPr lang="en-US" altLang="zh-CN"/>
          </a:p>
          <a:p>
            <a:r>
              <a:rPr lang="zh-CN" altLang="en-US"/>
              <a:t>作者提出了一种非常巧妙的方法</a:t>
            </a:r>
            <a:r>
              <a:rPr lang="en-US" altLang="zh-CN"/>
              <a:t>——</a:t>
            </a:r>
            <a:r>
              <a:rPr lang="zh-CN" altLang="en-US"/>
              <a:t>本地截断。</a:t>
            </a:r>
            <a:endParaRPr lang="en-US" altLang="zh-CN"/>
          </a:p>
          <a:p>
            <a:r>
              <a:rPr lang="zh-CN" altLang="en-US"/>
              <a:t>服务器 </a:t>
            </a:r>
            <a:r>
              <a:rPr lang="en-US" altLang="zh-CN"/>
              <a:t>A </a:t>
            </a:r>
            <a:r>
              <a:rPr lang="zh-CN" altLang="en-US"/>
              <a:t>和 </a:t>
            </a:r>
            <a:r>
              <a:rPr lang="en-US" altLang="zh-CN"/>
              <a:t>B </a:t>
            </a:r>
            <a:r>
              <a:rPr lang="zh-CN" altLang="en-US"/>
              <a:t>必须进行多轮加密和通信，来共同协商如何把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7.89</a:t>
            </a:r>
            <a:r>
              <a:rPr lang="zh-CN" altLang="en-US"/>
              <a:t>这个秘密数，安全地变成整数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$7$</a:t>
            </a:r>
            <a:r>
              <a:rPr lang="zh-CN" altLang="en-US"/>
              <a:t>。这个过程非常耗时、耗资源。</a:t>
            </a:r>
          </a:p>
          <a:p>
            <a:r>
              <a:rPr lang="zh-CN" altLang="en-US"/>
              <a:t>直观地说，就是每台服务器在计算完乘积后，各自</a:t>
            </a:r>
            <a:r>
              <a:rPr lang="en-US" altLang="zh-CN"/>
              <a:t>“</a:t>
            </a:r>
            <a:r>
              <a:rPr lang="zh-CN" altLang="en-US"/>
              <a:t>砍掉</a:t>
            </a:r>
            <a:r>
              <a:rPr lang="en-US" altLang="zh-CN"/>
              <a:t>”</a:t>
            </a:r>
            <a:r>
              <a:rPr lang="zh-CN" altLang="en-US"/>
              <a:t>几位小数。</a:t>
            </a:r>
          </a:p>
          <a:p>
            <a:r>
              <a:rPr lang="zh-CN" altLang="en-US"/>
              <a:t>这一步完全本地执行，不需要额外通信，也不需要加密。</a:t>
            </a:r>
            <a:endParaRPr lang="en-US" altLang="zh-CN"/>
          </a:p>
          <a:p>
            <a:r>
              <a:rPr lang="zh-CN" altLang="en-US"/>
              <a:t>实验表明，这种截断误差在理论上最多只有</a:t>
            </a:r>
            <a:r>
              <a:rPr lang="en-US" altLang="zh-CN"/>
              <a:t> 1 bit</a:t>
            </a:r>
            <a:r>
              <a:rPr lang="zh-CN" altLang="en-US"/>
              <a:t>，几乎不会影响模型精度。</a:t>
            </a:r>
          </a:p>
          <a:p>
            <a:r>
              <a:rPr lang="zh-CN" altLang="en-US"/>
              <a:t>更重要的是，它让在线训练阶段几乎不包含任何密码学操作，只需做普通整数乘法和移位。</a:t>
            </a:r>
          </a:p>
          <a:p>
            <a:r>
              <a:rPr lang="zh-CN" altLang="en-US"/>
              <a:t>因此，性能几乎接近明文训练。</a:t>
            </a:r>
            <a:endParaRPr lang="en-US" altLang="zh-CN"/>
          </a:p>
          <a:p>
            <a:r>
              <a:rPr lang="zh-CN" altLang="en-US"/>
              <a:t>举个比喻：</a:t>
            </a:r>
          </a:p>
          <a:p>
            <a:r>
              <a:rPr lang="zh-CN" altLang="en-US"/>
              <a:t>传统方法是</a:t>
            </a:r>
            <a:r>
              <a:rPr lang="en-US" altLang="zh-CN"/>
              <a:t>“</a:t>
            </a:r>
            <a:r>
              <a:rPr lang="zh-CN" altLang="en-US"/>
              <a:t>先做完整乘法再做加密除法</a:t>
            </a:r>
            <a:r>
              <a:rPr lang="en-US" altLang="zh-CN"/>
              <a:t>”</a:t>
            </a:r>
            <a:r>
              <a:rPr lang="zh-CN" altLang="en-US"/>
              <a:t>，就像在银行柜台逐分计算；</a:t>
            </a:r>
          </a:p>
          <a:p>
            <a:r>
              <a:rPr lang="zh-CN" altLang="en-US"/>
              <a:t>而</a:t>
            </a:r>
            <a:r>
              <a:rPr lang="en-US" altLang="zh-CN"/>
              <a:t> SecureML </a:t>
            </a:r>
            <a:r>
              <a:rPr lang="zh-CN" altLang="en-US"/>
              <a:t>的截断方法，就像在计算前就约定</a:t>
            </a:r>
            <a:r>
              <a:rPr lang="en-US" altLang="zh-CN"/>
              <a:t>“</a:t>
            </a:r>
            <a:r>
              <a:rPr lang="zh-CN" altLang="en-US"/>
              <a:t>我们只保留小数点后两位</a:t>
            </a:r>
            <a:r>
              <a:rPr lang="en-US" altLang="zh-CN"/>
              <a:t>”</a:t>
            </a:r>
            <a:r>
              <a:rPr lang="zh-CN" altLang="en-US"/>
              <a:t>，大幅节省时间。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神经网络的非线性激活函数，如</a:t>
            </a:r>
            <a:r>
              <a:rPr lang="en-US" altLang="zh-CN"/>
              <a:t> Sigmoid </a:t>
            </a:r>
            <a:r>
              <a:rPr lang="zh-CN" altLang="en-US"/>
              <a:t>或</a:t>
            </a:r>
            <a:r>
              <a:rPr lang="en-US" altLang="zh-CN"/>
              <a:t> Softmax</a:t>
            </a:r>
            <a:r>
              <a:rPr lang="zh-CN" altLang="en-US"/>
              <a:t>，通常涉及指数和除法运算。</a:t>
            </a:r>
            <a:endParaRPr lang="en-US" altLang="zh-CN"/>
          </a:p>
          <a:p>
            <a:r>
              <a:rPr lang="zh-CN" altLang="en-US"/>
              <a:t>用低阶多项式（比如 </a:t>
            </a:r>
            <a:r>
              <a:rPr lang="en-US" altLang="zh-CN"/>
              <a:t>2 </a:t>
            </a:r>
            <a:r>
              <a:rPr lang="zh-CN" altLang="en-US"/>
              <a:t>阶或 </a:t>
            </a:r>
            <a:r>
              <a:rPr lang="en-US" altLang="zh-CN"/>
              <a:t>3 </a:t>
            </a:r>
            <a:r>
              <a:rPr lang="zh-CN" altLang="en-US"/>
              <a:t>阶）来近似。</a:t>
            </a:r>
            <a:endParaRPr lang="en-US" altLang="zh-CN"/>
          </a:p>
          <a:p>
            <a:r>
              <a:rPr lang="zh-CN" altLang="en-US"/>
              <a:t>论文在 </a:t>
            </a:r>
            <a:r>
              <a:rPr lang="en-US" altLang="zh-CN" b="1"/>
              <a:t>Table I</a:t>
            </a:r>
            <a:r>
              <a:rPr lang="en-US" altLang="zh-CN"/>
              <a:t> </a:t>
            </a:r>
            <a:r>
              <a:rPr lang="zh-CN" altLang="en-US"/>
              <a:t>中指出，低阶多项式近似的效果</a:t>
            </a:r>
            <a:r>
              <a:rPr lang="zh-CN" altLang="en-US" b="1"/>
              <a:t>极差</a:t>
            </a:r>
            <a:r>
              <a:rPr lang="zh-CN" altLang="en-US"/>
              <a:t>！</a:t>
            </a:r>
            <a:endParaRPr lang="en-US" altLang="zh-CN"/>
          </a:p>
          <a:p>
            <a:r>
              <a:rPr lang="zh-CN" altLang="en-US"/>
              <a:t>必须用到 </a:t>
            </a:r>
            <a:r>
              <a:rPr lang="en-US" altLang="zh-CN"/>
              <a:t>10 </a:t>
            </a:r>
            <a:r>
              <a:rPr lang="zh-CN" altLang="en-US"/>
              <a:t>阶多项式才能接近 </a:t>
            </a:r>
            <a:r>
              <a:rPr lang="en-US" altLang="zh-CN"/>
              <a:t>98.54%</a:t>
            </a:r>
            <a:r>
              <a:rPr lang="zh-CN" altLang="en-US"/>
              <a:t>，但 </a:t>
            </a:r>
            <a:r>
              <a:rPr lang="en-US" altLang="zh-CN"/>
              <a:t>10 </a:t>
            </a:r>
            <a:r>
              <a:rPr lang="zh-CN" altLang="en-US"/>
              <a:t>阶多项式的计算开销又太大了 。</a:t>
            </a:r>
            <a:endParaRPr lang="en-US" altLang="zh-CN"/>
          </a:p>
          <a:p>
            <a:r>
              <a:rPr lang="zh-CN" altLang="en-US"/>
              <a:t>这些运算在安全计算中非常昂贵。</a:t>
            </a:r>
            <a:endParaRPr lang="en-US" altLang="zh-CN"/>
          </a:p>
          <a:p>
            <a:r>
              <a:rPr lang="en-US" altLang="zh-CN"/>
              <a:t>SecureML </a:t>
            </a:r>
            <a:r>
              <a:rPr lang="zh-CN" altLang="en-US"/>
              <a:t>用分段线性函数替代</a:t>
            </a:r>
            <a:r>
              <a:rPr lang="en-US" altLang="zh-CN"/>
              <a:t> Sigmoid</a:t>
            </a:r>
            <a:r>
              <a:rPr lang="zh-CN" altLang="en-US"/>
              <a:t>：</a:t>
            </a:r>
          </a:p>
          <a:p>
            <a:r>
              <a:rPr lang="zh-CN" altLang="en-US"/>
              <a:t>当</a:t>
            </a:r>
            <a:r>
              <a:rPr lang="en-US" altLang="zh-CN"/>
              <a:t> x </a:t>
            </a:r>
            <a:r>
              <a:rPr lang="zh-CN" altLang="en-US"/>
              <a:t>小于</a:t>
            </a:r>
            <a:r>
              <a:rPr lang="en-US" altLang="zh-CN"/>
              <a:t> –0.5 </a:t>
            </a:r>
            <a:r>
              <a:rPr lang="zh-CN" altLang="en-US"/>
              <a:t>输出</a:t>
            </a:r>
            <a:r>
              <a:rPr lang="en-US" altLang="zh-CN"/>
              <a:t> 0</a:t>
            </a:r>
            <a:r>
              <a:rPr lang="zh-CN" altLang="en-US"/>
              <a:t>，大于</a:t>
            </a:r>
            <a:r>
              <a:rPr lang="en-US" altLang="zh-CN"/>
              <a:t> 0.5 </a:t>
            </a:r>
            <a:r>
              <a:rPr lang="zh-CN" altLang="en-US"/>
              <a:t>输出</a:t>
            </a:r>
            <a:r>
              <a:rPr lang="en-US" altLang="zh-CN"/>
              <a:t> 1</a:t>
            </a:r>
            <a:r>
              <a:rPr lang="zh-CN" altLang="en-US"/>
              <a:t>，中间区域线性插值。</a:t>
            </a:r>
          </a:p>
          <a:p>
            <a:r>
              <a:rPr lang="zh-CN" altLang="en-US"/>
              <a:t>这样的函数保留了</a:t>
            </a:r>
            <a:r>
              <a:rPr lang="en-US" altLang="zh-CN"/>
              <a:t> Sigmoid </a:t>
            </a:r>
            <a:r>
              <a:rPr lang="zh-CN" altLang="en-US"/>
              <a:t>的核心性质</a:t>
            </a:r>
            <a:r>
              <a:rPr lang="en-US" altLang="zh-CN"/>
              <a:t>——</a:t>
            </a:r>
            <a:r>
              <a:rPr lang="zh-CN" altLang="en-US"/>
              <a:t>输出被限制在</a:t>
            </a:r>
            <a:r>
              <a:rPr lang="en-US" altLang="zh-CN"/>
              <a:t> [0, 1]</a:t>
            </a:r>
            <a:r>
              <a:rPr lang="zh-CN" altLang="en-US"/>
              <a:t>，并且单调递增。</a:t>
            </a:r>
            <a:endParaRPr lang="en-US" altLang="zh-CN"/>
          </a:p>
          <a:p>
            <a:r>
              <a:rPr lang="zh-CN" altLang="en-US"/>
              <a:t>对于</a:t>
            </a:r>
            <a:r>
              <a:rPr lang="en-US" altLang="zh-CN"/>
              <a:t> Softmax</a:t>
            </a:r>
            <a:r>
              <a:rPr lang="zh-CN" altLang="en-US"/>
              <a:t>，作者采用</a:t>
            </a:r>
            <a:r>
              <a:rPr lang="en-US" altLang="zh-CN"/>
              <a:t> ReLU </a:t>
            </a:r>
            <a:r>
              <a:rPr lang="zh-CN" altLang="en-US"/>
              <a:t>加一次安全除法组合的方式。</a:t>
            </a:r>
          </a:p>
          <a:p>
            <a:r>
              <a:rPr lang="zh-CN" altLang="en-US"/>
              <a:t>这种方式既能保持分类效果，又显著降低了计算复杂度。</a:t>
            </a:r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 MNIST </a:t>
            </a:r>
            <a:r>
              <a:rPr lang="zh-CN" altLang="en-US"/>
              <a:t>实验中，</a:t>
            </a:r>
            <a:r>
              <a:rPr lang="en-US" altLang="zh-CN"/>
              <a:t>SecureML </a:t>
            </a:r>
            <a:r>
              <a:rPr lang="zh-CN" altLang="en-US"/>
              <a:t>的隐私神经网络达到</a:t>
            </a:r>
            <a:r>
              <a:rPr lang="en-US" altLang="zh-CN"/>
              <a:t> 93.4% </a:t>
            </a:r>
            <a:r>
              <a:rPr lang="zh-CN" altLang="en-US"/>
              <a:t>准确率，而明文训练是</a:t>
            </a:r>
            <a:r>
              <a:rPr lang="en-US" altLang="zh-CN"/>
              <a:t> 94.5%</a:t>
            </a:r>
            <a:r>
              <a:rPr lang="zh-CN" altLang="en-US"/>
              <a:t>。</a:t>
            </a:r>
          </a:p>
          <a:p>
            <a:r>
              <a:rPr lang="zh-CN" altLang="en-US"/>
              <a:t>精度几乎一致，但效率提升了几个数量级。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第三个创新是</a:t>
            </a:r>
            <a:r>
              <a:rPr lang="zh-CN" altLang="en-US" b="1"/>
              <a:t>向量化协议</a:t>
            </a:r>
            <a:r>
              <a:rPr lang="zh-CN" altLang="en-US"/>
              <a:t>。</a:t>
            </a:r>
            <a:br>
              <a:rPr lang="zh-CN" altLang="en-US"/>
            </a:br>
            <a:r>
              <a:rPr lang="zh-CN" altLang="en-US"/>
              <a:t>在以往方案中，生成安全乘法三元组时，需要为每一个乘法单独生成掩码，代价巨大。</a:t>
            </a:r>
          </a:p>
          <a:p>
            <a:r>
              <a:rPr lang="en-US" altLang="zh-CN"/>
              <a:t>SecureML </a:t>
            </a:r>
            <a:r>
              <a:rPr lang="zh-CN" altLang="en-US"/>
              <a:t>提出批量生成矩阵乘法三元组的方案。</a:t>
            </a:r>
            <a:br>
              <a:rPr lang="zh-CN" altLang="en-US"/>
            </a:br>
            <a:r>
              <a:rPr lang="zh-CN" altLang="en-US"/>
              <a:t>离线阶段一次性生成整块随机矩阵，用于后续所有计算；</a:t>
            </a:r>
            <a:br>
              <a:rPr lang="zh-CN" altLang="en-US"/>
            </a:br>
            <a:r>
              <a:rPr lang="zh-CN" altLang="en-US"/>
              <a:t>在线阶段直接进行矩阵乘法而非标量乘法，并使用 </a:t>
            </a:r>
            <a:r>
              <a:rPr lang="en-US" altLang="zh-CN"/>
              <a:t>Eigen </a:t>
            </a:r>
            <a:r>
              <a:rPr lang="zh-CN" altLang="en-US"/>
              <a:t>并行库实现向量化。</a:t>
            </a:r>
          </a:p>
          <a:p>
            <a:r>
              <a:rPr lang="zh-CN" altLang="en-US"/>
              <a:t>结果是：</a:t>
            </a:r>
          </a:p>
          <a:p>
            <a:r>
              <a:rPr lang="zh-CN" altLang="en-US"/>
              <a:t>通信量减少约 </a:t>
            </a:r>
            <a:r>
              <a:rPr lang="en-US" altLang="zh-CN"/>
              <a:t>4 </a:t>
            </a:r>
            <a:r>
              <a:rPr lang="zh-CN" altLang="en-US"/>
              <a:t>倍，</a:t>
            </a:r>
          </a:p>
          <a:p>
            <a:r>
              <a:rPr lang="zh-CN" altLang="en-US"/>
              <a:t>离线阶段加速 </a:t>
            </a:r>
            <a:r>
              <a:rPr lang="en-US" altLang="zh-CN"/>
              <a:t>40–60 </a:t>
            </a:r>
            <a:r>
              <a:rPr lang="zh-CN" altLang="en-US"/>
              <a:t>倍，</a:t>
            </a:r>
          </a:p>
          <a:p>
            <a:r>
              <a:rPr lang="zh-CN" altLang="en-US"/>
              <a:t>在线阶段的计算量接近明文训练。</a:t>
            </a:r>
          </a:p>
          <a:p>
            <a:r>
              <a:rPr lang="zh-CN" altLang="en-US"/>
              <a:t>这三项创新共同使得 </a:t>
            </a:r>
            <a:r>
              <a:rPr lang="en-US" altLang="zh-CN"/>
              <a:t>SecureML </a:t>
            </a:r>
            <a:r>
              <a:rPr lang="zh-CN" altLang="en-US"/>
              <a:t>在性能与隐私之间取得了前所未有的平衡。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接下来看实验部分：</a:t>
            </a:r>
            <a:endParaRPr lang="en-US" altLang="zh-CN"/>
          </a:p>
          <a:p>
            <a:r>
              <a:rPr lang="zh-CN" altLang="en-US"/>
              <a:t>作者在 </a:t>
            </a:r>
            <a:r>
              <a:rPr lang="en-US" altLang="zh-CN"/>
              <a:t>MNIST </a:t>
            </a:r>
            <a:r>
              <a:rPr lang="zh-CN" altLang="en-US"/>
              <a:t>和 </a:t>
            </a:r>
            <a:r>
              <a:rPr lang="en-US" altLang="zh-CN"/>
              <a:t>Arcene </a:t>
            </a:r>
            <a:r>
              <a:rPr lang="zh-CN" altLang="en-US"/>
              <a:t>数据集上进行了详尽实验：</a:t>
            </a:r>
            <a:endParaRPr lang="en-US" altLang="zh-CN"/>
          </a:p>
          <a:p>
            <a:r>
              <a:rPr lang="zh-CN" altLang="en-US"/>
              <a:t>右图是采用本地截断方法进行线性回归训练对比图，</a:t>
            </a:r>
            <a:endParaRPr lang="en-US" altLang="zh-CN"/>
          </a:p>
          <a:p>
            <a:r>
              <a:rPr lang="zh-CN" altLang="en-US"/>
              <a:t>保留两位小数精度，曲线出现了</a:t>
            </a:r>
            <a:r>
              <a:rPr lang="zh-CN" altLang="en-US" b="1"/>
              <a:t>剧烈的震荡</a:t>
            </a:r>
            <a:r>
              <a:rPr lang="zh-CN" altLang="en-US"/>
              <a:t>，准确率上下跳动，并且远远达不到应有的最高精度 。</a:t>
            </a:r>
            <a:endParaRPr lang="en-US" altLang="zh-CN"/>
          </a:p>
          <a:p>
            <a:r>
              <a:rPr lang="zh-CN" altLang="en-US"/>
              <a:t>这表明 </a:t>
            </a:r>
            <a:r>
              <a:rPr lang="en-US" altLang="zh-CN"/>
              <a:t>2 </a:t>
            </a:r>
            <a:r>
              <a:rPr lang="zh-CN" altLang="en-US"/>
              <a:t>位精度的误差过大，已经严重破坏了训练过程，导致模型无法收敛。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这条蓝色曲线与上面的绿色“明文训练”曲线</a:t>
            </a:r>
            <a:r>
              <a:rPr lang="zh-CN" altLang="en-US" b="1"/>
              <a:t>几乎完全重合</a:t>
            </a:r>
            <a:r>
              <a:rPr lang="zh-CN" altLang="en-US"/>
              <a:t> </a:t>
            </a:r>
            <a:endParaRPr lang="en-US" altLang="zh-CN"/>
          </a:p>
          <a:p>
            <a:r>
              <a:rPr lang="zh-CN" altLang="en-US"/>
              <a:t>本地截断”方案所引入的计算误差非常小，以至于</a:t>
            </a:r>
            <a:r>
              <a:rPr lang="zh-CN" altLang="en-US" b="1"/>
              <a:t>完全不影响</a:t>
            </a:r>
            <a:r>
              <a:rPr lang="zh-CN" altLang="en-US"/>
              <a:t>模型的训练过程和最终的准确率 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只需要使用像“本地截断”这样的高效近似方法，并保留足够的精度（如 </a:t>
            </a:r>
            <a:r>
              <a:rPr lang="en-US" altLang="zh-CN"/>
              <a:t>13 </a:t>
            </a:r>
            <a:r>
              <a:rPr lang="zh-CN" altLang="en-US"/>
              <a:t>位），就能在几乎不损失任何模型精度的前提下</a:t>
            </a:r>
            <a:endParaRPr lang="en-US" altLang="zh-CN"/>
          </a:p>
          <a:p>
            <a:r>
              <a:rPr lang="zh-CN" altLang="en-US"/>
              <a:t>换来隐私计算性能的巨大提升。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可以看到，线性与逻辑回归几乎与明文训练一样快，神经网络也比之前的协议快上百倍。</a:t>
            </a:r>
          </a:p>
          <a:p>
            <a:r>
              <a:rPr lang="zh-CN" altLang="en-US"/>
              <a:t>此外，系统的通信量仅略高于明文数据传输。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可以看到，线性与逻辑回归几乎与明文训练一样快，神经网络也比之前的协议快上百倍。</a:t>
            </a:r>
          </a:p>
          <a:p>
            <a:r>
              <a:rPr lang="zh-CN" altLang="en-US"/>
              <a:t>此外，系统的通信量仅略高于明文数据传输。</a:t>
            </a:r>
          </a:p>
          <a:p>
            <a:r>
              <a:rPr lang="zh-CN" altLang="en-US"/>
              <a:t>例如，在</a:t>
            </a:r>
            <a:r>
              <a:rPr lang="en-US" altLang="zh-CN"/>
              <a:t> LAN </a:t>
            </a:r>
            <a:r>
              <a:rPr lang="zh-CN" altLang="en-US"/>
              <a:t>环境下，</a:t>
            </a:r>
            <a:r>
              <a:rPr lang="en-US" altLang="zh-CN"/>
              <a:t>SecureML </a:t>
            </a:r>
            <a:r>
              <a:rPr lang="zh-CN" altLang="en-US"/>
              <a:t>的线性回归训练只需几秒钟。</a:t>
            </a:r>
          </a:p>
          <a:p>
            <a:r>
              <a:rPr lang="zh-CN" altLang="en-US"/>
              <a:t>从可扩展性来看，随着样本数量增加，</a:t>
            </a:r>
            <a:r>
              <a:rPr lang="en-US" altLang="zh-CN"/>
              <a:t>SecureML </a:t>
            </a:r>
            <a:r>
              <a:rPr lang="zh-CN" altLang="en-US"/>
              <a:t>的训练时间呈线性增长，与明文趋势几乎一致。</a:t>
            </a:r>
          </a:p>
          <a:p>
            <a:r>
              <a:rPr lang="zh-CN" altLang="en-US"/>
              <a:t>这意味着该系统可以扩展到百万样本级别的数据集。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当然，</a:t>
            </a:r>
            <a:r>
              <a:rPr lang="en-US" altLang="zh-CN"/>
              <a:t>SecureML </a:t>
            </a:r>
            <a:r>
              <a:rPr lang="zh-CN" altLang="en-US"/>
              <a:t>也有局限性。</a:t>
            </a:r>
          </a:p>
          <a:p>
            <a:r>
              <a:rPr lang="zh-CN" altLang="en-US"/>
              <a:t>首先，论文只测试了 </a:t>
            </a:r>
            <a:r>
              <a:rPr lang="en-US" altLang="zh-CN"/>
              <a:t>3 </a:t>
            </a:r>
            <a:r>
              <a:rPr lang="zh-CN" altLang="en-US"/>
              <a:t>层全连接网络 。它只支持线性、逻辑回归和浅层神经网络。对于深度模型，如 </a:t>
            </a:r>
            <a:r>
              <a:rPr lang="en-US" altLang="zh-CN"/>
              <a:t>ResNet </a:t>
            </a:r>
            <a:r>
              <a:rPr lang="zh-CN" altLang="en-US"/>
              <a:t>或 </a:t>
            </a:r>
            <a:r>
              <a:rPr lang="en-US" altLang="zh-CN"/>
              <a:t>Transformer</a:t>
            </a:r>
            <a:r>
              <a:rPr lang="zh-CN" altLang="en-US"/>
              <a:t>，开销仍然过大。</a:t>
            </a:r>
          </a:p>
          <a:p>
            <a:r>
              <a:rPr lang="zh-CN" altLang="en-US"/>
              <a:t>其次，它只在半诚实模型下安全，无法防御</a:t>
            </a:r>
            <a:r>
              <a:rPr lang="zh-CN" altLang="en-US" b="1"/>
              <a:t>恶意 </a:t>
            </a:r>
            <a:r>
              <a:rPr lang="en-US" altLang="zh-CN" b="1"/>
              <a:t>(Malicious)</a:t>
            </a:r>
            <a:r>
              <a:rPr lang="zh-CN" altLang="en-US"/>
              <a:t> 对手。恶意对手可以通过构造特殊输入或篡改协议，来破坏训练或窃取更多信息。。</a:t>
            </a:r>
          </a:p>
          <a:p>
            <a:r>
              <a:rPr lang="zh-CN" altLang="en-US"/>
              <a:t>第三，要求两台服务器绝对不串通，这是最强的假设。如果两台服务器部署在同一家云厂商，或者被同一个黑客攻破，隐私将荡然无存。这在现实环境中较难保证。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第四：虽然实验表明精度损失很小，但它毕竟是</a:t>
            </a:r>
            <a:r>
              <a:rPr lang="zh-CN" altLang="en-US" b="1"/>
              <a:t>近似</a:t>
            </a:r>
            <a:r>
              <a:rPr lang="zh-CN" altLang="en-US"/>
              <a:t>。在某些对精度极其敏感的任务上（如医疗诊断），这种近似是否可接受，还需要进一步论证。</a:t>
            </a:r>
          </a:p>
          <a:p>
            <a:r>
              <a:rPr lang="zh-CN" altLang="en-US"/>
              <a:t>这些限制为后续研究留下了改进空间。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SecureML </a:t>
            </a:r>
            <a:r>
              <a:rPr lang="zh-CN" altLang="en-US"/>
              <a:t>之后，研究者沿着三个方向继续推进：</a:t>
            </a:r>
          </a:p>
          <a:p>
            <a:r>
              <a:rPr lang="zh-CN" altLang="en-US" b="1"/>
              <a:t>结合差分隐私 </a:t>
            </a:r>
            <a:r>
              <a:rPr lang="en-US" altLang="zh-CN" b="1"/>
              <a:t>(Differential Privacy)</a:t>
            </a:r>
            <a:r>
              <a:rPr lang="zh-CN" altLang="en-US"/>
              <a:t> </a:t>
            </a:r>
            <a:r>
              <a:rPr lang="en-US" altLang="zh-CN"/>
              <a:t>—— </a:t>
            </a:r>
            <a:r>
              <a:rPr lang="zh-CN" altLang="en-US"/>
              <a:t>在模型参数层面进一步防止数据反推；</a:t>
            </a:r>
          </a:p>
          <a:p>
            <a:r>
              <a:rPr lang="zh-CN" altLang="en-US" b="1"/>
              <a:t>融合可信执行环境 </a:t>
            </a:r>
            <a:r>
              <a:rPr lang="en-US" altLang="zh-CN" b="1"/>
              <a:t>(TEE)</a:t>
            </a:r>
            <a:r>
              <a:rPr lang="zh-CN" altLang="en-US"/>
              <a:t> </a:t>
            </a:r>
            <a:r>
              <a:rPr lang="en-US" altLang="zh-CN"/>
              <a:t>—— </a:t>
            </a:r>
            <a:r>
              <a:rPr lang="zh-CN" altLang="en-US"/>
              <a:t>利用 </a:t>
            </a:r>
            <a:r>
              <a:rPr lang="en-US" altLang="zh-CN"/>
              <a:t>Intel SGX </a:t>
            </a:r>
            <a:r>
              <a:rPr lang="zh-CN" altLang="en-US"/>
              <a:t>等硬件提升安全性与速度；</a:t>
            </a:r>
          </a:p>
          <a:p>
            <a:r>
              <a:rPr lang="zh-CN" altLang="en-US" b="1"/>
              <a:t>多方与分布式扩展</a:t>
            </a:r>
            <a:r>
              <a:rPr lang="zh-CN" altLang="en-US"/>
              <a:t> </a:t>
            </a:r>
            <a:r>
              <a:rPr lang="en-US" altLang="zh-CN"/>
              <a:t>—— </a:t>
            </a:r>
            <a:r>
              <a:rPr lang="zh-CN" altLang="en-US"/>
              <a:t>发展为 </a:t>
            </a:r>
            <a:r>
              <a:rPr lang="en-US" altLang="zh-CN"/>
              <a:t>SecureNN</a:t>
            </a:r>
            <a:r>
              <a:rPr lang="zh-CN" altLang="en-US"/>
              <a:t>、</a:t>
            </a:r>
            <a:r>
              <a:rPr lang="en-US" altLang="zh-CN"/>
              <a:t>CryptGPU </a:t>
            </a:r>
            <a:r>
              <a:rPr lang="zh-CN" altLang="en-US"/>
              <a:t>等更通用框架，实现真正的隐私深度学习。</a:t>
            </a:r>
          </a:p>
          <a:p>
            <a:r>
              <a:rPr lang="zh-CN" altLang="en-US"/>
              <a:t>在产业层面，这些思想已经渗透进</a:t>
            </a:r>
            <a:r>
              <a:rPr lang="zh-CN" altLang="en-US" b="1"/>
              <a:t>联邦学习</a:t>
            </a:r>
            <a:r>
              <a:rPr lang="zh-CN" altLang="en-US"/>
              <a:t>和</a:t>
            </a:r>
            <a:r>
              <a:rPr lang="zh-CN" altLang="en-US" b="1"/>
              <a:t>隐私计算平台</a:t>
            </a:r>
            <a:r>
              <a:rPr lang="zh-CN" altLang="en-US"/>
              <a:t>，例如腾讯 </a:t>
            </a:r>
            <a:r>
              <a:rPr lang="en-US" altLang="zh-CN"/>
              <a:t>Federated AI</a:t>
            </a:r>
            <a:r>
              <a:rPr lang="zh-CN" altLang="en-US"/>
              <a:t>、阿里隐语等系统。</a:t>
            </a:r>
            <a:br>
              <a:rPr lang="zh-CN" altLang="en-US"/>
            </a:br>
            <a:r>
              <a:rPr lang="zh-CN" altLang="en-US"/>
              <a:t>可以说，</a:t>
            </a:r>
            <a:r>
              <a:rPr lang="en-US" altLang="zh-CN"/>
              <a:t>SecureML </a:t>
            </a:r>
            <a:r>
              <a:rPr lang="zh-CN" altLang="en-US"/>
              <a:t>不仅是一篇学术论文，更是整个隐私机器学习生态的起点。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10D0-D1B7-4738-A13A-6C578036ED4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D92D-7B5D-401D-B831-D64DA71BFF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10D0-D1B7-4738-A13A-6C578036ED4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D92D-7B5D-401D-B831-D64DA71BFF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10D0-D1B7-4738-A13A-6C578036ED4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D92D-7B5D-401D-B831-D64DA71BFF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10D0-D1B7-4738-A13A-6C578036ED4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D92D-7B5D-401D-B831-D64DA71BFF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10D0-D1B7-4738-A13A-6C578036ED4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D92D-7B5D-401D-B831-D64DA71BFF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10D0-D1B7-4738-A13A-6C578036ED4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D92D-7B5D-401D-B831-D64DA71BFF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10D0-D1B7-4738-A13A-6C578036ED4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D92D-7B5D-401D-B831-D64DA71BFF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10D0-D1B7-4738-A13A-6C578036ED4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D92D-7B5D-401D-B831-D64DA71BFF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10D0-D1B7-4738-A13A-6C578036ED4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D92D-7B5D-401D-B831-D64DA71BFF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10D0-D1B7-4738-A13A-6C578036ED4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D92D-7B5D-401D-B831-D64DA71BFF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10D0-D1B7-4738-A13A-6C578036ED4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D92D-7B5D-401D-B831-D64DA71BFF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E10D0-D1B7-4738-A13A-6C578036ED43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BD92D-7B5D-401D-B831-D64DA71BFF6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10" Type="http://schemas.openxmlformats.org/officeDocument/2006/relationships/tags" Target="../tags/tag13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角三角形 3"/>
          <p:cNvSpPr/>
          <p:nvPr/>
        </p:nvSpPr>
        <p:spPr>
          <a:xfrm flipV="1">
            <a:off x="-1" y="-2"/>
            <a:ext cx="3310360" cy="33103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18900000" flipH="1">
            <a:off x="-1125758" y="1252138"/>
            <a:ext cx="4421529" cy="221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直角三角形 7"/>
          <p:cNvSpPr/>
          <p:nvPr/>
        </p:nvSpPr>
        <p:spPr>
          <a:xfrm flipH="1">
            <a:off x="8881640" y="3547640"/>
            <a:ext cx="3310360" cy="33103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18900000" flipV="1">
            <a:off x="8688882" y="5578872"/>
            <a:ext cx="4421529" cy="79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 rot="18900000" flipV="1">
            <a:off x="8955099" y="5578872"/>
            <a:ext cx="4421529" cy="79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1644015" y="4431665"/>
            <a:ext cx="8765540" cy="597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汇报人：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李旭杰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713230" y="1852930"/>
            <a:ext cx="9780905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SecureML: A System for Scalable  Privacy-Preserving Machine Learning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644015" y="3971290"/>
            <a:ext cx="87655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作者：</a:t>
            </a:r>
            <a:r>
              <a:rPr lang="en-US" altLang="zh-CN" sz="2000" b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sym typeface="+mn-ea"/>
              </a:rPr>
              <a:t>Payman Mohassel, Yupeng Zhang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25520" y="3363595"/>
            <a:ext cx="5140325" cy="109855"/>
          </a:xfrm>
          <a:prstGeom prst="rect">
            <a:avLst/>
          </a:prstGeom>
          <a:gradFill flip="none" rotWithShape="1">
            <a:gsLst>
              <a:gs pos="50000">
                <a:schemeClr val="accent1"/>
              </a:gs>
              <a:gs pos="100000">
                <a:schemeClr val="accent1">
                  <a:lumMod val="95000"/>
                  <a:lumOff val="5000"/>
                </a:schemeClr>
              </a:gs>
              <a:gs pos="73000">
                <a:schemeClr val="accent1"/>
              </a:gs>
              <a:gs pos="13000">
                <a:schemeClr val="accent1">
                  <a:lumMod val="90000"/>
                  <a:lumOff val="1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HarmonyOS Sans SC" panose="00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58"/>
          <p:cNvSpPr txBox="1"/>
          <p:nvPr/>
        </p:nvSpPr>
        <p:spPr>
          <a:xfrm>
            <a:off x="657191" y="2836502"/>
            <a:ext cx="742448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3800" dirty="0">
                <a:solidFill>
                  <a:schemeClr val="accent1">
                    <a:alpha val="8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CONTENTS</a:t>
            </a:r>
            <a:endParaRPr lang="zh-CN" altLang="en-US" sz="13800" dirty="0">
              <a:solidFill>
                <a:schemeClr val="accent1">
                  <a:alpha val="8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直角三角形 3"/>
          <p:cNvSpPr/>
          <p:nvPr/>
        </p:nvSpPr>
        <p:spPr>
          <a:xfrm flipV="1">
            <a:off x="-1" y="-2"/>
            <a:ext cx="3310360" cy="33103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18900000" flipH="1">
            <a:off x="-1125758" y="1252138"/>
            <a:ext cx="4421529" cy="221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直角三角形 7"/>
          <p:cNvSpPr/>
          <p:nvPr/>
        </p:nvSpPr>
        <p:spPr>
          <a:xfrm flipH="1">
            <a:off x="8881640" y="3547640"/>
            <a:ext cx="3310360" cy="33103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18900000" flipV="1">
            <a:off x="8688882" y="5578872"/>
            <a:ext cx="4421529" cy="79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 rot="18900000" flipV="1">
            <a:off x="8955099" y="5578872"/>
            <a:ext cx="4421529" cy="79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>
            <p:custDataLst>
              <p:tags r:id="rId1"/>
            </p:custDataLst>
          </p:nvPr>
        </p:nvSpPr>
        <p:spPr>
          <a:xfrm>
            <a:off x="6519582" y="1728435"/>
            <a:ext cx="3269713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背景问题</a:t>
            </a:r>
          </a:p>
        </p:txBody>
      </p:sp>
      <p:sp>
        <p:nvSpPr>
          <p:cNvPr id="45" name="矩形: 圆角 44"/>
          <p:cNvSpPr/>
          <p:nvPr>
            <p:custDataLst>
              <p:tags r:id="rId2"/>
            </p:custDataLst>
          </p:nvPr>
        </p:nvSpPr>
        <p:spPr>
          <a:xfrm>
            <a:off x="5842469" y="1664375"/>
            <a:ext cx="507966" cy="507966"/>
          </a:xfrm>
          <a:prstGeom prst="round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3"/>
            </p:custDataLst>
          </p:nvPr>
        </p:nvSpPr>
        <p:spPr>
          <a:xfrm>
            <a:off x="5731651" y="1727330"/>
            <a:ext cx="72835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7" name="矩形 46"/>
          <p:cNvSpPr/>
          <p:nvPr>
            <p:custDataLst>
              <p:tags r:id="rId4"/>
            </p:custDataLst>
          </p:nvPr>
        </p:nvSpPr>
        <p:spPr>
          <a:xfrm>
            <a:off x="6519582" y="2733506"/>
            <a:ext cx="3086299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5842469" y="2676702"/>
            <a:ext cx="507966" cy="507966"/>
          </a:xfrm>
          <a:prstGeom prst="round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6"/>
            </p:custDataLst>
          </p:nvPr>
        </p:nvSpPr>
        <p:spPr>
          <a:xfrm>
            <a:off x="5731651" y="2739657"/>
            <a:ext cx="72835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02</a:t>
            </a:r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矩形 50"/>
          <p:cNvSpPr/>
          <p:nvPr>
            <p:custDataLst>
              <p:tags r:id="rId7"/>
            </p:custDataLst>
          </p:nvPr>
        </p:nvSpPr>
        <p:spPr>
          <a:xfrm>
            <a:off x="6519125" y="3738620"/>
            <a:ext cx="3804359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系统架构</a:t>
            </a:r>
          </a:p>
        </p:txBody>
      </p:sp>
      <p:sp>
        <p:nvSpPr>
          <p:cNvPr id="53" name="矩形: 圆角 52"/>
          <p:cNvSpPr/>
          <p:nvPr>
            <p:custDataLst>
              <p:tags r:id="rId8"/>
            </p:custDataLst>
          </p:nvPr>
        </p:nvSpPr>
        <p:spPr>
          <a:xfrm>
            <a:off x="5842012" y="3681815"/>
            <a:ext cx="507966" cy="507966"/>
          </a:xfrm>
          <a:prstGeom prst="round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9"/>
            </p:custDataLst>
          </p:nvPr>
        </p:nvSpPr>
        <p:spPr>
          <a:xfrm>
            <a:off x="5731194" y="3744770"/>
            <a:ext cx="728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03</a:t>
            </a:r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矩形 54"/>
          <p:cNvSpPr/>
          <p:nvPr>
            <p:custDataLst>
              <p:tags r:id="rId10"/>
            </p:custDataLst>
          </p:nvPr>
        </p:nvSpPr>
        <p:spPr>
          <a:xfrm>
            <a:off x="6519761" y="4596133"/>
            <a:ext cx="3528588" cy="62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75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核心创新</a:t>
            </a:r>
          </a:p>
        </p:txBody>
      </p:sp>
      <p:sp>
        <p:nvSpPr>
          <p:cNvPr id="57" name="矩形: 圆角 56"/>
          <p:cNvSpPr/>
          <p:nvPr>
            <p:custDataLst>
              <p:tags r:id="rId11"/>
            </p:custDataLst>
          </p:nvPr>
        </p:nvSpPr>
        <p:spPr>
          <a:xfrm>
            <a:off x="5842012" y="4720641"/>
            <a:ext cx="507966" cy="507966"/>
          </a:xfrm>
          <a:prstGeom prst="round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12"/>
            </p:custDataLst>
          </p:nvPr>
        </p:nvSpPr>
        <p:spPr>
          <a:xfrm>
            <a:off x="5731194" y="4783596"/>
            <a:ext cx="7283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04</a:t>
            </a:r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893586" y="2688277"/>
            <a:ext cx="2261883" cy="1141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5000"/>
              </a:lnSpc>
            </a:pPr>
            <a:r>
              <a:rPr lang="zh-CN" altLang="en-US" sz="6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 录</a:t>
            </a:r>
          </a:p>
        </p:txBody>
      </p:sp>
      <p:sp>
        <p:nvSpPr>
          <p:cNvPr id="2" name="矩形 1"/>
          <p:cNvSpPr/>
          <p:nvPr>
            <p:custDataLst>
              <p:tags r:id="rId13"/>
            </p:custDataLst>
          </p:nvPr>
        </p:nvSpPr>
        <p:spPr>
          <a:xfrm>
            <a:off x="9012592" y="1773520"/>
            <a:ext cx="3269713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sp>
        <p:nvSpPr>
          <p:cNvPr id="3" name="矩形: 圆角 44"/>
          <p:cNvSpPr/>
          <p:nvPr>
            <p:custDataLst>
              <p:tags r:id="rId14"/>
            </p:custDataLst>
          </p:nvPr>
        </p:nvSpPr>
        <p:spPr>
          <a:xfrm>
            <a:off x="8335479" y="1709460"/>
            <a:ext cx="507966" cy="507966"/>
          </a:xfrm>
          <a:prstGeom prst="round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15"/>
            </p:custDataLst>
          </p:nvPr>
        </p:nvSpPr>
        <p:spPr>
          <a:xfrm>
            <a:off x="8224661" y="1772415"/>
            <a:ext cx="728357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05</a:t>
            </a:r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16"/>
            </p:custDataLst>
          </p:nvPr>
        </p:nvSpPr>
        <p:spPr>
          <a:xfrm>
            <a:off x="9012592" y="2748245"/>
            <a:ext cx="3269713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sp>
        <p:nvSpPr>
          <p:cNvPr id="11" name="矩形: 圆角 44"/>
          <p:cNvSpPr/>
          <p:nvPr>
            <p:custDataLst>
              <p:tags r:id="rId17"/>
            </p:custDataLst>
          </p:nvPr>
        </p:nvSpPr>
        <p:spPr>
          <a:xfrm>
            <a:off x="8335479" y="2684185"/>
            <a:ext cx="507966" cy="507966"/>
          </a:xfrm>
          <a:prstGeom prst="round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8"/>
            </p:custDataLst>
          </p:nvPr>
        </p:nvSpPr>
        <p:spPr>
          <a:xfrm>
            <a:off x="8224661" y="2747140"/>
            <a:ext cx="728357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06</a:t>
            </a:r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629331" y="295379"/>
            <a:ext cx="34261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背景与问题</a:t>
            </a:r>
          </a:p>
        </p:txBody>
      </p:sp>
      <p:sp>
        <p:nvSpPr>
          <p:cNvPr id="22" name="矩形: 圆角 21"/>
          <p:cNvSpPr/>
          <p:nvPr/>
        </p:nvSpPr>
        <p:spPr>
          <a:xfrm flipH="1">
            <a:off x="-218450" y="224311"/>
            <a:ext cx="739545" cy="724771"/>
          </a:xfrm>
          <a:prstGeom prst="roundRect">
            <a:avLst>
              <a:gd name="adj" fmla="val 146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9765" y="1284605"/>
            <a:ext cx="9721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1.</a:t>
            </a:r>
            <a:r>
              <a:rPr lang="zh-CN" altLang="en-US" sz="2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数据隐私困境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17550" y="1888490"/>
            <a:ext cx="9663430" cy="4074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数</a:t>
            </a:r>
            <a:r>
              <a:rPr b="1"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据越多模型越准，数据越敏感越难共享</a:t>
            </a:r>
            <a:endParaRPr b="1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  <a:sym typeface="+mn-ea"/>
            </a:endParaRP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在机器学习时代，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“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数据就是燃料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”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。模型的准确率高度依赖于数据量与多样性。</a:t>
            </a:r>
          </a:p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数据分散在不同机构（医疗、金融、政府等）</a:t>
            </a:r>
            <a:endParaRPr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  <a:sym typeface="+mn-ea"/>
            </a:endParaRP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然而，现实中的数据往往分散在不同机构手中</a:t>
            </a:r>
            <a:r>
              <a:rPr lang="en-US" altLang="zh-CN" sz="1600"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1600"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医院拥有病历，银行有交易记录，电商掌握消费行为。这些数据一旦结合，就能训练出更强大的预测模型。但是，隐私保护与法律合规成了拦路虎。</a:t>
            </a:r>
            <a:endParaRPr lang="zh-CN" altLang="en-US" sz="160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法规限制（GDPR、个人信息保护法）导致数据孤岛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以医疗场景为例：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假设三家医院想合作训练一个疾病预测模型。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但病历中包含个人身份、遗传信息和治疗历史，受《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GDPR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》和《个人信息保护法》约束，医院之间不能直接交换原始数据。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金融领域也是同样：银行希望与支付公司共享欺诈交易样本，但客户的账户数据具有高度敏感性。这种无法共享的现象被称为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“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数据孤岛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”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。</a:t>
            </a:r>
            <a:endParaRPr lang="en-US" altLang="zh-CN" b="1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隐私保护成为机器学习瓶颈</a:t>
            </a:r>
            <a:endParaRPr lang="zh-CN" altLang="en-US" b="1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629331" y="295379"/>
            <a:ext cx="34261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背景与问题</a:t>
            </a:r>
          </a:p>
        </p:txBody>
      </p:sp>
      <p:sp>
        <p:nvSpPr>
          <p:cNvPr id="22" name="矩形: 圆角 21"/>
          <p:cNvSpPr/>
          <p:nvPr/>
        </p:nvSpPr>
        <p:spPr>
          <a:xfrm flipH="1">
            <a:off x="-218450" y="224311"/>
            <a:ext cx="739545" cy="724771"/>
          </a:xfrm>
          <a:prstGeom prst="roundRect">
            <a:avLst>
              <a:gd name="adj" fmla="val 146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9765" y="1284605"/>
            <a:ext cx="9721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2.</a:t>
            </a:r>
            <a:r>
              <a:rPr lang="zh-CN" altLang="en-US" sz="2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传统方法的局限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17550" y="1888490"/>
            <a:ext cx="9663430" cy="4408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为了打破数据孤岛，研究者尝试过多种加密计算方法。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其中两种最典型的就是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同态加密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Homomorphic Encryption, HE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安全多方计算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Secure Multi-Party Computation, MPC</a:t>
            </a: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</a:t>
            </a:r>
            <a:endParaRPr lang="en-US" altLang="zh-CN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同态加密的优点是</a:t>
            </a:r>
            <a:r>
              <a:rPr lang="en-US" altLang="zh-CN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加密状态下可计算</a:t>
            </a:r>
            <a:r>
              <a:rPr lang="en-US" altLang="zh-CN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”</a:t>
            </a:r>
            <a:r>
              <a:rPr lang="zh-CN" altLang="en-US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，但它的速度极慢。在加密域里做一次乘法，可能要比明文慢几千倍。</a:t>
            </a:r>
            <a:endParaRPr lang="en-US" altLang="zh-CN" b="1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多方安全计算能确保参与方都无法看到他人数据，但它需要频繁通信，尤其在神经网络训练这种高维度任务中，通信量会呈指数增长。</a:t>
            </a:r>
            <a:endParaRPr lang="en-US" altLang="zh-CN" b="1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另外还有</a:t>
            </a:r>
            <a:r>
              <a:rPr lang="en-US" altLang="zh-CN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可信执行环境（</a:t>
            </a:r>
            <a:r>
              <a:rPr lang="en-US" altLang="zh-CN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TEE</a:t>
            </a:r>
            <a:r>
              <a:rPr lang="zh-CN" altLang="en-US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），例如</a:t>
            </a:r>
            <a:r>
              <a:rPr lang="en-US" altLang="zh-CN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Intel SGX</a:t>
            </a:r>
            <a:r>
              <a:rPr lang="zh-CN" altLang="en-US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，但它依赖硬件信任假设，容易受到侧信道攻击。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因此，虽然这些技术理论上能保护隐私，但在实践中很难扩展到大规模数据集。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SecureML </a:t>
            </a:r>
            <a:r>
              <a:rPr lang="zh-CN" altLang="en-US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的核心问题：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“</a:t>
            </a:r>
            <a:r>
              <a:rPr lang="zh-CN" altLang="en-US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如何在不泄露原始数据的前提下，实现可扩展、可落地的联合模型训练？</a:t>
            </a:r>
            <a:r>
              <a:rPr lang="en-US" altLang="zh-CN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629331" y="295379"/>
            <a:ext cx="34261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</p:txBody>
      </p:sp>
      <p:sp>
        <p:nvSpPr>
          <p:cNvPr id="22" name="矩形: 圆角 21"/>
          <p:cNvSpPr/>
          <p:nvPr/>
        </p:nvSpPr>
        <p:spPr>
          <a:xfrm flipH="1">
            <a:off x="-218450" y="224311"/>
            <a:ext cx="739545" cy="724771"/>
          </a:xfrm>
          <a:prstGeom prst="roundRect">
            <a:avLst>
              <a:gd name="adj" fmla="val 146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7550" y="1258570"/>
            <a:ext cx="9663430" cy="433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理论突破：打破“隐私保护</a:t>
            </a:r>
            <a:r>
              <a:rPr lang="en-US" b="1"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 </a:t>
            </a:r>
            <a:r>
              <a:rPr b="1"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=</a:t>
            </a:r>
            <a:r>
              <a:rPr lang="en-US" b="1"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 </a:t>
            </a:r>
            <a:r>
              <a:rPr b="1"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低效”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从理论角度看，这篇论文首次证明了</a:t>
            </a:r>
            <a:r>
              <a:rPr lang="en-US" altLang="zh-CN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——</a:t>
            </a:r>
            <a:r>
              <a:rPr lang="zh-CN" altLang="en-US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隐私保护并不必然意味着极端低效。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作者通过新的协议设计，让安全计算的性能提升了几百到上千倍。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600">
              <a:uFillTx/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应用突破：首个支持神经网络的隐私保护系统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从应用角度看，</a:t>
            </a:r>
            <a:r>
              <a:rPr lang="en-US" altLang="zh-CN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SecureML </a:t>
            </a:r>
            <a:r>
              <a:rPr lang="zh-CN" altLang="en-US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也是第一个支持神经网络训练的隐私保护系统。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在此之前，几乎所有隐私计算研究只停留在线性回归或逻辑回归，大家普遍认为神经网络的安全训练</a:t>
            </a:r>
            <a:r>
              <a:rPr lang="en-US" altLang="zh-CN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“</a:t>
            </a:r>
            <a:r>
              <a:rPr lang="zh-CN" altLang="en-US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在可预见的未来都不可能实现</a:t>
            </a:r>
            <a:r>
              <a:rPr lang="en-US" altLang="zh-CN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”</a:t>
            </a:r>
            <a:r>
              <a:rPr lang="zh-CN" altLang="en-US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。</a:t>
            </a:r>
            <a:r>
              <a:rPr lang="en-US" altLang="zh-CN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SecureML </a:t>
            </a:r>
            <a:r>
              <a:rPr lang="zh-CN" altLang="en-US" sz="1600">
                <a:uFillTx/>
                <a:latin typeface="Times New Roman" panose="02020603050405020304" charset="0"/>
                <a:ea typeface="微软雅黑" panose="020B0503020204020204" pitchFamily="34" charset="-122"/>
              </a:rPr>
              <a:t>改变了这种看法，为隐私深度学习打开了大门。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sz="1600">
              <a:uFillTx/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性能提升100–1000倍，精度几乎一致</a:t>
            </a:r>
            <a:endParaRPr b="1">
              <a:uFillTx/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更重要的是，它提出了一整套可复用的设计框架：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包括两服务器模型、本地截断算法、激活函数近似算法、协议向量化等思路。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这些思想后来被广泛采用，比如</a:t>
            </a:r>
            <a:r>
              <a:rPr lang="en-US" altLang="zh-CN" sz="1600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SecureNN</a:t>
            </a:r>
            <a:r>
              <a:rPr lang="zh-CN" altLang="en-US" sz="1600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CryptGPU </a:t>
            </a:r>
            <a:r>
              <a:rPr lang="zh-CN" altLang="en-US" sz="1600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等系统，都在不同程度上延续了</a:t>
            </a:r>
            <a:r>
              <a:rPr lang="en-US" altLang="zh-CN" sz="1600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SecureML </a:t>
            </a:r>
            <a:r>
              <a:rPr lang="zh-CN" altLang="en-US" sz="1600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的设计理念。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629331" y="295379"/>
            <a:ext cx="34261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系统总体架构</a:t>
            </a:r>
          </a:p>
        </p:txBody>
      </p:sp>
      <p:sp>
        <p:nvSpPr>
          <p:cNvPr id="22" name="矩形: 圆角 21"/>
          <p:cNvSpPr/>
          <p:nvPr/>
        </p:nvSpPr>
        <p:spPr>
          <a:xfrm flipH="1">
            <a:off x="-218450" y="224311"/>
            <a:ext cx="739545" cy="724771"/>
          </a:xfrm>
          <a:prstGeom prst="roundRect">
            <a:avLst>
              <a:gd name="adj" fmla="val 146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7550" y="1258570"/>
            <a:ext cx="6645910" cy="4369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两服务器模型：客户端→S₀/S₁→模型输出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多个客户端（即数据持有者）先在本地对数据进行预处理，比如标准化、分片或加密。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每个客户端将数据拆成两份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——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类似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“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切成两半的拼图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”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，分别发给两台不串通的服务器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 S</a:t>
            </a:r>
            <a:r>
              <a:rPr lang="en-US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₀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和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 S</a:t>
            </a:r>
            <a:r>
              <a:rPr lang="en-US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₁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两台服务器各自持有一半数据碎片，无法单独恢复原始信息，但可以通过安全两方计算</a:t>
            </a:r>
            <a:r>
              <a:rPr lang="en-US" altLang="zh-CN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 (2PC) </a:t>
            </a: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合作训练模型。</a:t>
            </a:r>
          </a:p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客户端上传数据后可离线</a:t>
            </a:r>
            <a:endParaRPr b="1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两服务器通过2PC协同训练</a:t>
            </a:r>
            <a:endParaRPr b="1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分为离线与在线阶段：重离线、轻在线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离线阶段（Offline Phase）：预先生成大量用于安全计算的随机乘法三元组，这一步与具体数据无关。</a:t>
            </a:r>
          </a:p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在线阶段（Online Phase）：在训练时只进行轻量级算术运算，不再执行复杂加密。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20" y="2408555"/>
            <a:ext cx="4620895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629331" y="295379"/>
            <a:ext cx="34261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安全模型假设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/>
          <p:cNvSpPr/>
          <p:nvPr/>
        </p:nvSpPr>
        <p:spPr>
          <a:xfrm flipH="1">
            <a:off x="-218450" y="224311"/>
            <a:ext cx="739545" cy="724771"/>
          </a:xfrm>
          <a:prstGeom prst="roundRect">
            <a:avLst>
              <a:gd name="adj" fmla="val 146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9331" y="3886024"/>
            <a:ext cx="6645910" cy="1289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两服务器不串通假设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客户端不参与在线计算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假设被破坏→存在隐私风险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9331" y="1321534"/>
            <a:ext cx="7843337" cy="23108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本文假设半诚实模型 </a:t>
            </a:r>
            <a:r>
              <a:rPr lang="en-US" altLang="zh-CN" b="1">
                <a:latin typeface="Times New Roman" panose="02020603050405020304" charset="0"/>
                <a:ea typeface="微软雅黑" panose="020B0503020204020204" pitchFamily="34" charset="-122"/>
              </a:rPr>
              <a:t>(Semi-Honest)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Times New Roman" panose="02020603050405020304" charset="0"/>
                <a:ea typeface="微软雅黑" panose="020B0503020204020204" pitchFamily="34" charset="-122"/>
              </a:rPr>
              <a:t>恶意 </a:t>
            </a:r>
            <a:r>
              <a:rPr lang="en-US" altLang="zh-CN" sz="1600" b="1">
                <a:latin typeface="Times New Roman" panose="02020603050405020304" charset="0"/>
                <a:ea typeface="微软雅黑" panose="020B0503020204020204" pitchFamily="34" charset="-122"/>
              </a:rPr>
              <a:t>(Malicious)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pitchFamily="34" charset="-122"/>
              </a:rPr>
              <a:t>：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对手会不择手段，比如篡改协议、发送假数据、提前中止计算来攻击你。防御这种对手代价极高。</a:t>
            </a:r>
            <a:endParaRPr lang="en-US" altLang="zh-CN" sz="1600"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Times New Roman" panose="02020603050405020304" charset="0"/>
                <a:ea typeface="微软雅黑" panose="020B0503020204020204" pitchFamily="34" charset="-122"/>
              </a:rPr>
              <a:t>半诚实 </a:t>
            </a:r>
            <a:r>
              <a:rPr lang="en-US" altLang="zh-CN" sz="1600" b="1">
                <a:latin typeface="Times New Roman" panose="02020603050405020304" charset="0"/>
                <a:ea typeface="微软雅黑" panose="020B0503020204020204" pitchFamily="34" charset="-122"/>
              </a:rPr>
              <a:t>(Semi-Honest)</a:t>
            </a:r>
            <a:r>
              <a:rPr lang="zh-CN" altLang="en-US" sz="1600" b="1">
                <a:latin typeface="Times New Roman" panose="02020603050405020304" charset="0"/>
                <a:ea typeface="微软雅黑" panose="020B0503020204020204" pitchFamily="34" charset="-122"/>
              </a:rPr>
              <a:t>：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也叫“诚实但好奇”。对手会严格遵守协议的每一步，但他会保留计算过程中收到的所有信息（比如中间值），试图在事后推断出额外的信息 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629331" y="295379"/>
            <a:ext cx="34261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核心创新</a:t>
            </a:r>
          </a:p>
        </p:txBody>
      </p:sp>
      <p:sp>
        <p:nvSpPr>
          <p:cNvPr id="22" name="矩形: 圆角 21"/>
          <p:cNvSpPr/>
          <p:nvPr/>
        </p:nvSpPr>
        <p:spPr>
          <a:xfrm flipH="1">
            <a:off x="-218450" y="224311"/>
            <a:ext cx="739545" cy="724771"/>
          </a:xfrm>
          <a:prstGeom prst="roundRect">
            <a:avLst>
              <a:gd name="adj" fmla="val 146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9765" y="1284605"/>
            <a:ext cx="9721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1.</a:t>
            </a:r>
            <a:r>
              <a:rPr lang="zh-CN" altLang="en-US" sz="2000" b="1" dirty="0"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本地截断算法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17550" y="1888490"/>
            <a:ext cx="9663430" cy="291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20000"/>
              </a:lnSpc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问题：小数计算极慢</a:t>
            </a:r>
          </a:p>
          <a:p>
            <a:pPr indent="0" algn="just" fontAlgn="auto">
              <a:lnSpc>
                <a:spcPct val="120000"/>
              </a:lnSpc>
              <a:spcAft>
                <a:spcPts val="5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宋体 CN Heavy" panose="02020900000000000000" pitchFamily="18" charset="-122"/>
              </a:rPr>
              <a:t>线性回归需要大量乘法，十进制小数开销较大速度较慢</a:t>
            </a:r>
            <a:endParaRPr b="1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marL="285750" indent="-285750" algn="just" fontAlgn="auto">
              <a:lnSpc>
                <a:spcPct val="120000"/>
              </a:lnSpc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创新：本地截断 (Local Truncation)</a:t>
            </a:r>
            <a:endParaRPr b="1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20000"/>
              </a:lnSpc>
              <a:spcAft>
                <a:spcPts val="5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各服务器本地截断小数，无需通信</a:t>
            </a:r>
            <a:endParaRPr lang="zh-CN" altLang="en-US" sz="160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fontAlgn="auto">
              <a:lnSpc>
                <a:spcPct val="120000"/>
              </a:lnSpc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误差≤1bit，性能接近明文</a:t>
            </a:r>
          </a:p>
          <a:p>
            <a:pPr marL="285750" indent="-285750" algn="just" fontAlgn="auto">
              <a:lnSpc>
                <a:spcPct val="120000"/>
              </a:lnSpc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技术优势：</a:t>
            </a:r>
          </a:p>
          <a:p>
            <a:pPr indent="0" fontAlgn="auto">
              <a:spcAft>
                <a:spcPts val="500"/>
              </a:spcAft>
            </a:pPr>
            <a:r>
              <a:rPr lang="zh-CN" altLang="en-US" sz="1600"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宋体 CN Heavy" panose="02020900000000000000" pitchFamily="18" charset="-122"/>
              </a:rPr>
              <a:t>在线阶段无需密码学操作</a:t>
            </a:r>
          </a:p>
          <a:p>
            <a:pPr indent="0" fontAlgn="auto">
              <a:spcAft>
                <a:spcPts val="500"/>
              </a:spcAft>
            </a:pPr>
            <a:r>
              <a:rPr lang="zh-CN" altLang="en-US" sz="1600"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思源宋体 CN Heavy" panose="02020900000000000000" pitchFamily="18" charset="-122"/>
              </a:rPr>
              <a:t>误差可控，精度无损</a:t>
            </a:r>
            <a:endParaRPr lang="zh-CN" altLang="en-US" sz="160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124" y="1402315"/>
            <a:ext cx="4323321" cy="35023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629331" y="295379"/>
            <a:ext cx="34261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核心创新</a:t>
            </a:r>
          </a:p>
        </p:txBody>
      </p:sp>
      <p:sp>
        <p:nvSpPr>
          <p:cNvPr id="22" name="矩形: 圆角 21"/>
          <p:cNvSpPr/>
          <p:nvPr/>
        </p:nvSpPr>
        <p:spPr>
          <a:xfrm flipH="1">
            <a:off x="-218450" y="224311"/>
            <a:ext cx="739545" cy="724771"/>
          </a:xfrm>
          <a:prstGeom prst="roundRect">
            <a:avLst>
              <a:gd name="adj" fmla="val 146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9765" y="1284605"/>
            <a:ext cx="97212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2.</a:t>
            </a:r>
            <a:r>
              <a:rPr lang="zh-CN" altLang="en-US" sz="2000" b="1" dirty="0"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MPC友好激活函数</a:t>
            </a:r>
            <a:endParaRPr lang="zh-CN" altLang="en-US" sz="2000"/>
          </a:p>
          <a:p>
            <a:pPr algn="l"/>
            <a:endParaRPr lang="zh-CN" altLang="en-US" sz="2000" b="1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9765" y="1967230"/>
            <a:ext cx="6096000" cy="28301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215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思源宋体 CN Heavy" panose="02020900000000000000" pitchFamily="18" charset="-122"/>
              </a:rPr>
              <a:t>解决的挑战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思源宋体 CN Heavy" panose="02020900000000000000" pitchFamily="18" charset="-122"/>
              </a:rPr>
              <a:t>计算非线性函数通过SS+三元组的方式无法高效计算</a:t>
            </a:r>
          </a:p>
          <a:p>
            <a:pPr indent="-215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思源宋体 CN Heavy" panose="02020900000000000000" pitchFamily="18" charset="-122"/>
              </a:rPr>
              <a:t>实现方案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思源宋体 CN Heavy" panose="02020900000000000000" pitchFamily="18" charset="-122"/>
              </a:rPr>
              <a:t>Sigmoid -&gt; 提出一种分段线性函数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思源宋体 CN Heavy" panose="02020900000000000000" pitchFamily="18" charset="-122"/>
              </a:rPr>
              <a:t>Softmax -&gt; 基于ReLU和一次安全除法组合</a:t>
            </a:r>
          </a:p>
          <a:p>
            <a:pPr indent="-215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800" b="1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思源宋体 CN Heavy" panose="02020900000000000000" pitchFamily="18" charset="-122"/>
              </a:rPr>
              <a:t>技术优势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思源宋体 CN Heavy" panose="02020900000000000000" pitchFamily="18" charset="-122"/>
              </a:rPr>
              <a:t>精度非常相近计算开销较小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836" y="3844925"/>
            <a:ext cx="5276850" cy="952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61" y="1428750"/>
            <a:ext cx="28956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629331" y="295379"/>
            <a:ext cx="34261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核心创新</a:t>
            </a:r>
          </a:p>
        </p:txBody>
      </p:sp>
      <p:sp>
        <p:nvSpPr>
          <p:cNvPr id="22" name="矩形: 圆角 21"/>
          <p:cNvSpPr/>
          <p:nvPr/>
        </p:nvSpPr>
        <p:spPr>
          <a:xfrm flipH="1">
            <a:off x="-218450" y="224311"/>
            <a:ext cx="739545" cy="724771"/>
          </a:xfrm>
          <a:prstGeom prst="roundRect">
            <a:avLst>
              <a:gd name="adj" fmla="val 146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9765" y="1284605"/>
            <a:ext cx="97212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3.</a:t>
            </a:r>
            <a:r>
              <a:rPr lang="zh-CN" altLang="en-US" sz="2000" b="1" dirty="0"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协议向量化优化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 b="1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59765" y="1967230"/>
                <a:ext cx="6096000" cy="290079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indent="-215900" fontAlgn="auto">
                  <a:spcAft>
                    <a:spcPts val="1500"/>
                  </a:spcAft>
                  <a:buFont typeface="Arial" panose="020B0604020202020204" pitchFamily="34" charset="0"/>
                  <a:buChar char="•"/>
                </a:pPr>
                <a:r>
                  <a:rPr b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批量生成矩阵三元组</a:t>
                </a:r>
                <a:endParaRPr lang="en-US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fontAlgn="auto">
                  <a:spcAft>
                    <a:spcPts val="1200"/>
                  </a:spcAft>
                </a:pPr>
                <a:r>
                  <a:rPr lang="zh-CN" altLang="en-US" sz="1600">
                    <a:latin typeface="Times New Roman" panose="02020603050405020304" charset="0"/>
                    <a:ea typeface="微软雅黑" panose="020B0503020204020204" pitchFamily="34" charset="-122"/>
                  </a:rPr>
                  <a:t>在离线阶段利用 </a:t>
                </a:r>
                <a:r>
                  <a:rPr lang="en-US" altLang="zh-CN" sz="1600">
                    <a:latin typeface="Times New Roman" panose="02020603050405020304" charset="0"/>
                    <a:ea typeface="微软雅黑" panose="020B0503020204020204" pitchFamily="34" charset="-122"/>
                  </a:rPr>
                  <a:t>LHE</a:t>
                </a:r>
                <a:r>
                  <a:rPr lang="zh-CN" altLang="en-US" sz="1600">
                    <a:latin typeface="Times New Roman" panose="02020603050405020304" charset="0"/>
                    <a:ea typeface="微软雅黑" panose="020B0503020204020204" pitchFamily="34" charset="-122"/>
                  </a:rPr>
                  <a:t>或</a:t>
                </a:r>
                <a:r>
                  <a:rPr lang="en-US" altLang="zh-CN" sz="1600">
                    <a:latin typeface="Times New Roman" panose="02020603050405020304" charset="0"/>
                    <a:ea typeface="微软雅黑" panose="020B0503020204020204" pitchFamily="34" charset="-122"/>
                  </a:rPr>
                  <a:t>OT</a:t>
                </a:r>
                <a:r>
                  <a:rPr lang="zh-CN" altLang="en-US" sz="1600">
                    <a:latin typeface="Times New Roman" panose="02020603050405020304" charset="0"/>
                    <a:ea typeface="微软雅黑" panose="020B0503020204020204" pitchFamily="34" charset="-122"/>
                  </a:rPr>
                  <a:t>协议，一次性批量生成用于矩阵乘法的随机矩阵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	</m:t>
                    </m:r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U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Z</m:t>
                    </m:r>
                  </m:oMath>
                </a14:m>
                <a:r>
                  <a:rPr lang="zh-CN" altLang="en-US" sz="1600">
                    <a:latin typeface="Times New Roman" panose="02020603050405020304" charset="0"/>
                    <a:ea typeface="微软雅黑" panose="020B0503020204020204" pitchFamily="34" charset="-122"/>
                  </a:rPr>
                  <a:t>，并确保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Z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U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sz="1600">
                    <a:latin typeface="Times New Roman" panose="02020603050405020304" charset="0"/>
                    <a:ea typeface="微软雅黑" panose="020B0503020204020204" pitchFamily="34" charset="-122"/>
                  </a:rPr>
                  <a:t> </a:t>
                </a:r>
                <a:endParaRPr sz="1600">
                  <a:latin typeface="Times New Roman" panose="02020603050405020304" charset="0"/>
                  <a:ea typeface="微软雅黑" panose="020B0503020204020204" pitchFamily="34" charset="-122"/>
                </a:endParaRPr>
              </a:p>
              <a:p>
                <a:pPr indent="-215900" fontAlgn="auto">
                  <a:spcAft>
                    <a:spcPts val="1500"/>
                  </a:spcAft>
                  <a:buFont typeface="Arial" panose="020B0604020202020204" pitchFamily="34" charset="0"/>
                  <a:buChar char="•"/>
                </a:pPr>
                <a:r>
                  <a:rPr b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离线阶段预处理整块数据</a:t>
                </a:r>
                <a:endParaRPr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indent="-215900" fontAlgn="auto">
                  <a:spcAft>
                    <a:spcPts val="1500"/>
                  </a:spcAft>
                  <a:buFont typeface="Arial" panose="020B0604020202020204" pitchFamily="34" charset="0"/>
                  <a:buChar char="•"/>
                </a:pPr>
                <a:r>
                  <a:rPr b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在线阶段矩阵乘法+并行</a:t>
                </a:r>
                <a:endParaRPr lang="en-US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fontAlgn="auto">
                  <a:spcAft>
                    <a:spcPts val="1500"/>
                  </a:spcAft>
                </a:pPr>
                <a:r>
                  <a:rPr lang="zh-CN" altLang="en-US" sz="1600">
                    <a:latin typeface="Times New Roman" panose="02020603050405020304" charset="0"/>
                    <a:ea typeface="微软雅黑" panose="020B0503020204020204" pitchFamily="34" charset="-122"/>
                    <a:sym typeface="+mn-ea"/>
                  </a:rPr>
                  <a:t>直接调用</a:t>
                </a:r>
                <a:r>
                  <a:rPr lang="en-US" altLang="zh-CN" sz="1600">
                    <a:latin typeface="Times New Roman" panose="02020603050405020304" charset="0"/>
                    <a:ea typeface="微软雅黑" panose="020B0503020204020204" pitchFamily="34" charset="-122"/>
                    <a:sym typeface="+mn-ea"/>
                  </a:rPr>
                  <a:t>Eigen</a:t>
                </a:r>
                <a:r>
                  <a:rPr lang="zh-CN" altLang="en-US" sz="1600">
                    <a:latin typeface="Times New Roman" panose="02020603050405020304" charset="0"/>
                    <a:ea typeface="微软雅黑" panose="020B0503020204020204" pitchFamily="34" charset="-122"/>
                    <a:sym typeface="+mn-ea"/>
                  </a:rPr>
                  <a:t>执行计算</a:t>
                </a:r>
                <a:endParaRPr sz="1600">
                  <a:latin typeface="Times New Roman" panose="02020603050405020304" charset="0"/>
                  <a:ea typeface="微软雅黑" panose="020B0503020204020204" pitchFamily="34" charset="-122"/>
                </a:endParaRPr>
              </a:p>
              <a:p>
                <a:pPr indent="-215900" fontAlgn="auto">
                  <a:spcAft>
                    <a:spcPts val="1500"/>
                  </a:spcAft>
                  <a:buFont typeface="Arial" panose="020B0604020202020204" pitchFamily="34" charset="0"/>
                  <a:buChar char="•"/>
                </a:pPr>
                <a:r>
                  <a:rPr b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通信量</a:t>
                </a:r>
                <a:r>
                  <a:rPr lang="en-US" b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 </a:t>
                </a:r>
                <a:r>
                  <a:rPr lang="zh-CN" altLang="en-US" b="1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减少约</a:t>
                </a:r>
                <a:r>
                  <a:rPr b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4倍，离线加速40–60倍</a:t>
                </a:r>
                <a:endParaRPr sz="1600" b="1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65" y="1967230"/>
                <a:ext cx="6096000" cy="2900794"/>
              </a:xfrm>
              <a:prstGeom prst="rect">
                <a:avLst/>
              </a:prstGeom>
              <a:blipFill rotWithShape="1">
                <a:blip r:embed="rId3"/>
                <a:stretch>
                  <a:fillRect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710" y="3105899"/>
            <a:ext cx="5343525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629331" y="295379"/>
            <a:ext cx="34261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sp>
        <p:nvSpPr>
          <p:cNvPr id="22" name="矩形: 圆角 21"/>
          <p:cNvSpPr/>
          <p:nvPr/>
        </p:nvSpPr>
        <p:spPr>
          <a:xfrm flipH="1">
            <a:off x="-218450" y="224311"/>
            <a:ext cx="739545" cy="724771"/>
          </a:xfrm>
          <a:prstGeom prst="roundRect">
            <a:avLst>
              <a:gd name="adj" fmla="val 146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9765" y="1794510"/>
            <a:ext cx="6096000" cy="1478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215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微软雅黑" panose="020B0503020204020204" pitchFamily="34" charset="-122"/>
              </a:defRPr>
            </a:pPr>
            <a:r>
              <a:rPr lang="en-US" altLang="zh-CN" sz="1800"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Linear Regression: MNIST</a:t>
            </a:r>
            <a:r>
              <a:rPr lang="zh-CN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上与明文训练精度相同</a:t>
            </a:r>
            <a:endParaRPr lang="zh-CN" altLang="en-US" sz="1800"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indent="-215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微软雅黑" panose="020B0503020204020204" pitchFamily="34" charset="-122"/>
              </a:defRPr>
            </a:pPr>
            <a:r>
              <a: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 Logistic Regression: 60k</a:t>
            </a:r>
            <a:r>
              <a:rPr lang="zh-CN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样本仅需</a:t>
            </a:r>
            <a:r>
              <a: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29</a:t>
            </a:r>
            <a:r>
              <a:rPr lang="zh-CN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秒</a:t>
            </a:r>
            <a:endParaRPr lang="zh-CN" altLang="en-US" sz="1800" b="1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indent="-215900">
              <a:lnSpc>
                <a:spcPct val="13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微软雅黑" panose="020B0503020204020204" pitchFamily="34" charset="-122"/>
              </a:defRPr>
            </a:pPr>
            <a:r>
              <a: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 Neural Network: MNIST</a:t>
            </a:r>
            <a:r>
              <a:rPr lang="zh-CN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上</a:t>
            </a:r>
            <a:r>
              <a: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93.4%</a:t>
            </a:r>
            <a:r>
              <a:rPr lang="zh-CN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精度（明文</a:t>
            </a:r>
            <a:r>
              <a:rPr lang="en-US" altLang="zh-CN" sz="18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94.5%</a:t>
            </a:r>
            <a:r>
              <a:rPr lang="zh-CN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）</a:t>
            </a:r>
            <a:endParaRPr sz="1600" b="1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825" y="1330568"/>
            <a:ext cx="4371975" cy="2476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1095" y="1251585"/>
            <a:ext cx="97212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1.</a:t>
            </a:r>
            <a:r>
              <a:rPr lang="zh-CN" altLang="en-US" sz="2000" b="1" dirty="0"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性能优化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 b="1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8200" y="4344559"/>
          <a:ext cx="10515600" cy="14630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Relative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MNIST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1.4s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baseline="0">
                          <a:latin typeface="Times New Roman" panose="02020603050405020304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baseline="0">
                          <a:latin typeface="Times New Roman" panose="02020603050405020304" charset="0"/>
                        </a:rPr>
                        <a:t>+1300×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MNIST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29s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≈ Plaintext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baseline="0">
                          <a:latin typeface="Times New Roman" panose="02020603050405020304" charset="0"/>
                        </a:rPr>
                        <a:t>+1000×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Neural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MNIST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baseline="0">
                          <a:latin typeface="Times New Roman" panose="02020603050405020304" charset="0"/>
                        </a:rPr>
                        <a:t>21000s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baseline="0">
                          <a:latin typeface="Times New Roman" panose="02020603050405020304" charset="0"/>
                        </a:rPr>
                        <a:t>93.4%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 baseline="0">
                          <a:latin typeface="Times New Roman" panose="02020603050405020304" charset="0"/>
                        </a:rPr>
                        <a:t>+500×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629331" y="295379"/>
            <a:ext cx="34261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sp>
        <p:nvSpPr>
          <p:cNvPr id="22" name="矩形: 圆角 21"/>
          <p:cNvSpPr/>
          <p:nvPr/>
        </p:nvSpPr>
        <p:spPr>
          <a:xfrm flipH="1">
            <a:off x="-218450" y="224311"/>
            <a:ext cx="739545" cy="724771"/>
          </a:xfrm>
          <a:prstGeom prst="roundRect">
            <a:avLst>
              <a:gd name="adj" fmla="val 146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9765" y="1251585"/>
            <a:ext cx="97212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2.</a:t>
            </a:r>
            <a:r>
              <a:rPr lang="zh-CN" altLang="en-US" sz="2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可扩展性分析</a:t>
            </a:r>
            <a:endParaRPr lang="zh-CN" altLang="en-US" sz="2000"/>
          </a:p>
          <a:p>
            <a:pPr algn="l"/>
            <a:endParaRPr lang="zh-CN" altLang="en-US" sz="2000"/>
          </a:p>
          <a:p>
            <a:pPr algn="l"/>
            <a:endParaRPr lang="zh-CN" altLang="en-US" sz="2000" b="1" dirty="0">
              <a:solidFill>
                <a:schemeClr val="tx1"/>
              </a:solidFill>
              <a:uFillTx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9765" y="1794510"/>
            <a:ext cx="5228971" cy="318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明文与</a:t>
            </a:r>
            <a:r>
              <a:rPr lang="en-US" altLang="zh-CN" b="1">
                <a:latin typeface="Times New Roman" panose="02020603050405020304" charset="0"/>
                <a:ea typeface="微软雅黑" panose="020B0503020204020204" pitchFamily="34" charset="-122"/>
              </a:rPr>
              <a:t>SecureML</a:t>
            </a: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趋势几乎一致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可扩展至百万样本</a:t>
            </a:r>
            <a:endParaRPr lang="en-US" altLang="zh-CN" b="1"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在局域网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(LAN)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环境下，即便是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100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万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(1,000,000)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 样本的线性回归，在线时间也仅需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22.3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秒</a:t>
            </a:r>
            <a:endParaRPr lang="en-US" altLang="zh-CN" sz="1600"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Times New Roman" panose="02020603050405020304" charset="0"/>
                <a:ea typeface="微软雅黑" panose="020B0503020204020204" pitchFamily="34" charset="-122"/>
              </a:rPr>
              <a:t>样本规模与训练时间线性增长</a:t>
            </a:r>
            <a:endParaRPr lang="en-US" altLang="zh-CN" sz="1600" b="1"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随着样本数量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n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从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1000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增长到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100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万，训练时间是严格线性增长的</a:t>
            </a:r>
          </a:p>
          <a:p>
            <a:pPr>
              <a:lnSpc>
                <a:spcPct val="150000"/>
              </a:lnSpc>
            </a:pPr>
            <a:endParaRPr lang="zh-CN" altLang="en-US" sz="1600"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015" y="4073848"/>
            <a:ext cx="3424455" cy="202445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629" y="1660768"/>
            <a:ext cx="5757228" cy="20038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629331" y="295379"/>
            <a:ext cx="34261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不足与局限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/>
          <p:cNvSpPr/>
          <p:nvPr/>
        </p:nvSpPr>
        <p:spPr>
          <a:xfrm flipH="1">
            <a:off x="-218450" y="224311"/>
            <a:ext cx="739545" cy="724771"/>
          </a:xfrm>
          <a:prstGeom prst="roundRect">
            <a:avLst>
              <a:gd name="adj" fmla="val 146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9765" y="1794510"/>
            <a:ext cx="7118422" cy="35573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仅支持浅层模型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它只支持线性、逻辑回归和浅层神经网络。对于深度模型，如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ResNet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或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Transformer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，开销仍然过大。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半诚实假设强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只在半诚实模型下安全，对恶意攻击者还不具备防御力。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两服务器不串通要求高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要求两台服务器绝对不串通，这在现实环境中较难保证。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激活函数仍近似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激活函数依然是近似实现，虽然提升了效率，但在精度上仍存在一定损失。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629331" y="295379"/>
            <a:ext cx="34261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未来展望与总结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/>
          <p:cNvSpPr/>
          <p:nvPr/>
        </p:nvSpPr>
        <p:spPr>
          <a:xfrm flipH="1">
            <a:off x="-218450" y="224311"/>
            <a:ext cx="739545" cy="724771"/>
          </a:xfrm>
          <a:prstGeom prst="roundRect">
            <a:avLst>
              <a:gd name="adj" fmla="val 146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9765" y="1794510"/>
            <a:ext cx="7118422" cy="3599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结合差分隐私与</a:t>
            </a:r>
            <a:r>
              <a:rPr lang="en-US" altLang="zh-CN" b="1">
                <a:latin typeface="Times New Roman" panose="02020603050405020304" charset="0"/>
                <a:ea typeface="微软雅黑" panose="020B0503020204020204" pitchFamily="34" charset="-122"/>
              </a:rPr>
              <a:t>TEE</a:t>
            </a: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增强安全</a:t>
            </a:r>
            <a:endParaRPr lang="en-US" altLang="zh-CN" b="1"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结合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DP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在模型参数层面进一步防止数据反推</a:t>
            </a:r>
            <a:endParaRPr lang="en-US" altLang="zh-CN" sz="1600"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利用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Intel SGX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等硬件提升安全性与速度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扩展至</a:t>
            </a:r>
            <a:r>
              <a:rPr lang="en-US" altLang="zh-CN" b="1">
                <a:latin typeface="Times New Roman" panose="02020603050405020304" charset="0"/>
                <a:ea typeface="微软雅黑" panose="020B0503020204020204" pitchFamily="34" charset="-122"/>
              </a:rPr>
              <a:t>SecureNN</a:t>
            </a: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、</a:t>
            </a:r>
            <a:r>
              <a:rPr lang="en-US" altLang="zh-CN" b="1">
                <a:latin typeface="Times New Roman" panose="02020603050405020304" charset="0"/>
                <a:ea typeface="微软雅黑" panose="020B0503020204020204" pitchFamily="34" charset="-122"/>
              </a:rPr>
              <a:t>CryptGPU</a:t>
            </a: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等</a:t>
            </a:r>
            <a:endParaRPr lang="en-US" altLang="zh-CN" b="1"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多方与分布式扩展使其发展为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SecureNN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CryptGPU 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等更通用框架，实现真正的隐私深度学习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实现隐私与高效平衡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Times New Roman" panose="02020603050405020304" charset="0"/>
                <a:ea typeface="微软雅黑" panose="020B0503020204020204" pitchFamily="34" charset="-122"/>
              </a:rPr>
              <a:t>奠定隐私深度学习基础</a:t>
            </a:r>
            <a:endParaRPr lang="en-US" altLang="zh-CN" b="1">
              <a:latin typeface="Times New Roman" panose="0202060305040502030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例如腾讯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</a:rPr>
              <a:t>Federated AI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</a:rPr>
              <a:t>、阿里隐语等系统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角三角形 3"/>
          <p:cNvSpPr/>
          <p:nvPr/>
        </p:nvSpPr>
        <p:spPr>
          <a:xfrm flipV="1">
            <a:off x="-1" y="-2"/>
            <a:ext cx="3310360" cy="33103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18900000" flipH="1">
            <a:off x="-1125758" y="1252138"/>
            <a:ext cx="4421529" cy="2213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直角三角形 7"/>
          <p:cNvSpPr/>
          <p:nvPr/>
        </p:nvSpPr>
        <p:spPr>
          <a:xfrm flipH="1">
            <a:off x="8881640" y="3547640"/>
            <a:ext cx="3310360" cy="33103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18900000" flipV="1">
            <a:off x="8688882" y="5578872"/>
            <a:ext cx="4421529" cy="79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 rot="18900000" flipV="1">
            <a:off x="8955099" y="5578872"/>
            <a:ext cx="4421529" cy="79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 rot="10800000">
            <a:off x="5692775" y="2580640"/>
            <a:ext cx="805815" cy="1309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sz="6600" b="1">
                <a:latin typeface="Times New Roman" panose="02020603050405020304" charset="0"/>
                <a:ea typeface="等线" panose="02010600030101010101" charset="-122"/>
              </a:rPr>
              <a:t>?</a:t>
            </a:r>
            <a:endParaRPr lang="en-US" sz="66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ea typeface="等线" panose="0201060003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55259842519683,&quot;left&quot;:168.46086614173228,&quot;top&quot;:148.61535433070867,&quot;width&quot;:764.76992125984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55259842519683,&quot;left&quot;:168.46086614173228,&quot;top&quot;:148.61535433070867,&quot;width&quot;:764.76992125984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55259842519683,&quot;left&quot;:168.46086614173228,&quot;top&quot;:148.61535433070867,&quot;width&quot;:764.76992125984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0.648188976378,&quot;left&quot;:451.27511811023624,&quot;top&quot;:131.0531496062992,&quot;width&quot;:515.8355118110237}"/>
</p:tagLst>
</file>

<file path=ppt/theme/theme1.xml><?xml version="1.0" encoding="utf-8"?>
<a:theme xmlns:a="http://schemas.openxmlformats.org/drawingml/2006/main" name="Office 主题​​">
  <a:themeElements>
    <a:clrScheme name="自定义 99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15597"/>
      </a:accent1>
      <a:accent2>
        <a:srgbClr val="517BC7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3827</Words>
  <Application>Microsoft Office PowerPoint</Application>
  <PresentationFormat>宽屏</PresentationFormat>
  <Paragraphs>254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HarmonyOS Sans SC</vt:lpstr>
      <vt:lpstr>等线</vt:lpstr>
      <vt:lpstr>等线 Light</vt:lpstr>
      <vt:lpstr>微软雅黑</vt:lpstr>
      <vt:lpstr>微软雅黑 Light</vt:lpstr>
      <vt:lpstr>Arial</vt:lpstr>
      <vt:lpstr>Calibri</vt:lpstr>
      <vt:lpstr>Cambria Math</vt:lpstr>
      <vt:lpstr>Impact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稻壳儿演示武汉组</dc:creator>
  <cp:lastModifiedBy>Andy Lau</cp:lastModifiedBy>
  <cp:revision>259</cp:revision>
  <dcterms:created xsi:type="dcterms:W3CDTF">2019-05-21T01:13:00Z</dcterms:created>
  <dcterms:modified xsi:type="dcterms:W3CDTF">2025-11-10T03:56:42Z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KSOTemplateUUID">
    <vt:lpwstr>v1.0_mb_ORTAqKTmL1a0mAz1St5ElQ==</vt:lpwstr>
  </property>
  <property fmtid="{D5CDD505-2E9C-101B-9397-08002B2CF9AE}" pid="4" name="ICV">
    <vt:lpwstr>39EA6B8FC9D24D8FB9C108715FF2DABC_13</vt:lpwstr>
  </property>
</Properties>
</file>