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notesSlides/notesSlide1.xml" ContentType="application/vnd.openxmlformats-officedocument.presentationml.notesSlide+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tags/tag22.xml" ContentType="application/vnd.openxmlformats-officedocument.presentationml.tags+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0"/>
  </p:notesMasterIdLst>
  <p:sldIdLst>
    <p:sldId id="257" r:id="rId2"/>
    <p:sldId id="256" r:id="rId3"/>
    <p:sldId id="264" r:id="rId4"/>
    <p:sldId id="285" r:id="rId5"/>
    <p:sldId id="286" r:id="rId6"/>
    <p:sldId id="287" r:id="rId7"/>
    <p:sldId id="295" r:id="rId8"/>
    <p:sldId id="288" r:id="rId9"/>
    <p:sldId id="289" r:id="rId10"/>
    <p:sldId id="290" r:id="rId11"/>
    <p:sldId id="291" r:id="rId12"/>
    <p:sldId id="292" r:id="rId13"/>
    <p:sldId id="293" r:id="rId14"/>
    <p:sldId id="294" r:id="rId15"/>
    <p:sldId id="273" r:id="rId16"/>
    <p:sldId id="274" r:id="rId17"/>
    <p:sldId id="272" r:id="rId18"/>
    <p:sldId id="275" r:id="rId19"/>
    <p:sldId id="276" r:id="rId20"/>
    <p:sldId id="277" r:id="rId21"/>
    <p:sldId id="278" r:id="rId22"/>
    <p:sldId id="279" r:id="rId23"/>
    <p:sldId id="280" r:id="rId24"/>
    <p:sldId id="281" r:id="rId25"/>
    <p:sldId id="282" r:id="rId26"/>
    <p:sldId id="283" r:id="rId27"/>
    <p:sldId id="284" r:id="rId28"/>
    <p:sldId id="262" r:id="rId29"/>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275" userDrawn="1">
          <p15:clr>
            <a:srgbClr val="A4A3A4"/>
          </p15:clr>
        </p15:guide>
        <p15:guide id="2" pos="3829"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69402" autoAdjust="0"/>
  </p:normalViewPr>
  <p:slideViewPr>
    <p:cSldViewPr snapToGrid="0" showGuides="1">
      <p:cViewPr varScale="1">
        <p:scale>
          <a:sx n="79" d="100"/>
          <a:sy n="79" d="100"/>
        </p:scale>
        <p:origin x="1626" y="90"/>
      </p:cViewPr>
      <p:guideLst>
        <p:guide orient="horz" pos="2275"/>
        <p:guide pos="3829"/>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t>2025/11/9</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大家好，我今天汇报的论文是 </a:t>
            </a:r>
            <a:r>
              <a:rPr lang="en-US" altLang="zh-CN" b="1"/>
              <a:t>《SecureML: A System for Scalable Privacy-Preserving Machine Learning》</a:t>
            </a:r>
            <a:r>
              <a:rPr lang="zh-CN" altLang="en-US"/>
              <a:t>。</a:t>
            </a:r>
            <a:br>
              <a:rPr lang="zh-CN" altLang="en-US"/>
            </a:br>
            <a:r>
              <a:rPr lang="zh-CN" altLang="en-US"/>
              <a:t>这篇论文是隐私保护机器学习（</a:t>
            </a:r>
            <a:r>
              <a:rPr lang="en-US" altLang="zh-CN"/>
              <a:t>PPML</a:t>
            </a:r>
            <a:r>
              <a:rPr lang="zh-CN" altLang="en-US"/>
              <a:t>）领域的里程碑之作。它</a:t>
            </a:r>
            <a:r>
              <a:rPr lang="zh-CN" altLang="en-US" b="1"/>
              <a:t>首次证明了</a:t>
            </a:r>
            <a:r>
              <a:rPr lang="zh-CN" altLang="en-US"/>
              <a:t>隐私保护计算可以做到</a:t>
            </a:r>
            <a:r>
              <a:rPr lang="zh-CN" altLang="en-US" b="1"/>
              <a:t>可扩展 </a:t>
            </a:r>
            <a:r>
              <a:rPr lang="en-US" altLang="zh-CN" b="1"/>
              <a:t>(Scalable)</a:t>
            </a:r>
            <a:r>
              <a:rPr lang="zh-CN" altLang="en-US"/>
              <a:t>，将性能提升了数千倍，并</a:t>
            </a:r>
            <a:endParaRPr lang="en-US" altLang="zh-CN"/>
          </a:p>
          <a:p>
            <a:r>
              <a:rPr lang="zh-CN" altLang="en-US"/>
              <a:t>我将从以下六个方面来介绍：</a:t>
            </a:r>
            <a:br>
              <a:rPr lang="zh-CN" altLang="en-US"/>
            </a:br>
            <a:r>
              <a:rPr lang="zh-CN" altLang="en-US" b="1"/>
              <a:t>背景与问题、研究意义、系统架构、核心创新、实验结果、以及总结与展望。</a:t>
            </a:r>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在机器学习时代，</a:t>
            </a:r>
            <a:r>
              <a:rPr lang="zh-CN" altLang="en-US" b="1"/>
              <a:t>“数据就是燃料”</a:t>
            </a:r>
            <a:r>
              <a:rPr lang="zh-CN" altLang="en-US"/>
              <a:t>。</a:t>
            </a:r>
            <a:br>
              <a:rPr lang="zh-CN" altLang="en-US"/>
            </a:br>
            <a:r>
              <a:rPr lang="zh-CN" altLang="en-US"/>
              <a:t>模型的准确率高度依赖于数据量与多样性。</a:t>
            </a:r>
            <a:br>
              <a:rPr lang="zh-CN" altLang="en-US"/>
            </a:br>
            <a:r>
              <a:rPr lang="zh-CN" altLang="en-US"/>
              <a:t>然而，现实中的数据往往分散在不同机构手中</a:t>
            </a:r>
            <a:r>
              <a:rPr lang="en-US" altLang="zh-CN"/>
              <a:t>——</a:t>
            </a:r>
            <a:r>
              <a:rPr lang="zh-CN" altLang="en-US"/>
              <a:t>医院拥有病历，银行有交易记录，电商掌握消费行为。</a:t>
            </a:r>
            <a:br>
              <a:rPr lang="zh-CN" altLang="en-US"/>
            </a:br>
            <a:r>
              <a:rPr lang="zh-CN" altLang="en-US"/>
              <a:t>这些数据一旦结合，就能训练出更强大的预测模型。但是，</a:t>
            </a:r>
            <a:r>
              <a:rPr lang="zh-CN" altLang="en-US" b="1"/>
              <a:t>隐私保护与法律合规</a:t>
            </a:r>
            <a:r>
              <a:rPr lang="zh-CN" altLang="en-US"/>
              <a:t>成了拦路虎。</a:t>
            </a:r>
          </a:p>
          <a:p>
            <a:r>
              <a:rPr lang="zh-CN" altLang="en-US"/>
              <a:t>以医疗场景为例：假设三家医院想合作训练一个疾病预测模型。但病历中包含个人身份、遗传信息和治疗历史，受</a:t>
            </a:r>
            <a:r>
              <a:rPr lang="en-US" altLang="zh-CN"/>
              <a:t>《GDPR》</a:t>
            </a:r>
            <a:r>
              <a:rPr lang="zh-CN" altLang="en-US"/>
              <a:t>和</a:t>
            </a:r>
            <a:r>
              <a:rPr lang="en-US" altLang="zh-CN"/>
              <a:t>《</a:t>
            </a:r>
            <a:r>
              <a:rPr lang="zh-CN" altLang="en-US"/>
              <a:t>个人信息保护法</a:t>
            </a:r>
            <a:r>
              <a:rPr lang="en-US" altLang="zh-CN"/>
              <a:t>》</a:t>
            </a:r>
            <a:r>
              <a:rPr lang="zh-CN" altLang="en-US"/>
              <a:t>约束，医院之间</a:t>
            </a:r>
            <a:r>
              <a:rPr lang="zh-CN" altLang="en-US" b="1"/>
              <a:t>不能直接交换原始数据</a:t>
            </a:r>
            <a:r>
              <a:rPr lang="zh-CN" altLang="en-US"/>
              <a:t>。</a:t>
            </a:r>
            <a:br>
              <a:rPr lang="zh-CN" altLang="en-US"/>
            </a:br>
            <a:r>
              <a:rPr lang="zh-CN" altLang="en-US"/>
              <a:t>金融领域也是同样：银行希望与支付公司共享欺诈交易样本，但客户的账户数据具有高度敏感性。这种无法共享的现象被称为**“数据孤岛”**。</a:t>
            </a:r>
          </a:p>
          <a:p>
            <a:r>
              <a:rPr lang="zh-CN" altLang="en-US"/>
              <a:t>为了打破数据孤岛，研究者尝试过多种加密计算方法。其中两种最典型的就是 </a:t>
            </a:r>
            <a:r>
              <a:rPr lang="zh-CN" altLang="en-US" b="1"/>
              <a:t>同态加密（</a:t>
            </a:r>
            <a:r>
              <a:rPr lang="en-US" altLang="zh-CN" b="1"/>
              <a:t>Homomorphic Encryption, HE</a:t>
            </a:r>
            <a:r>
              <a:rPr lang="zh-CN" altLang="en-US" b="1"/>
              <a:t>）</a:t>
            </a:r>
            <a:r>
              <a:rPr lang="zh-CN" altLang="en-US"/>
              <a:t> 和 </a:t>
            </a:r>
            <a:r>
              <a:rPr lang="zh-CN" altLang="en-US" b="1"/>
              <a:t>安全多方计算（</a:t>
            </a:r>
            <a:r>
              <a:rPr lang="en-US" altLang="zh-CN" b="1"/>
              <a:t>Secure Multi-Party Computation, MPC</a:t>
            </a:r>
            <a:r>
              <a:rPr lang="zh-CN" altLang="en-US" b="1"/>
              <a:t>）</a:t>
            </a:r>
            <a:r>
              <a:rPr lang="zh-CN" altLang="en-US"/>
              <a:t>。</a:t>
            </a:r>
          </a:p>
          <a:p>
            <a:r>
              <a:rPr lang="zh-CN" altLang="en-US"/>
              <a:t>同态加密的优点是“加密状态下可计算”，但它的速度极慢。在加密域里做一次乘法，可能要比明文慢几千倍。多方安全计算能确保参与方都无法看到他人数据，但它需要频繁通信，尤其在神经网络训练这种高维度任务中，通信量会呈指数增长。另外还有 </a:t>
            </a:r>
            <a:r>
              <a:rPr lang="zh-CN" altLang="en-US" b="1"/>
              <a:t>可信执行环境（</a:t>
            </a:r>
            <a:r>
              <a:rPr lang="en-US" altLang="zh-CN" b="1"/>
              <a:t>TEE</a:t>
            </a:r>
            <a:r>
              <a:rPr lang="zh-CN" altLang="en-US" b="1"/>
              <a:t>）</a:t>
            </a:r>
            <a:r>
              <a:rPr lang="zh-CN" altLang="en-US"/>
              <a:t>，例如 </a:t>
            </a:r>
            <a:r>
              <a:rPr lang="en-US" altLang="zh-CN"/>
              <a:t>Intel SGX</a:t>
            </a:r>
            <a:r>
              <a:rPr lang="zh-CN" altLang="en-US"/>
              <a:t>，但它依赖硬件信任假设，容易受到侧信道攻击。因此，虽然这些技术理论上能保护隐私，但</a:t>
            </a:r>
            <a:r>
              <a:rPr lang="zh-CN" altLang="en-US" b="1"/>
              <a:t>在实践中很难扩展到大规模数据集</a:t>
            </a:r>
            <a:r>
              <a:rPr lang="zh-CN" altLang="en-US"/>
              <a:t>。这就引出了 </a:t>
            </a:r>
            <a:r>
              <a:rPr lang="en-US" altLang="zh-CN"/>
              <a:t>SecureML </a:t>
            </a:r>
            <a:r>
              <a:rPr lang="zh-CN" altLang="en-US"/>
              <a:t>的核心问题：</a:t>
            </a:r>
          </a:p>
          <a:p>
            <a:r>
              <a:rPr lang="zh-CN" altLang="en-US"/>
              <a:t>“如何在不泄露原始数据的前提下，实现可扩展、可落地的联合模型训练？”</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在机器学习时代，</a:t>
            </a:r>
            <a:r>
              <a:rPr lang="zh-CN" altLang="en-US" b="1"/>
              <a:t>“数据就是燃料”</a:t>
            </a:r>
            <a:r>
              <a:rPr lang="zh-CN" altLang="en-US"/>
              <a:t>。</a:t>
            </a:r>
            <a:br>
              <a:rPr lang="zh-CN" altLang="en-US"/>
            </a:br>
            <a:r>
              <a:rPr lang="zh-CN" altLang="en-US"/>
              <a:t>模型的准确率高度依赖于数据量与多样性。</a:t>
            </a:r>
            <a:br>
              <a:rPr lang="zh-CN" altLang="en-US"/>
            </a:br>
            <a:r>
              <a:rPr lang="zh-CN" altLang="en-US"/>
              <a:t>然而，现实中的数据往往分散在不同机构手中</a:t>
            </a:r>
            <a:r>
              <a:rPr lang="en-US" altLang="zh-CN"/>
              <a:t>——</a:t>
            </a:r>
            <a:r>
              <a:rPr lang="zh-CN" altLang="en-US"/>
              <a:t>医院拥有病历，银行有交易记录，电商掌握消费行为。</a:t>
            </a:r>
            <a:br>
              <a:rPr lang="zh-CN" altLang="en-US"/>
            </a:br>
            <a:r>
              <a:rPr lang="zh-CN" altLang="en-US"/>
              <a:t>这些数据一旦结合，就能训练出更强大的预测模型。但是，</a:t>
            </a:r>
            <a:r>
              <a:rPr lang="zh-CN" altLang="en-US" b="1"/>
              <a:t>隐私保护与法律合规</a:t>
            </a:r>
            <a:r>
              <a:rPr lang="zh-CN" altLang="en-US"/>
              <a:t>成了拦路虎。</a:t>
            </a:r>
          </a:p>
          <a:p>
            <a:r>
              <a:rPr lang="zh-CN" altLang="en-US"/>
              <a:t>以医疗场景为例：假设三家医院想合作训练一个疾病预测模型。但病历中包含个人身份、遗传信息和治疗历史，受</a:t>
            </a:r>
            <a:r>
              <a:rPr lang="en-US" altLang="zh-CN"/>
              <a:t>《GDPR》</a:t>
            </a:r>
            <a:r>
              <a:rPr lang="zh-CN" altLang="en-US"/>
              <a:t>和</a:t>
            </a:r>
            <a:r>
              <a:rPr lang="en-US" altLang="zh-CN"/>
              <a:t>《</a:t>
            </a:r>
            <a:r>
              <a:rPr lang="zh-CN" altLang="en-US"/>
              <a:t>个人信息保护法</a:t>
            </a:r>
            <a:r>
              <a:rPr lang="en-US" altLang="zh-CN"/>
              <a:t>》</a:t>
            </a:r>
            <a:r>
              <a:rPr lang="zh-CN" altLang="en-US"/>
              <a:t>约束，医院之间</a:t>
            </a:r>
            <a:r>
              <a:rPr lang="zh-CN" altLang="en-US" b="1"/>
              <a:t>不能直接交换原始数据</a:t>
            </a:r>
            <a:r>
              <a:rPr lang="zh-CN" altLang="en-US"/>
              <a:t>。</a:t>
            </a:r>
            <a:br>
              <a:rPr lang="zh-CN" altLang="en-US"/>
            </a:br>
            <a:r>
              <a:rPr lang="zh-CN" altLang="en-US"/>
              <a:t>金融领域也是同样：银行希望与支付公司共享欺诈交易样本，但客户的账户数据具有高度敏感性。这种无法共享的现象被称为**“数据孤岛”**。</a:t>
            </a:r>
          </a:p>
          <a:p>
            <a:r>
              <a:rPr lang="zh-CN" altLang="en-US"/>
              <a:t>为了打破数据孤岛，研究者尝试过多种加密计算方法。其中两种最典型的就是 </a:t>
            </a:r>
            <a:r>
              <a:rPr lang="zh-CN" altLang="en-US" b="1"/>
              <a:t>同态加密（</a:t>
            </a:r>
            <a:r>
              <a:rPr lang="en-US" altLang="zh-CN" b="1"/>
              <a:t>Homomorphic Encryption, HE</a:t>
            </a:r>
            <a:r>
              <a:rPr lang="zh-CN" altLang="en-US" b="1"/>
              <a:t>）</a:t>
            </a:r>
            <a:r>
              <a:rPr lang="zh-CN" altLang="en-US"/>
              <a:t> 和 </a:t>
            </a:r>
            <a:r>
              <a:rPr lang="zh-CN" altLang="en-US" b="1"/>
              <a:t>安全多方计算（</a:t>
            </a:r>
            <a:r>
              <a:rPr lang="en-US" altLang="zh-CN" b="1"/>
              <a:t>Secure Multi-Party Computation, MPC</a:t>
            </a:r>
            <a:r>
              <a:rPr lang="zh-CN" altLang="en-US" b="1"/>
              <a:t>）</a:t>
            </a:r>
            <a:r>
              <a:rPr lang="zh-CN" altLang="en-US"/>
              <a:t>。</a:t>
            </a:r>
          </a:p>
          <a:p>
            <a:r>
              <a:rPr lang="zh-CN" altLang="en-US"/>
              <a:t>同态加密的优点是“加密状态下可计算”，但它的速度极慢。在加密域里做一次乘法，可能要比明文慢几千倍。多方安全计算能确保参与方都无法看到他人数据，但它需要频繁通信，尤其在神经网络训练这种高维度任务中，通信量会呈指数增长。另外还有 </a:t>
            </a:r>
            <a:r>
              <a:rPr lang="zh-CN" altLang="en-US" b="1"/>
              <a:t>可信执行环境（</a:t>
            </a:r>
            <a:r>
              <a:rPr lang="en-US" altLang="zh-CN" b="1"/>
              <a:t>TEE</a:t>
            </a:r>
            <a:r>
              <a:rPr lang="zh-CN" altLang="en-US" b="1"/>
              <a:t>）</a:t>
            </a:r>
            <a:r>
              <a:rPr lang="zh-CN" altLang="en-US"/>
              <a:t>，例如 </a:t>
            </a:r>
            <a:r>
              <a:rPr lang="en-US" altLang="zh-CN"/>
              <a:t>Intel SGX</a:t>
            </a:r>
            <a:r>
              <a:rPr lang="zh-CN" altLang="en-US"/>
              <a:t>，但它依赖硬件信任假设，容易受到侧信道攻击。因此，虽然这些技术理论上能保护隐私，但</a:t>
            </a:r>
            <a:r>
              <a:rPr lang="zh-CN" altLang="en-US" b="1"/>
              <a:t>在实践中很难扩展到大规模数据集</a:t>
            </a:r>
            <a:r>
              <a:rPr lang="zh-CN" altLang="en-US"/>
              <a:t>。这就引出了 </a:t>
            </a:r>
            <a:r>
              <a:rPr lang="en-US" altLang="zh-CN"/>
              <a:t>SecureML </a:t>
            </a:r>
            <a:r>
              <a:rPr lang="zh-CN" altLang="en-US"/>
              <a:t>的核心问题：</a:t>
            </a:r>
          </a:p>
          <a:p>
            <a:r>
              <a:rPr lang="zh-CN" altLang="en-US"/>
              <a:t>“如何在不泄露原始数据的前提下，实现可扩展、可落地的联合模型训练？”</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从</a:t>
            </a:r>
            <a:r>
              <a:rPr lang="zh-CN" altLang="en-US" b="1"/>
              <a:t>理论角度</a:t>
            </a:r>
            <a:r>
              <a:rPr lang="zh-CN" altLang="en-US"/>
              <a:t>看，这篇论文首次证明了</a:t>
            </a:r>
            <a:r>
              <a:rPr lang="en-US" altLang="zh-CN"/>
              <a:t>——</a:t>
            </a:r>
            <a:r>
              <a:rPr lang="zh-CN" altLang="en-US"/>
              <a:t>隐私保护并不必然意味着极端低效。作者通过新的协议设计，让安全计算的性能提升了</a:t>
            </a:r>
            <a:r>
              <a:rPr lang="zh-CN" altLang="en-US" b="1"/>
              <a:t>几百到上千倍</a:t>
            </a:r>
            <a:r>
              <a:rPr lang="zh-CN" altLang="en-US"/>
              <a:t>。</a:t>
            </a:r>
          </a:p>
          <a:p>
            <a:r>
              <a:rPr lang="zh-CN" altLang="en-US"/>
              <a:t>从</a:t>
            </a:r>
            <a:r>
              <a:rPr lang="zh-CN" altLang="en-US" b="1"/>
              <a:t>应用角度</a:t>
            </a:r>
            <a:r>
              <a:rPr lang="zh-CN" altLang="en-US"/>
              <a:t>看，</a:t>
            </a:r>
            <a:r>
              <a:rPr lang="en-US" altLang="zh-CN"/>
              <a:t>SecureML </a:t>
            </a:r>
            <a:r>
              <a:rPr lang="zh-CN" altLang="en-US"/>
              <a:t>也是第一个支持神经网络训练的隐私保护系统。在此之前，几乎所有隐私计算研究只停留在</a:t>
            </a:r>
            <a:r>
              <a:rPr lang="zh-CN" altLang="en-US" b="1"/>
              <a:t>线性回归</a:t>
            </a:r>
            <a:r>
              <a:rPr lang="zh-CN" altLang="en-US"/>
              <a:t>或</a:t>
            </a:r>
            <a:r>
              <a:rPr lang="zh-CN" altLang="en-US" b="1"/>
              <a:t>逻辑回归</a:t>
            </a:r>
            <a:r>
              <a:rPr lang="zh-CN" altLang="en-US"/>
              <a:t>，大家普遍认为神经网络的安全训练“在可预见的未来都不可能实现”。</a:t>
            </a:r>
            <a:br>
              <a:rPr lang="zh-CN" altLang="en-US"/>
            </a:br>
            <a:r>
              <a:rPr lang="en-US" altLang="zh-CN"/>
              <a:t>SecureML </a:t>
            </a:r>
            <a:r>
              <a:rPr lang="zh-CN" altLang="en-US"/>
              <a:t>改变了这种看法，为隐私深度学习打开了大门。更重要的是，它提出了一整套可复用的设计框架：包括</a:t>
            </a:r>
            <a:r>
              <a:rPr lang="zh-CN" altLang="en-US" b="1"/>
              <a:t>两服务器模型、截断算术、</a:t>
            </a:r>
            <a:r>
              <a:rPr lang="en-US" altLang="zh-CN" b="1"/>
              <a:t>MPC </a:t>
            </a:r>
            <a:r>
              <a:rPr lang="zh-CN" altLang="en-US" b="1"/>
              <a:t>友好激活函数、协议向量化</a:t>
            </a:r>
            <a:r>
              <a:rPr lang="zh-CN" altLang="en-US"/>
              <a:t>等思路。</a:t>
            </a:r>
            <a:br>
              <a:rPr lang="zh-CN" altLang="en-US"/>
            </a:br>
            <a:r>
              <a:rPr lang="zh-CN" altLang="en-US"/>
              <a:t>这些思想后来被广泛采用，比如 </a:t>
            </a:r>
            <a:r>
              <a:rPr lang="en-US" altLang="zh-CN"/>
              <a:t>SecureNN</a:t>
            </a:r>
            <a:r>
              <a:rPr lang="zh-CN" altLang="en-US"/>
              <a:t>、</a:t>
            </a:r>
            <a:r>
              <a:rPr lang="en-US" altLang="zh-CN"/>
              <a:t>CrypTen</a:t>
            </a:r>
            <a:r>
              <a:rPr lang="zh-CN" altLang="en-US"/>
              <a:t>、</a:t>
            </a:r>
            <a:r>
              <a:rPr lang="en-US" altLang="zh-CN"/>
              <a:t>CryptGPU </a:t>
            </a:r>
            <a:r>
              <a:rPr lang="zh-CN" altLang="en-US"/>
              <a:t>等系统，都在不同程度上延续了 </a:t>
            </a:r>
            <a:r>
              <a:rPr lang="en-US" altLang="zh-CN"/>
              <a:t>SecureML </a:t>
            </a:r>
            <a:r>
              <a:rPr lang="zh-CN" altLang="en-US"/>
              <a:t>的设计理念。</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a:t>SecureML </a:t>
            </a:r>
            <a:r>
              <a:rPr lang="zh-CN" altLang="en-US"/>
              <a:t>的架构核心是 </a:t>
            </a:r>
            <a:r>
              <a:rPr lang="zh-CN" altLang="en-US" b="1"/>
              <a:t>“两服务器模型” </a:t>
            </a:r>
            <a:r>
              <a:rPr lang="en-US" altLang="zh-CN" b="1"/>
              <a:t>(Two-Server Model)</a:t>
            </a:r>
            <a:r>
              <a:rPr lang="en-US" altLang="zh-CN"/>
              <a:t> </a:t>
            </a:r>
            <a:r>
              <a:rPr lang="zh-CN" altLang="en-US"/>
              <a:t>。</a:t>
            </a:r>
          </a:p>
          <a:p>
            <a:r>
              <a:rPr lang="zh-CN" altLang="en-US"/>
              <a:t>我们可以把它想象成一种“拼图机制”：</a:t>
            </a:r>
            <a:endParaRPr lang="en-US" altLang="zh-CN"/>
          </a:p>
          <a:p>
            <a:r>
              <a:rPr lang="zh-CN" altLang="en-US" sz="1200" b="1" kern="1200">
                <a:solidFill>
                  <a:schemeClr val="tx1"/>
                </a:solidFill>
                <a:effectLst/>
                <a:latin typeface="+mn-lt"/>
                <a:ea typeface="+mn-ea"/>
                <a:cs typeface="+mn-cs"/>
              </a:rPr>
              <a:t>客户端 </a:t>
            </a:r>
            <a:r>
              <a:rPr lang="en-US" altLang="zh-CN" sz="1200" b="1" kern="1200">
                <a:solidFill>
                  <a:schemeClr val="tx1"/>
                </a:solidFill>
                <a:effectLst/>
                <a:latin typeface="+mn-lt"/>
                <a:ea typeface="+mn-ea"/>
                <a:cs typeface="+mn-cs"/>
              </a:rPr>
              <a:t>(Clients):</a:t>
            </a:r>
            <a:r>
              <a:rPr lang="en-US" altLang="zh-CN" sz="1200" kern="1200">
                <a:solidFill>
                  <a:schemeClr val="tx1"/>
                </a:solidFill>
                <a:effectLst/>
                <a:latin typeface="+mn-lt"/>
                <a:ea typeface="+mn-ea"/>
                <a:cs typeface="+mn-cs"/>
              </a:rPr>
              <a:t> </a:t>
            </a:r>
            <a:r>
              <a:rPr lang="zh-CN" altLang="en-US" sz="1200" kern="1200">
                <a:solidFill>
                  <a:schemeClr val="tx1"/>
                </a:solidFill>
                <a:effectLst/>
                <a:latin typeface="+mn-lt"/>
                <a:ea typeface="+mn-ea"/>
                <a:cs typeface="+mn-cs"/>
              </a:rPr>
              <a:t>比如多家医院，它们是数据持有方。</a:t>
            </a:r>
          </a:p>
          <a:p>
            <a:r>
              <a:rPr lang="zh-CN" altLang="en-US" sz="1200" b="1" kern="1200">
                <a:solidFill>
                  <a:schemeClr val="tx1"/>
                </a:solidFill>
                <a:effectLst/>
                <a:latin typeface="+mn-lt"/>
                <a:ea typeface="+mn-ea"/>
                <a:cs typeface="+mn-cs"/>
              </a:rPr>
              <a:t>服务器 </a:t>
            </a:r>
            <a:r>
              <a:rPr lang="en-US" altLang="zh-CN" sz="1200" b="1" kern="1200">
                <a:solidFill>
                  <a:schemeClr val="tx1"/>
                </a:solidFill>
                <a:effectLst/>
                <a:latin typeface="+mn-lt"/>
                <a:ea typeface="+mn-ea"/>
                <a:cs typeface="+mn-cs"/>
              </a:rPr>
              <a:t>(Servers):</a:t>
            </a:r>
            <a:r>
              <a:rPr lang="en-US" altLang="zh-CN" sz="1200" kern="1200">
                <a:solidFill>
                  <a:schemeClr val="tx1"/>
                </a:solidFill>
                <a:effectLst/>
                <a:latin typeface="+mn-lt"/>
                <a:ea typeface="+mn-ea"/>
                <a:cs typeface="+mn-cs"/>
              </a:rPr>
              <a:t> S0</a:t>
            </a:r>
            <a:r>
              <a:rPr lang="zh-CN" altLang="en-US" sz="1200" kern="1200">
                <a:solidFill>
                  <a:schemeClr val="tx1"/>
                </a:solidFill>
                <a:effectLst/>
                <a:latin typeface="+mn-lt"/>
                <a:ea typeface="+mn-ea"/>
                <a:cs typeface="+mn-cs"/>
              </a:rPr>
              <a:t>和 </a:t>
            </a:r>
            <a:r>
              <a:rPr lang="en-US" altLang="zh-CN" sz="1200" kern="1200">
                <a:solidFill>
                  <a:schemeClr val="tx1"/>
                </a:solidFill>
                <a:effectLst/>
                <a:latin typeface="+mn-lt"/>
                <a:ea typeface="+mn-ea"/>
                <a:cs typeface="+mn-cs"/>
              </a:rPr>
              <a:t>S1</a:t>
            </a:r>
            <a:endParaRPr lang="zh-CN" altLang="en-US" sz="1200" kern="1200">
              <a:solidFill>
                <a:schemeClr val="tx1"/>
              </a:solidFill>
              <a:effectLst/>
              <a:latin typeface="+mn-lt"/>
              <a:ea typeface="+mn-ea"/>
              <a:cs typeface="+mn-cs"/>
            </a:endParaRPr>
          </a:p>
          <a:p>
            <a:r>
              <a:rPr lang="zh-CN" altLang="en-US" sz="1200" kern="1200">
                <a:solidFill>
                  <a:schemeClr val="tx1"/>
                </a:solidFill>
                <a:effectLst/>
                <a:latin typeface="+mn-lt"/>
                <a:ea typeface="+mn-ea"/>
                <a:cs typeface="+mn-cs"/>
              </a:rPr>
              <a:t>这个“拼图”在密码学上叫做 “加法秘密分享” </a:t>
            </a:r>
            <a:r>
              <a:rPr lang="en-US" altLang="zh-CN" sz="1200" kern="1200">
                <a:solidFill>
                  <a:schemeClr val="tx1"/>
                </a:solidFill>
                <a:effectLst/>
                <a:latin typeface="+mn-lt"/>
                <a:ea typeface="+mn-ea"/>
                <a:cs typeface="+mn-cs"/>
              </a:rPr>
              <a:t>(Additive Secret Sharing) </a:t>
            </a:r>
            <a:r>
              <a:rPr lang="zh-CN" altLang="en-US" sz="1200" kern="1200">
                <a:solidFill>
                  <a:schemeClr val="tx1"/>
                </a:solidFill>
                <a:effectLst/>
                <a:latin typeface="+mn-lt"/>
                <a:ea typeface="+mn-ea"/>
                <a:cs typeface="+mn-cs"/>
              </a:rPr>
              <a:t>。</a:t>
            </a:r>
          </a:p>
          <a:p>
            <a:r>
              <a:rPr lang="zh-CN" altLang="en-US" sz="1200" kern="1200">
                <a:solidFill>
                  <a:schemeClr val="tx1"/>
                </a:solidFill>
                <a:effectLst/>
                <a:latin typeface="+mn-lt"/>
                <a:ea typeface="+mn-ea"/>
                <a:cs typeface="+mn-cs"/>
              </a:rPr>
              <a:t>流程是：</a:t>
            </a:r>
          </a:p>
          <a:p>
            <a:r>
              <a:rPr lang="zh-CN" altLang="en-US" sz="1200" b="1" kern="1200">
                <a:solidFill>
                  <a:schemeClr val="tx1"/>
                </a:solidFill>
                <a:effectLst/>
                <a:latin typeface="+mn-lt"/>
                <a:ea typeface="+mn-ea"/>
                <a:cs typeface="+mn-cs"/>
              </a:rPr>
              <a:t>数据分享：</a:t>
            </a:r>
            <a:r>
              <a:rPr lang="zh-CN" altLang="en-US" sz="1200" kern="1200">
                <a:solidFill>
                  <a:schemeClr val="tx1"/>
                </a:solidFill>
                <a:effectLst/>
                <a:latin typeface="+mn-lt"/>
                <a:ea typeface="+mn-ea"/>
                <a:cs typeface="+mn-cs"/>
              </a:rPr>
              <a:t> 客户端（比如医院 </a:t>
            </a:r>
            <a:r>
              <a:rPr lang="en-US" altLang="zh-CN" sz="1200" kern="1200">
                <a:solidFill>
                  <a:schemeClr val="tx1"/>
                </a:solidFill>
                <a:effectLst/>
                <a:latin typeface="+mn-lt"/>
                <a:ea typeface="+mn-ea"/>
                <a:cs typeface="+mn-cs"/>
              </a:rPr>
              <a:t>A</a:t>
            </a:r>
            <a:r>
              <a:rPr lang="zh-CN" altLang="en-US" sz="1200" kern="1200">
                <a:solidFill>
                  <a:schemeClr val="tx1"/>
                </a:solidFill>
                <a:effectLst/>
                <a:latin typeface="+mn-lt"/>
                <a:ea typeface="+mn-ea"/>
                <a:cs typeface="+mn-cs"/>
              </a:rPr>
              <a:t>）有一个数据</a:t>
            </a:r>
            <a:r>
              <a:rPr lang="en-US" altLang="zh-CN" sz="1200" kern="1200">
                <a:solidFill>
                  <a:schemeClr val="tx1"/>
                </a:solidFill>
                <a:effectLst/>
                <a:latin typeface="+mn-lt"/>
                <a:ea typeface="+mn-ea"/>
                <a:cs typeface="+mn-cs"/>
              </a:rPr>
              <a:t>x</a:t>
            </a:r>
            <a:r>
              <a:rPr lang="zh-CN" altLang="en-US" sz="1200" kern="1200">
                <a:solidFill>
                  <a:schemeClr val="tx1"/>
                </a:solidFill>
                <a:effectLst/>
                <a:latin typeface="+mn-lt"/>
                <a:ea typeface="+mn-ea"/>
                <a:cs typeface="+mn-cs"/>
              </a:rPr>
              <a:t>，它会随机生成一个 </a:t>
            </a:r>
            <a:r>
              <a:rPr lang="en-US" altLang="zh-CN" sz="1200" kern="1200">
                <a:solidFill>
                  <a:schemeClr val="tx1"/>
                </a:solidFill>
                <a:effectLst/>
                <a:latin typeface="+mn-lt"/>
                <a:ea typeface="+mn-ea"/>
                <a:cs typeface="+mn-cs"/>
              </a:rPr>
              <a:t>x0</a:t>
            </a:r>
            <a:r>
              <a:rPr lang="zh-CN" altLang="en-US" sz="1200" kern="1200">
                <a:solidFill>
                  <a:schemeClr val="tx1"/>
                </a:solidFill>
                <a:effectLst/>
                <a:latin typeface="+mn-lt"/>
                <a:ea typeface="+mn-ea"/>
                <a:cs typeface="+mn-cs"/>
              </a:rPr>
              <a:t>，然后计算</a:t>
            </a:r>
            <a:r>
              <a:rPr lang="en-US" altLang="zh-CN" sz="1200" kern="1200">
                <a:solidFill>
                  <a:schemeClr val="tx1"/>
                </a:solidFill>
                <a:effectLst/>
                <a:latin typeface="+mn-lt"/>
                <a:ea typeface="+mn-ea"/>
                <a:cs typeface="+mn-cs"/>
              </a:rPr>
              <a:t>x1=x-x0</a:t>
            </a:r>
            <a:r>
              <a:rPr lang="zh-CN" altLang="en-US" sz="1200" kern="1200">
                <a:solidFill>
                  <a:schemeClr val="tx1"/>
                </a:solidFill>
                <a:effectLst/>
                <a:latin typeface="+mn-lt"/>
                <a:ea typeface="+mn-ea"/>
                <a:cs typeface="+mn-cs"/>
              </a:rPr>
              <a:t>。</a:t>
            </a:r>
          </a:p>
          <a:p>
            <a:r>
              <a:rPr lang="zh-CN" altLang="en-US" sz="1200" b="1" kern="1200">
                <a:solidFill>
                  <a:schemeClr val="tx1"/>
                </a:solidFill>
                <a:effectLst/>
                <a:latin typeface="+mn-lt"/>
                <a:ea typeface="+mn-ea"/>
                <a:cs typeface="+mn-cs"/>
              </a:rPr>
              <a:t>数据分发：</a:t>
            </a:r>
            <a:r>
              <a:rPr lang="zh-CN" altLang="en-US" sz="1200" kern="1200">
                <a:solidFill>
                  <a:schemeClr val="tx1"/>
                </a:solidFill>
                <a:effectLst/>
                <a:latin typeface="+mn-lt"/>
                <a:ea typeface="+mn-ea"/>
                <a:cs typeface="+mn-cs"/>
              </a:rPr>
              <a:t> 医院 </a:t>
            </a:r>
            <a:r>
              <a:rPr lang="en-US" altLang="zh-CN" sz="1200" kern="1200">
                <a:solidFill>
                  <a:schemeClr val="tx1"/>
                </a:solidFill>
                <a:effectLst/>
                <a:latin typeface="+mn-lt"/>
                <a:ea typeface="+mn-ea"/>
                <a:cs typeface="+mn-cs"/>
              </a:rPr>
              <a:t>A </a:t>
            </a:r>
            <a:r>
              <a:rPr lang="zh-CN" altLang="en-US" sz="1200" kern="1200">
                <a:solidFill>
                  <a:schemeClr val="tx1"/>
                </a:solidFill>
                <a:effectLst/>
                <a:latin typeface="+mn-lt"/>
                <a:ea typeface="+mn-ea"/>
                <a:cs typeface="+mn-cs"/>
              </a:rPr>
              <a:t>把 </a:t>
            </a:r>
            <a:r>
              <a:rPr lang="en-US" altLang="zh-CN" sz="1200" kern="1200">
                <a:solidFill>
                  <a:schemeClr val="tx1"/>
                </a:solidFill>
                <a:effectLst/>
                <a:latin typeface="+mn-lt"/>
                <a:ea typeface="+mn-ea"/>
                <a:cs typeface="+mn-cs"/>
              </a:rPr>
              <a:t>x0</a:t>
            </a:r>
            <a:r>
              <a:rPr lang="zh-CN" altLang="en-US" sz="1200" kern="1200">
                <a:solidFill>
                  <a:schemeClr val="tx1"/>
                </a:solidFill>
                <a:effectLst/>
                <a:latin typeface="+mn-lt"/>
                <a:ea typeface="+mn-ea"/>
                <a:cs typeface="+mn-cs"/>
              </a:rPr>
              <a:t>发给服务器 </a:t>
            </a:r>
            <a:r>
              <a:rPr lang="en-US" altLang="zh-CN" sz="1200" kern="1200">
                <a:solidFill>
                  <a:schemeClr val="tx1"/>
                </a:solidFill>
                <a:effectLst/>
                <a:latin typeface="+mn-lt"/>
                <a:ea typeface="+mn-ea"/>
                <a:cs typeface="+mn-cs"/>
              </a:rPr>
              <a:t>S0</a:t>
            </a:r>
            <a:r>
              <a:rPr lang="zh-CN" altLang="en-US" sz="1200" kern="1200">
                <a:solidFill>
                  <a:schemeClr val="tx1"/>
                </a:solidFill>
                <a:effectLst/>
                <a:latin typeface="+mn-lt"/>
                <a:ea typeface="+mn-ea"/>
                <a:cs typeface="+mn-cs"/>
              </a:rPr>
              <a:t>，把 </a:t>
            </a:r>
            <a:r>
              <a:rPr lang="en-US" altLang="zh-CN" sz="1200" kern="1200">
                <a:solidFill>
                  <a:schemeClr val="tx1"/>
                </a:solidFill>
                <a:effectLst/>
                <a:latin typeface="+mn-lt"/>
                <a:ea typeface="+mn-ea"/>
                <a:cs typeface="+mn-cs"/>
              </a:rPr>
              <a:t>x1</a:t>
            </a:r>
            <a:r>
              <a:rPr lang="zh-CN" altLang="en-US" sz="1200" kern="1200">
                <a:solidFill>
                  <a:schemeClr val="tx1"/>
                </a:solidFill>
                <a:effectLst/>
                <a:latin typeface="+mn-lt"/>
                <a:ea typeface="+mn-ea"/>
                <a:cs typeface="+mn-cs"/>
              </a:rPr>
              <a:t>发给服务器 </a:t>
            </a:r>
            <a:r>
              <a:rPr lang="en-US" altLang="zh-CN" sz="1200" kern="1200">
                <a:solidFill>
                  <a:schemeClr val="tx1"/>
                </a:solidFill>
                <a:effectLst/>
                <a:latin typeface="+mn-lt"/>
                <a:ea typeface="+mn-ea"/>
                <a:cs typeface="+mn-cs"/>
              </a:rPr>
              <a:t>S1</a:t>
            </a:r>
            <a:r>
              <a:rPr lang="zh-CN" altLang="en-US" sz="1200" kern="1200">
                <a:solidFill>
                  <a:schemeClr val="tx1"/>
                </a:solidFill>
                <a:effectLst/>
                <a:latin typeface="+mn-lt"/>
                <a:ea typeface="+mn-ea"/>
                <a:cs typeface="+mn-cs"/>
              </a:rPr>
              <a:t>。</a:t>
            </a:r>
          </a:p>
          <a:p>
            <a:r>
              <a:rPr lang="zh-CN" altLang="en-US" sz="1200" b="1" kern="1200">
                <a:solidFill>
                  <a:schemeClr val="tx1"/>
                </a:solidFill>
                <a:effectLst/>
                <a:latin typeface="+mn-lt"/>
                <a:ea typeface="+mn-ea"/>
                <a:cs typeface="+mn-cs"/>
              </a:rPr>
              <a:t>安全性：</a:t>
            </a:r>
            <a:r>
              <a:rPr lang="zh-CN" altLang="en-US" sz="1200" kern="1200">
                <a:solidFill>
                  <a:schemeClr val="tx1"/>
                </a:solidFill>
                <a:effectLst/>
                <a:latin typeface="+mn-lt"/>
                <a:ea typeface="+mn-ea"/>
                <a:cs typeface="+mn-cs"/>
              </a:rPr>
              <a:t> </a:t>
            </a:r>
            <a:r>
              <a:rPr lang="en-US" altLang="zh-CN" sz="1200" kern="1200">
                <a:solidFill>
                  <a:schemeClr val="tx1"/>
                </a:solidFill>
                <a:effectLst/>
                <a:latin typeface="+mn-lt"/>
                <a:ea typeface="+mn-ea"/>
                <a:cs typeface="+mn-cs"/>
              </a:rPr>
              <a:t>S0</a:t>
            </a:r>
            <a:r>
              <a:rPr lang="zh-CN" altLang="en-US" sz="1200" kern="1200">
                <a:solidFill>
                  <a:schemeClr val="tx1"/>
                </a:solidFill>
                <a:effectLst/>
                <a:latin typeface="+mn-lt"/>
                <a:ea typeface="+mn-ea"/>
                <a:cs typeface="+mn-cs"/>
              </a:rPr>
              <a:t>只拿到 </a:t>
            </a:r>
            <a:r>
              <a:rPr lang="en-US" altLang="zh-CN" sz="1200" kern="1200">
                <a:solidFill>
                  <a:schemeClr val="tx1"/>
                </a:solidFill>
                <a:effectLst/>
                <a:latin typeface="+mn-lt"/>
                <a:ea typeface="+mn-ea"/>
                <a:cs typeface="+mn-cs"/>
              </a:rPr>
              <a:t>x0</a:t>
            </a:r>
            <a:r>
              <a:rPr lang="zh-CN" altLang="en-US" sz="1200" kern="1200">
                <a:solidFill>
                  <a:schemeClr val="tx1"/>
                </a:solidFill>
                <a:effectLst/>
                <a:latin typeface="+mn-lt"/>
                <a:ea typeface="+mn-ea"/>
                <a:cs typeface="+mn-cs"/>
              </a:rPr>
              <a:t>（一个随机数），</a:t>
            </a:r>
            <a:r>
              <a:rPr lang="en-US" altLang="zh-CN" sz="1200" kern="1200">
                <a:solidFill>
                  <a:schemeClr val="tx1"/>
                </a:solidFill>
                <a:effectLst/>
                <a:latin typeface="+mn-lt"/>
                <a:ea typeface="+mn-ea"/>
                <a:cs typeface="+mn-cs"/>
              </a:rPr>
              <a:t>S1</a:t>
            </a:r>
            <a:r>
              <a:rPr lang="zh-CN" altLang="en-US" sz="1200" kern="1200">
                <a:solidFill>
                  <a:schemeClr val="tx1"/>
                </a:solidFill>
                <a:effectLst/>
                <a:latin typeface="+mn-lt"/>
                <a:ea typeface="+mn-ea"/>
                <a:cs typeface="+mn-cs"/>
              </a:rPr>
              <a:t>只拿到 </a:t>
            </a:r>
            <a:r>
              <a:rPr lang="en-US" altLang="zh-CN" sz="1200" kern="1200">
                <a:solidFill>
                  <a:schemeClr val="tx1"/>
                </a:solidFill>
                <a:effectLst/>
                <a:latin typeface="+mn-lt"/>
                <a:ea typeface="+mn-ea"/>
                <a:cs typeface="+mn-cs"/>
              </a:rPr>
              <a:t>x1</a:t>
            </a:r>
            <a:r>
              <a:rPr lang="zh-CN" altLang="en-US" sz="1200" kern="1200">
                <a:solidFill>
                  <a:schemeClr val="tx1"/>
                </a:solidFill>
                <a:effectLst/>
                <a:latin typeface="+mn-lt"/>
                <a:ea typeface="+mn-ea"/>
                <a:cs typeface="+mn-cs"/>
              </a:rPr>
              <a:t>。</a:t>
            </a:r>
            <a:r>
              <a:rPr lang="zh-CN" altLang="en-US" sz="1200" b="1" kern="1200">
                <a:solidFill>
                  <a:schemeClr val="tx1"/>
                </a:solidFill>
                <a:effectLst/>
                <a:latin typeface="+mn-lt"/>
                <a:ea typeface="+mn-ea"/>
                <a:cs typeface="+mn-cs"/>
              </a:rPr>
              <a:t>任何一方都无法单独还原 </a:t>
            </a:r>
            <a:r>
              <a:rPr lang="en-US" altLang="zh-CN" sz="1200" b="1" kern="1200">
                <a:solidFill>
                  <a:schemeClr val="tx1"/>
                </a:solidFill>
                <a:effectLst/>
                <a:latin typeface="+mn-lt"/>
                <a:ea typeface="+mn-ea"/>
                <a:cs typeface="+mn-cs"/>
              </a:rPr>
              <a:t>x</a:t>
            </a:r>
            <a:r>
              <a:rPr lang="zh-CN" altLang="en-US" sz="1200" kern="1200">
                <a:solidFill>
                  <a:schemeClr val="tx1"/>
                </a:solidFill>
                <a:effectLst/>
                <a:latin typeface="+mn-lt"/>
                <a:ea typeface="+mn-ea"/>
                <a:cs typeface="+mn-cs"/>
              </a:rPr>
              <a:t>。</a:t>
            </a:r>
          </a:p>
          <a:p>
            <a:endParaRPr lang="en-US" altLang="zh-CN"/>
          </a:p>
          <a:p>
            <a:r>
              <a:rPr lang="zh-CN" altLang="en-US"/>
              <a:t>流程是这样的：</a:t>
            </a:r>
            <a:endParaRPr lang="en-US" altLang="zh-CN"/>
          </a:p>
          <a:p>
            <a:r>
              <a:rPr lang="zh-CN" altLang="en-US"/>
              <a:t>多个客户端（即数据持有者）先在本地对数据进行预处理，比如标准化、分片或加密。</a:t>
            </a:r>
            <a:endParaRPr lang="en-US" altLang="zh-CN"/>
          </a:p>
          <a:p>
            <a:r>
              <a:rPr lang="zh-CN" altLang="en-US"/>
              <a:t>每个客户端将数据拆成两份</a:t>
            </a:r>
            <a:r>
              <a:rPr lang="en-US" altLang="zh-CN"/>
              <a:t>——</a:t>
            </a:r>
            <a:r>
              <a:rPr lang="zh-CN" altLang="en-US"/>
              <a:t>类似</a:t>
            </a:r>
            <a:r>
              <a:rPr lang="en-US" altLang="zh-CN"/>
              <a:t>“</a:t>
            </a:r>
            <a:r>
              <a:rPr lang="zh-CN" altLang="en-US"/>
              <a:t>切成两半的拼图</a:t>
            </a:r>
            <a:r>
              <a:rPr lang="en-US" altLang="zh-CN"/>
              <a:t>”</a:t>
            </a:r>
            <a:r>
              <a:rPr lang="zh-CN" altLang="en-US"/>
              <a:t>，分别发给两台不串通的服务器</a:t>
            </a:r>
            <a:r>
              <a:rPr lang="en-US" altLang="zh-CN"/>
              <a:t> S</a:t>
            </a:r>
            <a:r>
              <a:rPr lang="en-US" altLang="en-US"/>
              <a:t>₀</a:t>
            </a:r>
            <a:r>
              <a:rPr lang="en-US" altLang="zh-CN"/>
              <a:t> </a:t>
            </a:r>
            <a:r>
              <a:rPr lang="zh-CN" altLang="en-US"/>
              <a:t>和</a:t>
            </a:r>
            <a:r>
              <a:rPr lang="en-US" altLang="zh-CN"/>
              <a:t> S</a:t>
            </a:r>
            <a:r>
              <a:rPr lang="en-US" altLang="en-US"/>
              <a:t>₁</a:t>
            </a:r>
            <a:r>
              <a:rPr lang="zh-CN" altLang="en-US"/>
              <a:t>。</a:t>
            </a:r>
            <a:endParaRPr lang="en-US" altLang="zh-CN"/>
          </a:p>
          <a:p>
            <a:r>
              <a:rPr lang="zh-CN" altLang="en-US"/>
              <a:t>两台服务器各自持有一半数据碎片，无法单独恢复原始信息，但可以通过安全两方计算</a:t>
            </a:r>
            <a:r>
              <a:rPr lang="en-US" altLang="zh-CN"/>
              <a:t> (2PC) </a:t>
            </a:r>
            <a:r>
              <a:rPr lang="zh-CN" altLang="en-US"/>
              <a:t>合作训练模型。</a:t>
            </a:r>
            <a:endParaRPr lang="en-US" altLang="zh-CN"/>
          </a:p>
          <a:p>
            <a:r>
              <a:rPr lang="zh-CN" altLang="en-US"/>
              <a:t>客户端在上传数据后即可离线，整个训练由服务器完成。</a:t>
            </a:r>
            <a:endParaRPr lang="en-US" altLang="zh-CN"/>
          </a:p>
          <a:p>
            <a:r>
              <a:rPr lang="zh-CN" altLang="en-US"/>
              <a:t>最终，两台服务器只输出模型参数，而不会泄露任何单方数据。</a:t>
            </a:r>
            <a:endParaRPr lang="en-US" altLang="zh-CN"/>
          </a:p>
          <a:p>
            <a:r>
              <a:rPr lang="en-US" altLang="zh-CN"/>
              <a:t>SecureML </a:t>
            </a:r>
            <a:r>
              <a:rPr lang="zh-CN" altLang="en-US"/>
              <a:t>把训练过程拆成两个阶段：</a:t>
            </a:r>
          </a:p>
          <a:p>
            <a:r>
              <a:rPr lang="zh-CN" altLang="en-US"/>
              <a:t>离线阶段（</a:t>
            </a:r>
            <a:r>
              <a:rPr lang="en-US" altLang="zh-CN"/>
              <a:t>Offline Phase</a:t>
            </a:r>
            <a:r>
              <a:rPr lang="zh-CN" altLang="en-US"/>
              <a:t>）：预先生成大量用于安全计算的随机乘法三元组，这一步与具体数据无关。</a:t>
            </a:r>
            <a:endParaRPr lang="en-US" altLang="zh-CN"/>
          </a:p>
          <a:p>
            <a:r>
              <a:rPr lang="zh-CN" altLang="en-US"/>
              <a:t>在线阶段（</a:t>
            </a:r>
            <a:r>
              <a:rPr lang="en-US" altLang="zh-CN"/>
              <a:t>Online Phase</a:t>
            </a:r>
            <a:r>
              <a:rPr lang="zh-CN" altLang="en-US"/>
              <a:t>）：在训练时只进行轻量级算术运算，不再执行复杂加密。</a:t>
            </a:r>
          </a:p>
          <a:p>
            <a:r>
              <a:rPr lang="zh-CN" altLang="en-US"/>
              <a:t>这种</a:t>
            </a:r>
            <a:r>
              <a:rPr lang="en-US" altLang="zh-CN"/>
              <a:t>“</a:t>
            </a:r>
            <a:r>
              <a:rPr lang="zh-CN" altLang="en-US"/>
              <a:t>重离线、轻在线</a:t>
            </a:r>
            <a:r>
              <a:rPr lang="en-US" altLang="zh-CN"/>
              <a:t>”</a:t>
            </a:r>
            <a:r>
              <a:rPr lang="zh-CN" altLang="en-US"/>
              <a:t>的架构，是</a:t>
            </a:r>
            <a:r>
              <a:rPr lang="en-US" altLang="zh-CN"/>
              <a:t> SecureML </a:t>
            </a:r>
            <a:r>
              <a:rPr lang="zh-CN" altLang="en-US"/>
              <a:t>能够做到高效训练的关键。</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2BCA98-EE7A-952F-4A2D-C51272E8417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23E8986-4801-D002-31AC-CEC6489A00F0}"/>
              </a:ext>
            </a:extLst>
          </p:cNvPr>
          <p:cNvSpPr>
            <a:spLocks noGrp="1" noRot="1" noChangeAspect="1"/>
          </p:cNvSpPr>
          <p:nvPr>
            <p:ph type="sldImg" idx="2"/>
          </p:nvPr>
        </p:nvSpPr>
        <p:spPr/>
      </p:sp>
      <p:sp>
        <p:nvSpPr>
          <p:cNvPr id="3" name="文本占位符 2">
            <a:extLst>
              <a:ext uri="{FF2B5EF4-FFF2-40B4-BE49-F238E27FC236}">
                <a16:creationId xmlns:a16="http://schemas.microsoft.com/office/drawing/2014/main" id="{C443BC2F-1310-305C-9578-DA4A1A34F040}"/>
              </a:ext>
            </a:extLst>
          </p:cNvPr>
          <p:cNvSpPr>
            <a:spLocks noGrp="1"/>
          </p:cNvSpPr>
          <p:nvPr>
            <p:ph type="body" idx="3"/>
          </p:nvPr>
        </p:nvSpPr>
        <p:spPr/>
        <p:txBody>
          <a:bodyPr/>
          <a:lstStyle/>
          <a:p>
            <a:r>
              <a:rPr lang="zh-CN" altLang="en-US" sz="1200" kern="1200">
                <a:solidFill>
                  <a:schemeClr val="tx1"/>
                </a:solidFill>
                <a:effectLst/>
                <a:latin typeface="+mn-lt"/>
                <a:ea typeface="+mn-ea"/>
                <a:cs typeface="+mn-cs"/>
              </a:rPr>
              <a:t>这篇论文的安全模型是 </a:t>
            </a:r>
            <a:r>
              <a:rPr lang="zh-CN" altLang="en-US" sz="1200" b="1" kern="1200">
                <a:solidFill>
                  <a:schemeClr val="tx1"/>
                </a:solidFill>
                <a:effectLst/>
                <a:latin typeface="+mn-lt"/>
                <a:ea typeface="+mn-ea"/>
                <a:cs typeface="+mn-cs"/>
              </a:rPr>
              <a:t>“半诚实模型” </a:t>
            </a:r>
            <a:r>
              <a:rPr lang="en-US" altLang="zh-CN" sz="1200" b="1" kern="1200">
                <a:solidFill>
                  <a:schemeClr val="tx1"/>
                </a:solidFill>
                <a:effectLst/>
                <a:latin typeface="+mn-lt"/>
                <a:ea typeface="+mn-ea"/>
                <a:cs typeface="+mn-cs"/>
              </a:rPr>
              <a:t>(Semi-Honest Model)</a:t>
            </a:r>
            <a:r>
              <a:rPr lang="zh-CN" altLang="en-US" sz="1200" kern="1200">
                <a:solidFill>
                  <a:schemeClr val="tx1"/>
                </a:solidFill>
                <a:effectLst/>
                <a:latin typeface="+mn-lt"/>
                <a:ea typeface="+mn-ea"/>
                <a:cs typeface="+mn-cs"/>
              </a:rPr>
              <a:t> </a:t>
            </a:r>
            <a:r>
              <a:rPr lang="en-US" altLang="zh-CN" sz="1200" kern="1200" baseline="30000">
                <a:solidFill>
                  <a:schemeClr val="tx1"/>
                </a:solidFill>
                <a:effectLst/>
                <a:latin typeface="+mn-lt"/>
                <a:ea typeface="+mn-ea"/>
                <a:cs typeface="+mn-cs"/>
              </a:rPr>
              <a:t>1616</a:t>
            </a:r>
            <a:r>
              <a:rPr lang="zh-CN" altLang="en-US" sz="1200" kern="1200">
                <a:solidFill>
                  <a:schemeClr val="tx1"/>
                </a:solidFill>
                <a:effectLst/>
                <a:latin typeface="+mn-lt"/>
                <a:ea typeface="+mn-ea"/>
                <a:cs typeface="+mn-cs"/>
              </a:rPr>
              <a:t>。</a:t>
            </a:r>
          </a:p>
          <a:p>
            <a:r>
              <a:rPr lang="zh-CN" altLang="en-US" sz="1200" kern="1200">
                <a:solidFill>
                  <a:schemeClr val="tx1"/>
                </a:solidFill>
                <a:effectLst/>
                <a:latin typeface="+mn-lt"/>
                <a:ea typeface="+mn-ea"/>
                <a:cs typeface="+mn-cs"/>
              </a:rPr>
              <a:t>这是什么意思？在 </a:t>
            </a:r>
            <a:r>
              <a:rPr lang="en-US" altLang="zh-CN" sz="1200" kern="1200">
                <a:solidFill>
                  <a:schemeClr val="tx1"/>
                </a:solidFill>
                <a:effectLst/>
                <a:latin typeface="+mn-lt"/>
                <a:ea typeface="+mn-ea"/>
                <a:cs typeface="+mn-cs"/>
              </a:rPr>
              <a:t>MPC </a:t>
            </a:r>
            <a:r>
              <a:rPr lang="zh-CN" altLang="en-US" sz="1200" kern="1200">
                <a:solidFill>
                  <a:schemeClr val="tx1"/>
                </a:solidFill>
                <a:effectLst/>
                <a:latin typeface="+mn-lt"/>
                <a:ea typeface="+mn-ea"/>
                <a:cs typeface="+mn-cs"/>
              </a:rPr>
              <a:t>中，我们有两种对手：</a:t>
            </a:r>
          </a:p>
          <a:p>
            <a:r>
              <a:rPr lang="zh-CN" altLang="en-US" sz="1200" b="1" kern="1200">
                <a:solidFill>
                  <a:schemeClr val="tx1"/>
                </a:solidFill>
                <a:effectLst/>
                <a:latin typeface="+mn-lt"/>
                <a:ea typeface="+mn-ea"/>
                <a:cs typeface="+mn-cs"/>
              </a:rPr>
              <a:t>恶意 </a:t>
            </a:r>
            <a:r>
              <a:rPr lang="en-US" altLang="zh-CN" sz="1200" b="1" kern="1200">
                <a:solidFill>
                  <a:schemeClr val="tx1"/>
                </a:solidFill>
                <a:effectLst/>
                <a:latin typeface="+mn-lt"/>
                <a:ea typeface="+mn-ea"/>
                <a:cs typeface="+mn-cs"/>
              </a:rPr>
              <a:t>(Malicious)</a:t>
            </a:r>
            <a:r>
              <a:rPr lang="zh-CN" altLang="en-US" sz="1200" b="1" kern="1200">
                <a:solidFill>
                  <a:schemeClr val="tx1"/>
                </a:solidFill>
                <a:effectLst/>
                <a:latin typeface="+mn-lt"/>
                <a:ea typeface="+mn-ea"/>
                <a:cs typeface="+mn-cs"/>
              </a:rPr>
              <a:t>：</a:t>
            </a:r>
            <a:r>
              <a:rPr lang="zh-CN" altLang="en-US" sz="1200" kern="1200">
                <a:solidFill>
                  <a:schemeClr val="tx1"/>
                </a:solidFill>
                <a:effectLst/>
                <a:latin typeface="+mn-lt"/>
                <a:ea typeface="+mn-ea"/>
                <a:cs typeface="+mn-cs"/>
              </a:rPr>
              <a:t> 对手会不择手段，比如</a:t>
            </a:r>
            <a:r>
              <a:rPr lang="zh-CN" altLang="en-US" sz="1200" b="1" kern="1200">
                <a:solidFill>
                  <a:schemeClr val="tx1"/>
                </a:solidFill>
                <a:effectLst/>
                <a:latin typeface="+mn-lt"/>
                <a:ea typeface="+mn-ea"/>
                <a:cs typeface="+mn-cs"/>
              </a:rPr>
              <a:t>篡改协议</a:t>
            </a:r>
            <a:r>
              <a:rPr lang="zh-CN" altLang="en-US" sz="1200" kern="1200">
                <a:solidFill>
                  <a:schemeClr val="tx1"/>
                </a:solidFill>
                <a:effectLst/>
                <a:latin typeface="+mn-lt"/>
                <a:ea typeface="+mn-ea"/>
                <a:cs typeface="+mn-cs"/>
              </a:rPr>
              <a:t>、发送假数据、提前中止计算来攻击你。防御这种对手代价极高。</a:t>
            </a:r>
          </a:p>
          <a:p>
            <a:r>
              <a:rPr lang="zh-CN" altLang="en-US" sz="1200" b="1" kern="1200">
                <a:solidFill>
                  <a:schemeClr val="tx1"/>
                </a:solidFill>
                <a:effectLst/>
                <a:latin typeface="+mn-lt"/>
                <a:ea typeface="+mn-ea"/>
                <a:cs typeface="+mn-cs"/>
              </a:rPr>
              <a:t>半诚实 </a:t>
            </a:r>
            <a:r>
              <a:rPr lang="en-US" altLang="zh-CN" sz="1200" b="1" kern="1200">
                <a:solidFill>
                  <a:schemeClr val="tx1"/>
                </a:solidFill>
                <a:effectLst/>
                <a:latin typeface="+mn-lt"/>
                <a:ea typeface="+mn-ea"/>
                <a:cs typeface="+mn-cs"/>
              </a:rPr>
              <a:t>(Semi-Honest)</a:t>
            </a:r>
            <a:r>
              <a:rPr lang="zh-CN" altLang="en-US" sz="1200" b="1" kern="1200">
                <a:solidFill>
                  <a:schemeClr val="tx1"/>
                </a:solidFill>
                <a:effectLst/>
                <a:latin typeface="+mn-lt"/>
                <a:ea typeface="+mn-ea"/>
                <a:cs typeface="+mn-cs"/>
              </a:rPr>
              <a:t>：</a:t>
            </a:r>
            <a:r>
              <a:rPr lang="zh-CN" altLang="en-US" sz="1200" kern="1200">
                <a:solidFill>
                  <a:schemeClr val="tx1"/>
                </a:solidFill>
                <a:effectLst/>
                <a:latin typeface="+mn-lt"/>
                <a:ea typeface="+mn-ea"/>
                <a:cs typeface="+mn-cs"/>
              </a:rPr>
              <a:t> 也叫“诚实但好奇”。对手会</a:t>
            </a:r>
            <a:r>
              <a:rPr lang="zh-CN" altLang="en-US" sz="1200" b="1" kern="1200">
                <a:solidFill>
                  <a:schemeClr val="tx1"/>
                </a:solidFill>
                <a:effectLst/>
                <a:latin typeface="+mn-lt"/>
                <a:ea typeface="+mn-ea"/>
                <a:cs typeface="+mn-cs"/>
              </a:rPr>
              <a:t>严格遵守协议的每一步</a:t>
            </a:r>
            <a:r>
              <a:rPr lang="zh-CN" altLang="en-US" sz="1200" kern="1200">
                <a:solidFill>
                  <a:schemeClr val="tx1"/>
                </a:solidFill>
                <a:effectLst/>
                <a:latin typeface="+mn-lt"/>
                <a:ea typeface="+mn-ea"/>
                <a:cs typeface="+mn-cs"/>
              </a:rPr>
              <a:t>，但他会保留计算过程中收到的所有信息（比如中间值），试图在事后推断出额外的信息 </a:t>
            </a:r>
            <a:r>
              <a:rPr lang="en-US" altLang="zh-CN" sz="1200" kern="1200" baseline="30000">
                <a:solidFill>
                  <a:schemeClr val="tx1"/>
                </a:solidFill>
                <a:effectLst/>
                <a:latin typeface="+mn-lt"/>
                <a:ea typeface="+mn-ea"/>
                <a:cs typeface="+mn-cs"/>
              </a:rPr>
              <a:t>17171717</a:t>
            </a:r>
            <a:r>
              <a:rPr lang="zh-CN" altLang="en-US" sz="1200" kern="1200">
                <a:solidFill>
                  <a:schemeClr val="tx1"/>
                </a:solidFill>
                <a:effectLst/>
                <a:latin typeface="+mn-lt"/>
                <a:ea typeface="+mn-ea"/>
                <a:cs typeface="+mn-cs"/>
              </a:rPr>
              <a:t>。</a:t>
            </a:r>
          </a:p>
          <a:p>
            <a:r>
              <a:rPr lang="en-US" altLang="zh-CN" sz="1200" kern="1200">
                <a:solidFill>
                  <a:schemeClr val="tx1"/>
                </a:solidFill>
                <a:effectLst/>
                <a:latin typeface="+mn-lt"/>
                <a:ea typeface="+mn-ea"/>
                <a:cs typeface="+mn-cs"/>
              </a:rPr>
              <a:t>SecureML </a:t>
            </a:r>
            <a:r>
              <a:rPr lang="zh-CN" altLang="en-US" sz="1200" kern="1200">
                <a:solidFill>
                  <a:schemeClr val="tx1"/>
                </a:solidFill>
                <a:effectLst/>
                <a:latin typeface="+mn-lt"/>
                <a:ea typeface="+mn-ea"/>
                <a:cs typeface="+mn-cs"/>
              </a:rPr>
              <a:t>假设对手是“半诚实”的。</a:t>
            </a:r>
          </a:p>
          <a:p>
            <a:r>
              <a:rPr lang="en-US" altLang="zh-CN" sz="1200" kern="1200">
                <a:solidFill>
                  <a:schemeClr val="tx1"/>
                </a:solidFill>
                <a:effectLst/>
                <a:latin typeface="+mn-lt"/>
                <a:ea typeface="+mn-ea"/>
                <a:cs typeface="+mn-cs"/>
              </a:rPr>
              <a:t>(</a:t>
            </a:r>
            <a:r>
              <a:rPr lang="zh-CN" altLang="en-US" sz="1200" kern="1200">
                <a:solidFill>
                  <a:schemeClr val="tx1"/>
                </a:solidFill>
                <a:effectLst/>
                <a:latin typeface="+mn-lt"/>
                <a:ea typeface="+mn-ea"/>
                <a:cs typeface="+mn-cs"/>
              </a:rPr>
              <a:t>强调</a:t>
            </a:r>
            <a:r>
              <a:rPr lang="en-US" altLang="zh-CN" sz="1200" kern="1200">
                <a:solidFill>
                  <a:schemeClr val="tx1"/>
                </a:solidFill>
                <a:effectLst/>
                <a:latin typeface="+mn-lt"/>
                <a:ea typeface="+mn-ea"/>
                <a:cs typeface="+mn-cs"/>
              </a:rPr>
              <a:t>) </a:t>
            </a:r>
            <a:r>
              <a:rPr lang="zh-CN" altLang="en-US" sz="1200" kern="1200">
                <a:solidFill>
                  <a:schemeClr val="tx1"/>
                </a:solidFill>
                <a:effectLst/>
                <a:latin typeface="+mn-lt"/>
                <a:ea typeface="+mn-ea"/>
                <a:cs typeface="+mn-cs"/>
              </a:rPr>
              <a:t>为什么这个假设是合理的？</a:t>
            </a:r>
          </a:p>
          <a:p>
            <a:r>
              <a:rPr lang="zh-CN" altLang="en-US" sz="1200" kern="1200">
                <a:solidFill>
                  <a:schemeClr val="tx1"/>
                </a:solidFill>
                <a:effectLst/>
                <a:latin typeface="+mn-lt"/>
                <a:ea typeface="+mn-ea"/>
                <a:cs typeface="+mn-cs"/>
              </a:rPr>
              <a:t>在论文设想的场景中（比如几家银行或医院合作），参与方都是有声誉的大机构，它们有强烈的动机去遵守法律和协议（不会主动“作恶”），但它们又互不信任（会“好奇”对方的数据）。半诚实模型完美地刻画了这种**“既合作又竞争”**的商业联盟关系。</a:t>
            </a:r>
          </a:p>
          <a:p>
            <a:r>
              <a:rPr lang="zh-CN" altLang="en-US" sz="1200" kern="1200">
                <a:solidFill>
                  <a:schemeClr val="tx1"/>
                </a:solidFill>
                <a:effectLst/>
                <a:latin typeface="+mn-lt"/>
                <a:ea typeface="+mn-ea"/>
                <a:cs typeface="+mn-cs"/>
              </a:rPr>
              <a:t>（</a:t>
            </a:r>
            <a:r>
              <a:rPr lang="en-US" altLang="zh-CN" sz="1200" kern="1200">
                <a:solidFill>
                  <a:schemeClr val="tx1"/>
                </a:solidFill>
                <a:effectLst/>
                <a:latin typeface="+mn-lt"/>
                <a:ea typeface="+mn-ea"/>
                <a:cs typeface="+mn-cs"/>
              </a:rPr>
              <a:t>PowerPoint: “</a:t>
            </a:r>
            <a:r>
              <a:rPr lang="zh-CN" altLang="en-US" sz="1200" kern="1200">
                <a:solidFill>
                  <a:schemeClr val="tx1"/>
                </a:solidFill>
                <a:effectLst/>
                <a:latin typeface="+mn-lt"/>
                <a:ea typeface="+mn-ea"/>
                <a:cs typeface="+mn-cs"/>
              </a:rPr>
              <a:t>不串通”假设）</a:t>
            </a:r>
          </a:p>
          <a:p>
            <a:r>
              <a:rPr lang="en-US" altLang="zh-CN" sz="1200" kern="1200">
                <a:solidFill>
                  <a:schemeClr val="tx1"/>
                </a:solidFill>
                <a:effectLst/>
                <a:latin typeface="+mn-lt"/>
                <a:ea typeface="+mn-ea"/>
                <a:cs typeface="+mn-cs"/>
              </a:rPr>
              <a:t>SecureML </a:t>
            </a:r>
            <a:r>
              <a:rPr lang="zh-CN" altLang="en-US" sz="1200" kern="1200">
                <a:solidFill>
                  <a:schemeClr val="tx1"/>
                </a:solidFill>
                <a:effectLst/>
                <a:latin typeface="+mn-lt"/>
                <a:ea typeface="+mn-ea"/>
                <a:cs typeface="+mn-cs"/>
              </a:rPr>
              <a:t>还有一个最关键的假设：</a:t>
            </a:r>
          </a:p>
          <a:p>
            <a:r>
              <a:rPr lang="zh-CN" altLang="en-US" sz="1200" b="1" kern="1200">
                <a:solidFill>
                  <a:schemeClr val="tx1"/>
                </a:solidFill>
                <a:effectLst/>
                <a:latin typeface="+mn-lt"/>
                <a:ea typeface="+mn-ea"/>
                <a:cs typeface="+mn-cs"/>
              </a:rPr>
              <a:t>两台服务器 </a:t>
            </a:r>
            <a:r>
              <a:rPr lang="en-US" altLang="zh-CN" sz="1200" b="1" kern="1200">
                <a:solidFill>
                  <a:schemeClr val="tx1"/>
                </a:solidFill>
                <a:effectLst/>
                <a:latin typeface="+mn-lt"/>
                <a:ea typeface="+mn-ea"/>
                <a:cs typeface="+mn-cs"/>
              </a:rPr>
              <a:t>S0</a:t>
            </a:r>
            <a:r>
              <a:rPr lang="zh-CN" altLang="en-US" sz="1200" b="1" kern="1200">
                <a:solidFill>
                  <a:schemeClr val="tx1"/>
                </a:solidFill>
                <a:effectLst/>
                <a:latin typeface="+mn-lt"/>
                <a:ea typeface="+mn-ea"/>
                <a:cs typeface="+mn-cs"/>
              </a:rPr>
              <a:t>和</a:t>
            </a:r>
            <a:r>
              <a:rPr lang="en-US" altLang="zh-CN" sz="1200" b="1" kern="1200">
                <a:solidFill>
                  <a:schemeClr val="tx1"/>
                </a:solidFill>
                <a:effectLst/>
                <a:latin typeface="+mn-lt"/>
                <a:ea typeface="+mn-ea"/>
                <a:cs typeface="+mn-cs"/>
              </a:rPr>
              <a:t>S1</a:t>
            </a:r>
            <a:r>
              <a:rPr lang="zh-CN" altLang="en-US" sz="1200" b="1" kern="1200">
                <a:solidFill>
                  <a:schemeClr val="tx1"/>
                </a:solidFill>
                <a:effectLst/>
                <a:latin typeface="+mn-lt"/>
                <a:ea typeface="+mn-ea"/>
                <a:cs typeface="+mn-cs"/>
              </a:rPr>
              <a:t>不传统</a:t>
            </a:r>
            <a:endParaRPr lang="en-US" altLang="zh-CN" sz="1200" b="1" kern="1200">
              <a:solidFill>
                <a:schemeClr val="tx1"/>
              </a:solidFill>
              <a:effectLst/>
              <a:latin typeface="+mn-lt"/>
              <a:ea typeface="+mn-ea"/>
              <a:cs typeface="+mn-cs"/>
            </a:endParaRPr>
          </a:p>
          <a:p>
            <a:r>
              <a:rPr lang="zh-CN" altLang="en-US" sz="1200" kern="1200">
                <a:solidFill>
                  <a:schemeClr val="tx1"/>
                </a:solidFill>
                <a:effectLst/>
                <a:latin typeface="+mn-lt"/>
                <a:ea typeface="+mn-ea"/>
                <a:cs typeface="+mn-cs"/>
              </a:rPr>
              <a:t>只要其中之一保持诚实，系统就是安全的。一旦它们合谋，交换手上的数据分享</a:t>
            </a:r>
            <a:r>
              <a:rPr lang="en-US" altLang="zh-CN" sz="1200" kern="1200">
                <a:solidFill>
                  <a:schemeClr val="tx1"/>
                </a:solidFill>
                <a:effectLst/>
                <a:latin typeface="+mn-lt"/>
                <a:ea typeface="+mn-ea"/>
                <a:cs typeface="+mn-cs"/>
              </a:rPr>
              <a:t>x0</a:t>
            </a:r>
            <a:r>
              <a:rPr lang="zh-CN" altLang="en-US" sz="1200" kern="1200">
                <a:solidFill>
                  <a:schemeClr val="tx1"/>
                </a:solidFill>
                <a:effectLst/>
                <a:latin typeface="+mn-lt"/>
                <a:ea typeface="+mn-ea"/>
                <a:cs typeface="+mn-cs"/>
              </a:rPr>
              <a:t>和</a:t>
            </a:r>
            <a:r>
              <a:rPr lang="en-US" altLang="zh-CN" sz="1200" kern="1200">
                <a:solidFill>
                  <a:schemeClr val="tx1"/>
                </a:solidFill>
                <a:effectLst/>
                <a:latin typeface="+mn-lt"/>
                <a:ea typeface="+mn-ea"/>
                <a:cs typeface="+mn-cs"/>
              </a:rPr>
              <a:t>x1</a:t>
            </a:r>
            <a:r>
              <a:rPr lang="zh-CN" altLang="en-US" sz="1200" kern="1200">
                <a:solidFill>
                  <a:schemeClr val="tx1"/>
                </a:solidFill>
                <a:effectLst/>
                <a:latin typeface="+mn-lt"/>
                <a:ea typeface="+mn-ea"/>
                <a:cs typeface="+mn-cs"/>
              </a:rPr>
              <a:t>，原始数据</a:t>
            </a:r>
            <a:r>
              <a:rPr lang="en-US" altLang="zh-CN" sz="1200" kern="1200">
                <a:solidFill>
                  <a:schemeClr val="tx1"/>
                </a:solidFill>
                <a:effectLst/>
                <a:latin typeface="+mn-lt"/>
                <a:ea typeface="+mn-ea"/>
                <a:cs typeface="+mn-cs"/>
              </a:rPr>
              <a:t>x</a:t>
            </a:r>
            <a:r>
              <a:rPr lang="zh-CN" altLang="en-US" sz="1200" kern="1200">
                <a:solidFill>
                  <a:schemeClr val="tx1"/>
                </a:solidFill>
                <a:effectLst/>
                <a:latin typeface="+mn-lt"/>
                <a:ea typeface="+mn-ea"/>
                <a:cs typeface="+mn-cs"/>
              </a:rPr>
              <a:t>就会立刻泄露。</a:t>
            </a:r>
          </a:p>
          <a:p>
            <a:r>
              <a:rPr lang="zh-CN" altLang="en-US" sz="1200" kern="1200">
                <a:solidFill>
                  <a:schemeClr val="tx1"/>
                </a:solidFill>
                <a:effectLst/>
                <a:latin typeface="+mn-lt"/>
                <a:ea typeface="+mn-ea"/>
                <a:cs typeface="+mn-cs"/>
              </a:rPr>
              <a:t>这个假设在现实中偏强，因此论文在 </a:t>
            </a:r>
            <a:r>
              <a:rPr lang="en-US" altLang="zh-CN" sz="1200" kern="1200">
                <a:solidFill>
                  <a:schemeClr val="tx1"/>
                </a:solidFill>
                <a:effectLst/>
                <a:latin typeface="+mn-lt"/>
                <a:ea typeface="+mn-ea"/>
                <a:cs typeface="+mn-cs"/>
              </a:rPr>
              <a:t>V</a:t>
            </a:r>
            <a:r>
              <a:rPr lang="zh-CN" altLang="en-US" sz="1200" kern="1200">
                <a:solidFill>
                  <a:schemeClr val="tx1"/>
                </a:solidFill>
                <a:effectLst/>
                <a:latin typeface="+mn-lt"/>
                <a:ea typeface="+mn-ea"/>
                <a:cs typeface="+mn-cs"/>
              </a:rPr>
              <a:t>章节中也讨论了替代方案，比如让客户端参与部分离线计算 ，但这会引入新的安全模型，要求客户端和服务器也不能串通 </a:t>
            </a:r>
            <a:r>
              <a:rPr lang="en-US" altLang="zh-CN" sz="1200" kern="1200" baseline="30000">
                <a:solidFill>
                  <a:schemeClr val="tx1"/>
                </a:solidFill>
                <a:effectLst/>
                <a:latin typeface="+mn-lt"/>
                <a:ea typeface="+mn-ea"/>
                <a:cs typeface="+mn-cs"/>
              </a:rPr>
              <a:t>21</a:t>
            </a:r>
            <a:r>
              <a:rPr lang="zh-CN" altLang="en-US" sz="1200" kern="1200">
                <a:solidFill>
                  <a:schemeClr val="tx1"/>
                </a:solidFill>
                <a:effectLst/>
                <a:latin typeface="+mn-lt"/>
                <a:ea typeface="+mn-ea"/>
                <a:cs typeface="+mn-cs"/>
              </a:rPr>
              <a:t>。</a:t>
            </a:r>
          </a:p>
        </p:txBody>
      </p:sp>
    </p:spTree>
    <p:extLst>
      <p:ext uri="{BB962C8B-B14F-4D97-AF65-F5344CB8AC3E}">
        <p14:creationId xmlns:p14="http://schemas.microsoft.com/office/powerpoint/2010/main" val="41795040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sym typeface="+mn-ea"/>
              </a:rPr>
              <a:t>我们知道在机器学习中尤其是</a:t>
            </a:r>
            <a:r>
              <a:rPr lang="en-US" altLang="zh-CN">
                <a:sym typeface="+mn-ea"/>
              </a:rPr>
              <a:t>SGD</a:t>
            </a:r>
            <a:r>
              <a:rPr lang="zh-CN" altLang="en-US">
                <a:sym typeface="+mn-ea"/>
              </a:rPr>
              <a:t>，需要大量浮点数乘法，而加密十进制数计算效率低 </a:t>
            </a:r>
            <a:r>
              <a:rPr lang="en-US" altLang="zh-CN">
                <a:sym typeface="+mn-ea"/>
              </a:rPr>
              <a:t>-&gt; </a:t>
            </a:r>
            <a:r>
              <a:rPr lang="zh-CN" altLang="en-US">
                <a:sym typeface="+mn-ea"/>
              </a:rPr>
              <a:t>加密计算 保证精度</a:t>
            </a:r>
          </a:p>
          <a:p>
            <a:r>
              <a:rPr lang="zh-CN" altLang="en-US"/>
              <a:t>在传统安全计算中，小数运算是最耗时的部分</a:t>
            </a:r>
            <a:r>
              <a:rPr lang="en-US" altLang="zh-CN"/>
              <a:t>,</a:t>
            </a:r>
            <a:r>
              <a:rPr lang="zh-CN" altLang="en-US"/>
              <a:t>计算代价极高。</a:t>
            </a:r>
            <a:endParaRPr lang="en-US" altLang="zh-CN"/>
          </a:p>
          <a:p>
            <a:r>
              <a:rPr lang="zh-CN" altLang="en-US"/>
              <a:t>作者提出了一种非常巧妙的方法</a:t>
            </a:r>
            <a:r>
              <a:rPr lang="en-US" altLang="zh-CN"/>
              <a:t>——</a:t>
            </a:r>
            <a:r>
              <a:rPr lang="zh-CN" altLang="en-US"/>
              <a:t>本地截断。</a:t>
            </a:r>
          </a:p>
          <a:p>
            <a:r>
              <a:rPr lang="zh-CN" altLang="en-US"/>
              <a:t>直观地说，就是每台服务器在计算完乘积后，各自</a:t>
            </a:r>
            <a:r>
              <a:rPr lang="en-US" altLang="zh-CN"/>
              <a:t>“</a:t>
            </a:r>
            <a:r>
              <a:rPr lang="zh-CN" altLang="en-US"/>
              <a:t>砍掉</a:t>
            </a:r>
            <a:r>
              <a:rPr lang="en-US" altLang="zh-CN"/>
              <a:t>”</a:t>
            </a:r>
            <a:r>
              <a:rPr lang="zh-CN" altLang="en-US"/>
              <a:t>几位小数。</a:t>
            </a:r>
          </a:p>
          <a:p>
            <a:r>
              <a:rPr lang="zh-CN" altLang="en-US"/>
              <a:t>这一步完全本地执行，不需要额外通信，也不需要加密。</a:t>
            </a:r>
            <a:endParaRPr lang="en-US" altLang="zh-CN"/>
          </a:p>
          <a:p>
            <a:r>
              <a:rPr lang="zh-CN" altLang="en-US"/>
              <a:t>实验表明，这种截断误差在理论上最多只有</a:t>
            </a:r>
            <a:r>
              <a:rPr lang="en-US" altLang="zh-CN"/>
              <a:t> 1 bit</a:t>
            </a:r>
            <a:r>
              <a:rPr lang="zh-CN" altLang="en-US"/>
              <a:t>，几乎不会影响模型精度。</a:t>
            </a:r>
          </a:p>
          <a:p>
            <a:r>
              <a:rPr lang="zh-CN" altLang="en-US"/>
              <a:t>更重要的是，它让在线训练阶段几乎不包含任何密码学操作，只需做普通整数乘法和移位。</a:t>
            </a:r>
          </a:p>
          <a:p>
            <a:r>
              <a:rPr lang="zh-CN" altLang="en-US"/>
              <a:t>因此，性能几乎接近明文训练。</a:t>
            </a:r>
            <a:endParaRPr lang="en-US" altLang="zh-CN"/>
          </a:p>
          <a:p>
            <a:r>
              <a:rPr lang="zh-CN" altLang="en-US"/>
              <a:t>举个比喻：</a:t>
            </a:r>
          </a:p>
          <a:p>
            <a:r>
              <a:rPr lang="zh-CN" altLang="en-US"/>
              <a:t>传统方法是</a:t>
            </a:r>
            <a:r>
              <a:rPr lang="en-US" altLang="zh-CN"/>
              <a:t>“</a:t>
            </a:r>
            <a:r>
              <a:rPr lang="zh-CN" altLang="en-US"/>
              <a:t>先做完整乘法再做加密除法</a:t>
            </a:r>
            <a:r>
              <a:rPr lang="en-US" altLang="zh-CN"/>
              <a:t>”</a:t>
            </a:r>
            <a:r>
              <a:rPr lang="zh-CN" altLang="en-US"/>
              <a:t>，就像在银行柜台逐分计算；</a:t>
            </a:r>
          </a:p>
          <a:p>
            <a:r>
              <a:rPr lang="zh-CN" altLang="en-US"/>
              <a:t>而</a:t>
            </a:r>
            <a:r>
              <a:rPr lang="en-US" altLang="zh-CN"/>
              <a:t> SecureML </a:t>
            </a:r>
            <a:r>
              <a:rPr lang="zh-CN" altLang="en-US"/>
              <a:t>的截断方法，就像在计算前就约定</a:t>
            </a:r>
            <a:r>
              <a:rPr lang="en-US" altLang="zh-CN"/>
              <a:t>“</a:t>
            </a:r>
            <a:r>
              <a:rPr lang="zh-CN" altLang="en-US"/>
              <a:t>我们只保留小数点后两位</a:t>
            </a:r>
            <a:r>
              <a:rPr lang="en-US" altLang="zh-CN"/>
              <a:t>”</a:t>
            </a:r>
            <a:r>
              <a:rPr lang="zh-CN" altLang="en-US"/>
              <a:t>，大幅节省时间。</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神经网络的非线性激活函数，如</a:t>
            </a:r>
            <a:r>
              <a:rPr lang="en-US" altLang="zh-CN"/>
              <a:t> Sigmoid </a:t>
            </a:r>
            <a:r>
              <a:rPr lang="zh-CN" altLang="en-US"/>
              <a:t>或</a:t>
            </a:r>
            <a:r>
              <a:rPr lang="en-US" altLang="zh-CN"/>
              <a:t> Softmax</a:t>
            </a:r>
            <a:r>
              <a:rPr lang="zh-CN" altLang="en-US"/>
              <a:t>，通常涉及指数和除法运算。</a:t>
            </a:r>
            <a:endParaRPr lang="en-US" altLang="zh-CN"/>
          </a:p>
          <a:p>
            <a:r>
              <a:rPr lang="zh-CN" altLang="en-US"/>
              <a:t>用低阶多项式（比如 </a:t>
            </a:r>
            <a:r>
              <a:rPr lang="en-US" altLang="zh-CN"/>
              <a:t>2 </a:t>
            </a:r>
            <a:r>
              <a:rPr lang="zh-CN" altLang="en-US"/>
              <a:t>阶或 </a:t>
            </a:r>
            <a:r>
              <a:rPr lang="en-US" altLang="zh-CN"/>
              <a:t>3 </a:t>
            </a:r>
            <a:r>
              <a:rPr lang="zh-CN" altLang="en-US"/>
              <a:t>阶）来近似。</a:t>
            </a:r>
            <a:endParaRPr lang="en-US" altLang="zh-CN"/>
          </a:p>
          <a:p>
            <a:r>
              <a:rPr lang="zh-CN" altLang="en-US"/>
              <a:t>论文在 </a:t>
            </a:r>
            <a:r>
              <a:rPr lang="en-US" altLang="zh-CN" b="1"/>
              <a:t>Table I</a:t>
            </a:r>
            <a:r>
              <a:rPr lang="en-US" altLang="zh-CN"/>
              <a:t> </a:t>
            </a:r>
            <a:r>
              <a:rPr lang="zh-CN" altLang="en-US"/>
              <a:t>中指出，低阶多项式近似的效果</a:t>
            </a:r>
            <a:r>
              <a:rPr lang="zh-CN" altLang="en-US" b="1"/>
              <a:t>极差</a:t>
            </a:r>
            <a:r>
              <a:rPr lang="zh-CN" altLang="en-US"/>
              <a:t>！</a:t>
            </a:r>
            <a:endParaRPr lang="en-US" altLang="zh-CN"/>
          </a:p>
          <a:p>
            <a:r>
              <a:rPr lang="zh-CN" altLang="en-US"/>
              <a:t>必须用到 </a:t>
            </a:r>
            <a:r>
              <a:rPr lang="en-US" altLang="zh-CN"/>
              <a:t>10 </a:t>
            </a:r>
            <a:r>
              <a:rPr lang="zh-CN" altLang="en-US"/>
              <a:t>阶多项式才能接近 </a:t>
            </a:r>
            <a:r>
              <a:rPr lang="en-US" altLang="zh-CN"/>
              <a:t>98.54%</a:t>
            </a:r>
            <a:r>
              <a:rPr lang="zh-CN" altLang="en-US"/>
              <a:t>，但 </a:t>
            </a:r>
            <a:r>
              <a:rPr lang="en-US" altLang="zh-CN"/>
              <a:t>10 </a:t>
            </a:r>
            <a:r>
              <a:rPr lang="zh-CN" altLang="en-US"/>
              <a:t>阶多项式的计算开销又太大了 。</a:t>
            </a:r>
            <a:endParaRPr lang="en-US" altLang="zh-CN"/>
          </a:p>
          <a:p>
            <a:r>
              <a:rPr lang="zh-CN" altLang="en-US"/>
              <a:t>这些运算在安全计算中非常昂贵。</a:t>
            </a:r>
            <a:endParaRPr lang="en-US" altLang="zh-CN"/>
          </a:p>
          <a:p>
            <a:r>
              <a:rPr lang="en-US" altLang="zh-CN"/>
              <a:t>SecureML </a:t>
            </a:r>
            <a:r>
              <a:rPr lang="zh-CN" altLang="en-US"/>
              <a:t>用分段线性函数替代</a:t>
            </a:r>
            <a:r>
              <a:rPr lang="en-US" altLang="zh-CN"/>
              <a:t> Sigmoid</a:t>
            </a:r>
            <a:r>
              <a:rPr lang="zh-CN" altLang="en-US"/>
              <a:t>：</a:t>
            </a:r>
          </a:p>
          <a:p>
            <a:r>
              <a:rPr lang="zh-CN" altLang="en-US"/>
              <a:t>当</a:t>
            </a:r>
            <a:r>
              <a:rPr lang="en-US" altLang="zh-CN"/>
              <a:t> x </a:t>
            </a:r>
            <a:r>
              <a:rPr lang="zh-CN" altLang="en-US"/>
              <a:t>小于</a:t>
            </a:r>
            <a:r>
              <a:rPr lang="en-US" altLang="zh-CN"/>
              <a:t> –0.5 </a:t>
            </a:r>
            <a:r>
              <a:rPr lang="zh-CN" altLang="en-US"/>
              <a:t>输出</a:t>
            </a:r>
            <a:r>
              <a:rPr lang="en-US" altLang="zh-CN"/>
              <a:t> 0</a:t>
            </a:r>
            <a:r>
              <a:rPr lang="zh-CN" altLang="en-US"/>
              <a:t>，大于</a:t>
            </a:r>
            <a:r>
              <a:rPr lang="en-US" altLang="zh-CN"/>
              <a:t> 0.5 </a:t>
            </a:r>
            <a:r>
              <a:rPr lang="zh-CN" altLang="en-US"/>
              <a:t>输出</a:t>
            </a:r>
            <a:r>
              <a:rPr lang="en-US" altLang="zh-CN"/>
              <a:t> 1</a:t>
            </a:r>
            <a:r>
              <a:rPr lang="zh-CN" altLang="en-US"/>
              <a:t>，中间区域线性插值。</a:t>
            </a:r>
          </a:p>
          <a:p>
            <a:r>
              <a:rPr lang="zh-CN" altLang="en-US"/>
              <a:t>这样的函数保留了</a:t>
            </a:r>
            <a:r>
              <a:rPr lang="en-US" altLang="zh-CN"/>
              <a:t> Sigmoid </a:t>
            </a:r>
            <a:r>
              <a:rPr lang="zh-CN" altLang="en-US"/>
              <a:t>的核心性质</a:t>
            </a:r>
            <a:r>
              <a:rPr lang="en-US" altLang="zh-CN"/>
              <a:t>——</a:t>
            </a:r>
            <a:r>
              <a:rPr lang="zh-CN" altLang="en-US"/>
              <a:t>输出被限制在</a:t>
            </a:r>
            <a:r>
              <a:rPr lang="en-US" altLang="zh-CN"/>
              <a:t> [0, 1]</a:t>
            </a:r>
            <a:r>
              <a:rPr lang="zh-CN" altLang="en-US"/>
              <a:t>，并且单调递增。</a:t>
            </a:r>
            <a:endParaRPr lang="en-US" altLang="zh-CN"/>
          </a:p>
          <a:p>
            <a:r>
              <a:rPr lang="zh-CN" altLang="en-US"/>
              <a:t>对于</a:t>
            </a:r>
            <a:r>
              <a:rPr lang="en-US" altLang="zh-CN"/>
              <a:t> Softmax</a:t>
            </a:r>
            <a:r>
              <a:rPr lang="zh-CN" altLang="en-US"/>
              <a:t>，作者采用</a:t>
            </a:r>
            <a:r>
              <a:rPr lang="en-US" altLang="zh-CN"/>
              <a:t> ReLU </a:t>
            </a:r>
            <a:r>
              <a:rPr lang="zh-CN" altLang="en-US"/>
              <a:t>加一次安全除法组合的方式。</a:t>
            </a:r>
          </a:p>
          <a:p>
            <a:r>
              <a:rPr lang="zh-CN" altLang="en-US"/>
              <a:t>这种方式既能保持分类效果，又显著降低了计算复杂度。</a:t>
            </a:r>
            <a:endParaRPr lang="en-US" altLang="zh-CN"/>
          </a:p>
          <a:p>
            <a:r>
              <a:rPr lang="zh-CN" altLang="en-US"/>
              <a:t>在</a:t>
            </a:r>
            <a:r>
              <a:rPr lang="en-US" altLang="zh-CN"/>
              <a:t> MNIST </a:t>
            </a:r>
            <a:r>
              <a:rPr lang="zh-CN" altLang="en-US"/>
              <a:t>实验中，</a:t>
            </a:r>
            <a:r>
              <a:rPr lang="en-US" altLang="zh-CN"/>
              <a:t>SecureML </a:t>
            </a:r>
            <a:r>
              <a:rPr lang="zh-CN" altLang="en-US"/>
              <a:t>的隐私神经网络达到</a:t>
            </a:r>
            <a:r>
              <a:rPr lang="en-US" altLang="zh-CN"/>
              <a:t> 93.4% </a:t>
            </a:r>
            <a:r>
              <a:rPr lang="zh-CN" altLang="en-US"/>
              <a:t>准确率，而明文训练是</a:t>
            </a:r>
            <a:r>
              <a:rPr lang="en-US" altLang="zh-CN"/>
              <a:t> 94.5%</a:t>
            </a:r>
            <a:r>
              <a:rPr lang="zh-CN" altLang="en-US"/>
              <a:t>。</a:t>
            </a:r>
          </a:p>
          <a:p>
            <a:r>
              <a:rPr lang="zh-CN" altLang="en-US"/>
              <a:t>精度几乎一致，但效率提升了几个数量级。</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第三个创新是</a:t>
            </a:r>
            <a:r>
              <a:rPr lang="zh-CN" altLang="en-US" b="1"/>
              <a:t>向量化协议</a:t>
            </a:r>
            <a:r>
              <a:rPr lang="zh-CN" altLang="en-US"/>
              <a:t>。</a:t>
            </a:r>
            <a:br>
              <a:rPr lang="zh-CN" altLang="en-US"/>
            </a:br>
            <a:r>
              <a:rPr lang="zh-CN" altLang="en-US"/>
              <a:t>在以往方案中，生成安全乘法三元组时，需要为每一个乘法单独生成掩码，代价巨大。</a:t>
            </a:r>
          </a:p>
          <a:p>
            <a:r>
              <a:rPr lang="en-US" altLang="zh-CN"/>
              <a:t>SecureML </a:t>
            </a:r>
            <a:r>
              <a:rPr lang="zh-CN" altLang="en-US"/>
              <a:t>提出批量生成矩阵乘法三元组的方案。</a:t>
            </a:r>
            <a:br>
              <a:rPr lang="zh-CN" altLang="en-US"/>
            </a:br>
            <a:r>
              <a:rPr lang="zh-CN" altLang="en-US"/>
              <a:t>离线阶段一次性生成整块随机矩阵，用于后续所有计算；</a:t>
            </a:r>
            <a:br>
              <a:rPr lang="zh-CN" altLang="en-US"/>
            </a:br>
            <a:r>
              <a:rPr lang="zh-CN" altLang="en-US"/>
              <a:t>在线阶段直接进行矩阵乘法而非标量乘法，并使用 </a:t>
            </a:r>
            <a:r>
              <a:rPr lang="en-US" altLang="zh-CN"/>
              <a:t>Eigen </a:t>
            </a:r>
            <a:r>
              <a:rPr lang="zh-CN" altLang="en-US"/>
              <a:t>并行库实现向量化。</a:t>
            </a:r>
          </a:p>
          <a:p>
            <a:r>
              <a:rPr lang="zh-CN" altLang="en-US"/>
              <a:t>结果是：</a:t>
            </a:r>
          </a:p>
          <a:p>
            <a:r>
              <a:rPr lang="zh-CN" altLang="en-US"/>
              <a:t>通信量减少约 </a:t>
            </a:r>
            <a:r>
              <a:rPr lang="en-US" altLang="zh-CN"/>
              <a:t>4 </a:t>
            </a:r>
            <a:r>
              <a:rPr lang="zh-CN" altLang="en-US"/>
              <a:t>倍，</a:t>
            </a:r>
          </a:p>
          <a:p>
            <a:r>
              <a:rPr lang="zh-CN" altLang="en-US"/>
              <a:t>离线阶段加速 </a:t>
            </a:r>
            <a:r>
              <a:rPr lang="en-US" altLang="zh-CN"/>
              <a:t>40–60 </a:t>
            </a:r>
            <a:r>
              <a:rPr lang="zh-CN" altLang="en-US"/>
              <a:t>倍，</a:t>
            </a:r>
          </a:p>
          <a:p>
            <a:r>
              <a:rPr lang="zh-CN" altLang="en-US"/>
              <a:t>在线阶段的计算量接近明文训练。</a:t>
            </a:r>
          </a:p>
          <a:p>
            <a:r>
              <a:rPr lang="zh-CN" altLang="en-US"/>
              <a:t>这三项创新共同使得 </a:t>
            </a:r>
            <a:r>
              <a:rPr lang="en-US" altLang="zh-CN"/>
              <a:t>SecureML </a:t>
            </a:r>
            <a:r>
              <a:rPr lang="zh-CN" altLang="en-US"/>
              <a:t>在性能与隐私之间取得了前所未有的平衡。</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接下来看实验部分：</a:t>
            </a:r>
            <a:endParaRPr lang="en-US" altLang="zh-CN"/>
          </a:p>
          <a:p>
            <a:r>
              <a:rPr lang="zh-CN" altLang="en-US"/>
              <a:t>作者在 </a:t>
            </a:r>
            <a:r>
              <a:rPr lang="en-US" altLang="zh-CN"/>
              <a:t>MNIST </a:t>
            </a:r>
            <a:r>
              <a:rPr lang="zh-CN" altLang="en-US"/>
              <a:t>和 </a:t>
            </a:r>
            <a:r>
              <a:rPr lang="en-US" altLang="zh-CN"/>
              <a:t>Arcene </a:t>
            </a:r>
            <a:r>
              <a:rPr lang="zh-CN" altLang="en-US"/>
              <a:t>数据集上进行了详尽实验：</a:t>
            </a:r>
            <a:endParaRPr lang="en-US" altLang="zh-CN"/>
          </a:p>
          <a:p>
            <a:r>
              <a:rPr lang="zh-CN" altLang="en-US"/>
              <a:t>右图是采用本地截断方法进行线性回归训练对比图，</a:t>
            </a:r>
            <a:endParaRPr lang="en-US" altLang="zh-CN"/>
          </a:p>
          <a:p>
            <a:r>
              <a:rPr lang="zh-CN" altLang="en-US"/>
              <a:t>保留两位小数精度，曲线出现了</a:t>
            </a:r>
            <a:r>
              <a:rPr lang="zh-CN" altLang="en-US" b="1"/>
              <a:t>剧烈的震荡</a:t>
            </a:r>
            <a:r>
              <a:rPr lang="zh-CN" altLang="en-US"/>
              <a:t>，准确率上下跳动，并且远远达不到应有的最高精度 。</a:t>
            </a:r>
            <a:endParaRPr lang="en-US" altLang="zh-CN"/>
          </a:p>
          <a:p>
            <a:r>
              <a:rPr lang="zh-CN" altLang="en-US"/>
              <a:t>这表明 </a:t>
            </a:r>
            <a:r>
              <a:rPr lang="en-US" altLang="zh-CN"/>
              <a:t>2 </a:t>
            </a:r>
            <a:r>
              <a:rPr lang="zh-CN" altLang="en-US"/>
              <a:t>位精度的误差过大，已经严重破坏了训练过程，导致模型无法收敛。</a:t>
            </a:r>
            <a:endParaRPr lang="en-US" altLang="zh-CN"/>
          </a:p>
          <a:p>
            <a:endParaRPr lang="en-US" altLang="zh-CN"/>
          </a:p>
          <a:p>
            <a:r>
              <a:rPr lang="zh-CN" altLang="en-US"/>
              <a:t>这条蓝色曲线与上面的绿色“明文训练”曲线</a:t>
            </a:r>
            <a:r>
              <a:rPr lang="zh-CN" altLang="en-US" b="1"/>
              <a:t>几乎完全重合</a:t>
            </a:r>
            <a:r>
              <a:rPr lang="zh-CN" altLang="en-US"/>
              <a:t> </a:t>
            </a:r>
            <a:endParaRPr lang="en-US" altLang="zh-CN"/>
          </a:p>
          <a:p>
            <a:r>
              <a:rPr lang="zh-CN" altLang="en-US"/>
              <a:t>本地截断”方案所引入的计算误差非常小，以至于</a:t>
            </a:r>
            <a:r>
              <a:rPr lang="zh-CN" altLang="en-US" b="1"/>
              <a:t>完全不影响</a:t>
            </a:r>
            <a:r>
              <a:rPr lang="zh-CN" altLang="en-US"/>
              <a:t>模型的训练过程和最终的准确率 。</a:t>
            </a:r>
            <a:endParaRPr lang="en-US" altLang="zh-CN"/>
          </a:p>
          <a:p>
            <a:endParaRPr lang="en-US" altLang="zh-CN"/>
          </a:p>
          <a:p>
            <a:r>
              <a:rPr lang="zh-CN" altLang="en-US"/>
              <a:t>只需要使用像“本地截断”这样的高效近似方法，并保留足够的精度（如 </a:t>
            </a:r>
            <a:r>
              <a:rPr lang="en-US" altLang="zh-CN"/>
              <a:t>13 </a:t>
            </a:r>
            <a:r>
              <a:rPr lang="zh-CN" altLang="en-US"/>
              <a:t>位），就能在几乎不损失任何模型精度的前提下</a:t>
            </a:r>
            <a:endParaRPr lang="en-US" altLang="zh-CN"/>
          </a:p>
          <a:p>
            <a:r>
              <a:rPr lang="zh-CN" altLang="en-US"/>
              <a:t>换来隐私计算性能的巨大提升。</a:t>
            </a:r>
            <a:endParaRPr lang="en-US" altLang="zh-CN"/>
          </a:p>
          <a:p>
            <a:endParaRPr lang="en-US" altLang="zh-CN"/>
          </a:p>
          <a:p>
            <a:r>
              <a:rPr lang="zh-CN" altLang="en-US"/>
              <a:t>可以看到，线性与逻辑回归几乎与明文训练一样快，神经网络也比之前的协议快上百倍。</a:t>
            </a:r>
          </a:p>
          <a:p>
            <a:r>
              <a:rPr lang="zh-CN" altLang="en-US"/>
              <a:t>此外，系统的通信量仅略高于明文数据传输。</a:t>
            </a:r>
          </a:p>
          <a:p>
            <a:r>
              <a:rPr lang="zh-CN" altLang="en-US"/>
              <a:t>例如，在</a:t>
            </a:r>
            <a:r>
              <a:rPr lang="en-US" altLang="zh-CN"/>
              <a:t> LAN </a:t>
            </a:r>
            <a:r>
              <a:rPr lang="zh-CN" altLang="en-US"/>
              <a:t>环境下，</a:t>
            </a:r>
            <a:r>
              <a:rPr lang="en-US" altLang="zh-CN"/>
              <a:t>SecureML </a:t>
            </a:r>
            <a:r>
              <a:rPr lang="zh-CN" altLang="en-US"/>
              <a:t>的线性回归训练只需几秒钟。</a:t>
            </a:r>
          </a:p>
          <a:p>
            <a:r>
              <a:rPr lang="zh-CN" altLang="en-US"/>
              <a:t>从可扩展性来看，随着样本数量增加，</a:t>
            </a:r>
            <a:r>
              <a:rPr lang="en-US" altLang="zh-CN"/>
              <a:t>SecureML </a:t>
            </a:r>
            <a:r>
              <a:rPr lang="zh-CN" altLang="en-US"/>
              <a:t>的训练时间呈线性增长，与明文趋势几乎一致。</a:t>
            </a:r>
          </a:p>
          <a:p>
            <a:r>
              <a:rPr lang="zh-CN" altLang="en-US"/>
              <a:t>这意味着该系统可以扩展到百万样本级别的数据集。</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可以看到，线性与逻辑回归几乎与明文训练一样快，神经网络也比之前的协议快上百倍。</a:t>
            </a:r>
          </a:p>
          <a:p>
            <a:r>
              <a:rPr lang="zh-CN" altLang="en-US"/>
              <a:t>此外，系统的通信量仅略高于明文数据传输。</a:t>
            </a:r>
          </a:p>
          <a:p>
            <a:r>
              <a:rPr lang="zh-CN" altLang="en-US"/>
              <a:t>例如，在</a:t>
            </a:r>
            <a:r>
              <a:rPr lang="en-US" altLang="zh-CN"/>
              <a:t> LAN </a:t>
            </a:r>
            <a:r>
              <a:rPr lang="zh-CN" altLang="en-US"/>
              <a:t>环境下，</a:t>
            </a:r>
            <a:r>
              <a:rPr lang="en-US" altLang="zh-CN"/>
              <a:t>SecureML </a:t>
            </a:r>
            <a:r>
              <a:rPr lang="zh-CN" altLang="en-US"/>
              <a:t>的线性回归训练只需几秒钟。</a:t>
            </a:r>
          </a:p>
          <a:p>
            <a:r>
              <a:rPr lang="zh-CN" altLang="en-US"/>
              <a:t>从可扩展性来看，随着样本数量增加，</a:t>
            </a:r>
            <a:r>
              <a:rPr lang="en-US" altLang="zh-CN"/>
              <a:t>SecureML </a:t>
            </a:r>
            <a:r>
              <a:rPr lang="zh-CN" altLang="en-US"/>
              <a:t>的训练时间呈线性增长，与明文趋势几乎一致。</a:t>
            </a:r>
          </a:p>
          <a:p>
            <a:r>
              <a:rPr lang="zh-CN" altLang="en-US"/>
              <a:t>这意味着该系统可以扩展到百万样本级别的数据集。</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46FC2-B13C-2264-539B-F080E157C1E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BD4DE4E-B7A2-33C3-128F-FBD150E1847A}"/>
              </a:ext>
            </a:extLst>
          </p:cNvPr>
          <p:cNvSpPr>
            <a:spLocks noGrp="1" noRot="1" noChangeAspect="1"/>
          </p:cNvSpPr>
          <p:nvPr>
            <p:ph type="sldImg" idx="2"/>
          </p:nvPr>
        </p:nvSpPr>
        <p:spPr/>
      </p:sp>
      <p:sp>
        <p:nvSpPr>
          <p:cNvPr id="3" name="文本占位符 2">
            <a:extLst>
              <a:ext uri="{FF2B5EF4-FFF2-40B4-BE49-F238E27FC236}">
                <a16:creationId xmlns:a16="http://schemas.microsoft.com/office/drawing/2014/main" id="{497CE2DD-EE9B-1243-0C27-81F1AD86E79B}"/>
              </a:ext>
            </a:extLst>
          </p:cNvPr>
          <p:cNvSpPr>
            <a:spLocks noGrp="1"/>
          </p:cNvSpPr>
          <p:nvPr>
            <p:ph type="body" idx="3"/>
          </p:nvPr>
        </p:nvSpPr>
        <p:spPr/>
        <p:txBody>
          <a:bodyPr/>
          <a:lstStyle/>
          <a:p>
            <a:r>
              <a:rPr lang="zh-CN" altLang="en-US"/>
              <a:t>当然，</a:t>
            </a:r>
            <a:r>
              <a:rPr lang="en-US" altLang="zh-CN"/>
              <a:t>SecureML </a:t>
            </a:r>
            <a:r>
              <a:rPr lang="zh-CN" altLang="en-US"/>
              <a:t>也有局限性。</a:t>
            </a:r>
          </a:p>
          <a:p>
            <a:r>
              <a:rPr lang="zh-CN" altLang="en-US"/>
              <a:t>首先，论文只测试了 </a:t>
            </a:r>
            <a:r>
              <a:rPr lang="en-US" altLang="zh-CN"/>
              <a:t>3 </a:t>
            </a:r>
            <a:r>
              <a:rPr lang="zh-CN" altLang="en-US"/>
              <a:t>层全连接网络 。它只支持线性、逻辑回归和浅层神经网络。对于深度模型，如 </a:t>
            </a:r>
            <a:r>
              <a:rPr lang="en-US" altLang="zh-CN"/>
              <a:t>ResNet </a:t>
            </a:r>
            <a:r>
              <a:rPr lang="zh-CN" altLang="en-US"/>
              <a:t>或 </a:t>
            </a:r>
            <a:r>
              <a:rPr lang="en-US" altLang="zh-CN"/>
              <a:t>Transformer</a:t>
            </a:r>
            <a:r>
              <a:rPr lang="zh-CN" altLang="en-US"/>
              <a:t>，开销仍然过大。</a:t>
            </a:r>
          </a:p>
          <a:p>
            <a:r>
              <a:rPr lang="zh-CN" altLang="en-US"/>
              <a:t>其次，它只在半诚实模型下安全，无法防御</a:t>
            </a:r>
            <a:r>
              <a:rPr lang="zh-CN" altLang="en-US" b="1"/>
              <a:t>恶意 </a:t>
            </a:r>
            <a:r>
              <a:rPr lang="en-US" altLang="zh-CN" b="1"/>
              <a:t>(Malicious)</a:t>
            </a:r>
            <a:r>
              <a:rPr lang="zh-CN" altLang="en-US"/>
              <a:t> 对手。恶意对手可以通过构造特殊输入或篡改协议，来破坏训练或窃取更多信息。。</a:t>
            </a:r>
          </a:p>
          <a:p>
            <a:r>
              <a:rPr lang="zh-CN" altLang="en-US"/>
              <a:t>第三，要求两台服务器绝对不串通，这是最强的假设。如果两台服务器部署在同一家云厂商，或者被同一个黑客攻破，隐私将荡然无存。这在现实环境中较难保证。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第四：虽然实验表明精度损失很小，但它毕竟是</a:t>
            </a:r>
            <a:r>
              <a:rPr lang="zh-CN" altLang="en-US" b="1"/>
              <a:t>近似</a:t>
            </a:r>
            <a:r>
              <a:rPr lang="zh-CN" altLang="en-US"/>
              <a:t>。在某些对精度极其敏感的任务上（如医疗诊断），这种近似是否可接受，还需要进一步论证。</a:t>
            </a:r>
          </a:p>
          <a:p>
            <a:r>
              <a:rPr lang="zh-CN" altLang="en-US"/>
              <a:t>这些限制为后续研究留下了改进空间。</a:t>
            </a:r>
          </a:p>
        </p:txBody>
      </p:sp>
    </p:spTree>
    <p:extLst>
      <p:ext uri="{BB962C8B-B14F-4D97-AF65-F5344CB8AC3E}">
        <p14:creationId xmlns:p14="http://schemas.microsoft.com/office/powerpoint/2010/main" val="116217901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B4D06A-007F-0A69-A8D9-67EC2A52D39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7E2E0CC-B48C-1775-D752-0EF340D4A3B1}"/>
              </a:ext>
            </a:extLst>
          </p:cNvPr>
          <p:cNvSpPr>
            <a:spLocks noGrp="1" noRot="1" noChangeAspect="1"/>
          </p:cNvSpPr>
          <p:nvPr>
            <p:ph type="sldImg" idx="2"/>
          </p:nvPr>
        </p:nvSpPr>
        <p:spPr/>
      </p:sp>
      <p:sp>
        <p:nvSpPr>
          <p:cNvPr id="3" name="文本占位符 2">
            <a:extLst>
              <a:ext uri="{FF2B5EF4-FFF2-40B4-BE49-F238E27FC236}">
                <a16:creationId xmlns:a16="http://schemas.microsoft.com/office/drawing/2014/main" id="{69CAE72B-FDC6-AFDD-D999-5161BE6E0A10}"/>
              </a:ext>
            </a:extLst>
          </p:cNvPr>
          <p:cNvSpPr>
            <a:spLocks noGrp="1"/>
          </p:cNvSpPr>
          <p:nvPr>
            <p:ph type="body" idx="3"/>
          </p:nvPr>
        </p:nvSpPr>
        <p:spPr/>
        <p:txBody>
          <a:bodyPr/>
          <a:lstStyle/>
          <a:p>
            <a:r>
              <a:rPr lang="en-US" altLang="zh-CN"/>
              <a:t>SecureML </a:t>
            </a:r>
            <a:r>
              <a:rPr lang="zh-CN" altLang="en-US"/>
              <a:t>之后，研究者沿着三个方向继续推进：</a:t>
            </a:r>
          </a:p>
          <a:p>
            <a:r>
              <a:rPr lang="zh-CN" altLang="en-US" b="1"/>
              <a:t>结合差分隐私 </a:t>
            </a:r>
            <a:r>
              <a:rPr lang="en-US" altLang="zh-CN" b="1"/>
              <a:t>(Differential Privacy)</a:t>
            </a:r>
            <a:r>
              <a:rPr lang="zh-CN" altLang="en-US"/>
              <a:t> </a:t>
            </a:r>
            <a:r>
              <a:rPr lang="en-US" altLang="zh-CN"/>
              <a:t>—— </a:t>
            </a:r>
            <a:r>
              <a:rPr lang="zh-CN" altLang="en-US"/>
              <a:t>在模型参数层面进一步防止数据反推；</a:t>
            </a:r>
          </a:p>
          <a:p>
            <a:r>
              <a:rPr lang="zh-CN" altLang="en-US" b="1"/>
              <a:t>融合可信执行环境 </a:t>
            </a:r>
            <a:r>
              <a:rPr lang="en-US" altLang="zh-CN" b="1"/>
              <a:t>(TEE)</a:t>
            </a:r>
            <a:r>
              <a:rPr lang="zh-CN" altLang="en-US"/>
              <a:t> </a:t>
            </a:r>
            <a:r>
              <a:rPr lang="en-US" altLang="zh-CN"/>
              <a:t>—— </a:t>
            </a:r>
            <a:r>
              <a:rPr lang="zh-CN" altLang="en-US"/>
              <a:t>利用 </a:t>
            </a:r>
            <a:r>
              <a:rPr lang="en-US" altLang="zh-CN"/>
              <a:t>Intel SGX </a:t>
            </a:r>
            <a:r>
              <a:rPr lang="zh-CN" altLang="en-US"/>
              <a:t>等硬件提升安全性与速度；</a:t>
            </a:r>
          </a:p>
          <a:p>
            <a:r>
              <a:rPr lang="zh-CN" altLang="en-US" b="1"/>
              <a:t>多方与分布式扩展</a:t>
            </a:r>
            <a:r>
              <a:rPr lang="zh-CN" altLang="en-US"/>
              <a:t> </a:t>
            </a:r>
            <a:r>
              <a:rPr lang="en-US" altLang="zh-CN"/>
              <a:t>—— </a:t>
            </a:r>
            <a:r>
              <a:rPr lang="zh-CN" altLang="en-US"/>
              <a:t>发展为 </a:t>
            </a:r>
            <a:r>
              <a:rPr lang="en-US" altLang="zh-CN"/>
              <a:t>SecureNN</a:t>
            </a:r>
            <a:r>
              <a:rPr lang="zh-CN" altLang="en-US"/>
              <a:t>、</a:t>
            </a:r>
            <a:r>
              <a:rPr lang="en-US" altLang="zh-CN"/>
              <a:t>CryptGPU</a:t>
            </a:r>
            <a:r>
              <a:rPr lang="zh-CN" altLang="en-US"/>
              <a:t>、</a:t>
            </a:r>
            <a:r>
              <a:rPr lang="en-US" altLang="zh-CN"/>
              <a:t>CrypTen </a:t>
            </a:r>
            <a:r>
              <a:rPr lang="zh-CN" altLang="en-US"/>
              <a:t>等更通用框架，实现真正的隐私深度学习。</a:t>
            </a:r>
          </a:p>
          <a:p>
            <a:r>
              <a:rPr lang="zh-CN" altLang="en-US"/>
              <a:t>在产业层面，这些思想已经渗透进</a:t>
            </a:r>
            <a:r>
              <a:rPr lang="zh-CN" altLang="en-US" b="1"/>
              <a:t>联邦学习</a:t>
            </a:r>
            <a:r>
              <a:rPr lang="zh-CN" altLang="en-US"/>
              <a:t>和</a:t>
            </a:r>
            <a:r>
              <a:rPr lang="zh-CN" altLang="en-US" b="1"/>
              <a:t>隐私计算平台</a:t>
            </a:r>
            <a:r>
              <a:rPr lang="zh-CN" altLang="en-US"/>
              <a:t>，例如腾讯 </a:t>
            </a:r>
            <a:r>
              <a:rPr lang="en-US" altLang="zh-CN"/>
              <a:t>Federated AI</a:t>
            </a:r>
            <a:r>
              <a:rPr lang="zh-CN" altLang="en-US"/>
              <a:t>、阿里隐语等系统。</a:t>
            </a:r>
            <a:br>
              <a:rPr lang="zh-CN" altLang="en-US"/>
            </a:br>
            <a:r>
              <a:rPr lang="zh-CN" altLang="en-US"/>
              <a:t>可以说，</a:t>
            </a:r>
            <a:r>
              <a:rPr lang="en-US" altLang="zh-CN"/>
              <a:t>SecureML </a:t>
            </a:r>
            <a:r>
              <a:rPr lang="zh-CN" altLang="en-US"/>
              <a:t>不仅是一篇学术论文，更是整个隐私机器学习生态的起点。</a:t>
            </a:r>
          </a:p>
        </p:txBody>
      </p:sp>
    </p:spTree>
    <p:extLst>
      <p:ext uri="{BB962C8B-B14F-4D97-AF65-F5344CB8AC3E}">
        <p14:creationId xmlns:p14="http://schemas.microsoft.com/office/powerpoint/2010/main" val="157154491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sym typeface="+mn-ea"/>
              </a:rPr>
              <a:t>在深入论文之前，我们先简单了解一下作者团队。这项工作主要由澳大利亚南昆士兰大学的研究人员完成，第一作者是</a:t>
            </a:r>
            <a:r>
              <a:rPr lang="en-US" altLang="zh-CN">
                <a:sym typeface="+mn-ea"/>
              </a:rPr>
              <a:t>Thanveer Shaik</a:t>
            </a:r>
            <a:r>
              <a:rPr lang="zh-CN" altLang="en-US">
                <a:sym typeface="+mn-ea"/>
              </a:rPr>
              <a:t>。合作者阵容也很强大，包括来自武汉理工大学、香港岭南大学、电子科技大学以及香港理工大学的多位知名教授。特别值得一提的是李青教授和谢浩然教授。李青教授是</a:t>
            </a:r>
            <a:r>
              <a:rPr lang="en-US" altLang="zh-CN">
                <a:sym typeface="+mn-ea"/>
              </a:rPr>
              <a:t>IEEE Fellow</a:t>
            </a:r>
            <a:r>
              <a:rPr lang="zh-CN" altLang="en-US">
                <a:sym typeface="+mn-ea"/>
              </a:rPr>
              <a:t>，也是香港理工大学计算学系的系主任，在大数据和人工智能领域是权威专家。谢浩然教授也非常厉害，他是</a:t>
            </a:r>
            <a:r>
              <a:rPr lang="en-US" altLang="zh-CN">
                <a:sym typeface="+mn-ea"/>
              </a:rPr>
              <a:t>IEEE</a:t>
            </a:r>
            <a:r>
              <a:rPr lang="zh-CN" altLang="en-US">
                <a:sym typeface="+mn-ea"/>
              </a:rPr>
              <a:t>高级会员，香港岭南大学相关学系的系主任，还被斯坦福大学评选为全球前</a:t>
            </a:r>
            <a:r>
              <a:rPr lang="en-US" altLang="zh-CN">
                <a:sym typeface="+mn-ea"/>
              </a:rPr>
              <a:t>2%</a:t>
            </a:r>
            <a:r>
              <a:rPr lang="zh-CN" altLang="en-US">
                <a:sym typeface="+mn-ea"/>
              </a:rPr>
              <a:t>的顶尖科学家。有这样资深的团队背景，也说明了这项研究的水平和潜力。</a:t>
            </a:r>
            <a:endParaRPr lang="zh-CN" altLang="en-US"/>
          </a:p>
          <a:p>
            <a:endParaRPr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在深入论文之前，我们先简单了解一下作者团队。这项工作主要由澳大利亚南昆士兰大学的研究人员完成，第一作者是</a:t>
            </a:r>
            <a:r>
              <a:rPr lang="en-US" altLang="zh-CN"/>
              <a:t>Thanveer Shaik</a:t>
            </a:r>
            <a:r>
              <a:rPr lang="zh-CN" altLang="en-US"/>
              <a:t>。合作者阵容也很强大，包括来自武汉理工大学、香港岭南大学、电子科技大学以及香港理工大学的多位知名教授。特别值得一提的是李青教授和谢浩然教授。李青教授是</a:t>
            </a:r>
            <a:r>
              <a:rPr lang="en-US" altLang="zh-CN"/>
              <a:t>IEEE Fellow</a:t>
            </a:r>
            <a:r>
              <a:rPr lang="zh-CN" altLang="en-US"/>
              <a:t>，也是香港理工大学计算学系的系主任，在大数据和人工智能领域是权威专家。谢浩然教授也非常厉害，他是</a:t>
            </a:r>
            <a:r>
              <a:rPr lang="en-US" altLang="zh-CN"/>
              <a:t>IEEE</a:t>
            </a:r>
            <a:r>
              <a:rPr lang="zh-CN" altLang="en-US"/>
              <a:t>高级会员，香港岭南大学相关学系的系主任，还被斯坦福大学评选为全球前</a:t>
            </a:r>
            <a:r>
              <a:rPr lang="en-US" altLang="zh-CN"/>
              <a:t>2%</a:t>
            </a:r>
            <a:r>
              <a:rPr lang="zh-CN" altLang="en-US"/>
              <a:t>的顶尖科学家。有这样资深的团队背景，也说明了这项研究的水平和潜力。</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我们先来聊聊</a:t>
            </a:r>
            <a:r>
              <a:rPr lang="en-US" altLang="zh-CN"/>
              <a:t>“</a:t>
            </a:r>
            <a:r>
              <a:rPr lang="zh-CN" altLang="en-US"/>
              <a:t>机器遗忘</a:t>
            </a:r>
            <a:r>
              <a:rPr lang="en-US" altLang="zh-CN"/>
              <a:t>”</a:t>
            </a:r>
            <a:r>
              <a:rPr lang="zh-CN" altLang="en-US"/>
              <a:t>到底是个啥。大家现在都用各种</a:t>
            </a:r>
            <a:r>
              <a:rPr lang="en-US" altLang="zh-CN"/>
              <a:t>APP</a:t>
            </a:r>
            <a:r>
              <a:rPr lang="zh-CN" altLang="en-US"/>
              <a:t>，会产生很多数据。根据像欧盟</a:t>
            </a:r>
            <a:r>
              <a:rPr lang="en-US" altLang="zh-CN"/>
              <a:t>GDPR</a:t>
            </a:r>
            <a:r>
              <a:rPr lang="zh-CN" altLang="en-US"/>
              <a:t>这样的法规，我们是有权利要求公司删除我们的个人数据的，这就是所谓的</a:t>
            </a:r>
            <a:r>
              <a:rPr lang="en-US" altLang="zh-CN"/>
              <a:t>“</a:t>
            </a:r>
            <a:r>
              <a:rPr lang="zh-CN" altLang="en-US"/>
              <a:t>被遗忘权</a:t>
            </a:r>
            <a:r>
              <a:rPr lang="en-US" altLang="zh-CN"/>
              <a:t>”</a:t>
            </a:r>
            <a:r>
              <a:rPr lang="zh-CN" altLang="en-US"/>
              <a:t>。但问题来了，如果你的数据已经被用来训练了一个</a:t>
            </a:r>
            <a:r>
              <a:rPr lang="en-US" altLang="zh-CN"/>
              <a:t>AI</a:t>
            </a:r>
            <a:r>
              <a:rPr lang="zh-CN" altLang="en-US"/>
              <a:t>模型，比如购物网站的推荐系统，那模型可能已经</a:t>
            </a:r>
            <a:r>
              <a:rPr lang="en-US" altLang="zh-CN"/>
              <a:t>“</a:t>
            </a:r>
            <a:r>
              <a:rPr lang="zh-CN" altLang="en-US"/>
              <a:t>记住</a:t>
            </a:r>
            <a:r>
              <a:rPr lang="en-US" altLang="zh-CN"/>
              <a:t>”</a:t>
            </a:r>
            <a:r>
              <a:rPr lang="zh-CN" altLang="en-US"/>
              <a:t>了你的购物习惯。这时候，即使公司把你的原始数据删了，模型里可能还留有你的</a:t>
            </a:r>
            <a:r>
              <a:rPr lang="en-US" altLang="zh-CN"/>
              <a:t>“</a:t>
            </a:r>
            <a:r>
              <a:rPr lang="zh-CN" altLang="en-US"/>
              <a:t>印记</a:t>
            </a:r>
            <a:r>
              <a:rPr lang="en-US" altLang="zh-CN"/>
              <a:t>”</a:t>
            </a:r>
            <a:r>
              <a:rPr lang="zh-CN" altLang="en-US"/>
              <a:t>。</a:t>
            </a:r>
            <a:endParaRPr lang="en-US" altLang="zh-CN"/>
          </a:p>
          <a:p>
            <a:r>
              <a:rPr lang="zh-CN" altLang="en-US"/>
              <a:t>那怎么办呢？最直接、最笨的办法就是：把你的数据从训练库里删掉，然后把整个推荐模型从头到尾重新训练一遍。这个方法肯定能</a:t>
            </a:r>
            <a:r>
              <a:rPr lang="en-US" altLang="zh-CN"/>
              <a:t>“</a:t>
            </a:r>
            <a:r>
              <a:rPr lang="zh-CN" altLang="en-US"/>
              <a:t>忘记</a:t>
            </a:r>
            <a:r>
              <a:rPr lang="en-US" altLang="zh-CN"/>
              <a:t>”</a:t>
            </a:r>
            <a:r>
              <a:rPr lang="zh-CN" altLang="en-US"/>
              <a:t>你，但你想想，现在训练一个大模型可能要花很多钱、很多时间，为了删除一个人的数据就这样搞一次，代价太大了！</a:t>
            </a:r>
            <a:endParaRPr lang="en-US" altLang="zh-CN"/>
          </a:p>
          <a:p>
            <a:r>
              <a:rPr lang="zh-CN" altLang="en-US"/>
              <a:t>所以，</a:t>
            </a:r>
            <a:r>
              <a:rPr lang="en-US" altLang="zh-CN"/>
              <a:t>“</a:t>
            </a:r>
            <a:r>
              <a:rPr lang="zh-CN" altLang="en-US"/>
              <a:t>机器遗忘</a:t>
            </a:r>
            <a:r>
              <a:rPr lang="en-US" altLang="zh-CN"/>
              <a:t>”</a:t>
            </a:r>
            <a:r>
              <a:rPr lang="zh-CN" altLang="en-US"/>
              <a:t>技术就应运而生了。它的目标就是找到一种更聪明、更高效的方法，能够直接在已经训练好的模型上操作，把某个特定数据点（比如你的某条购物记录）的影响给消除掉。理想的效果是，操作完之后，这个模型的状态就跟当初从来没有用这条数据训练过一样。同时，这个</a:t>
            </a:r>
            <a:r>
              <a:rPr lang="en-US" altLang="zh-CN"/>
              <a:t>“</a:t>
            </a:r>
            <a:r>
              <a:rPr lang="zh-CN" altLang="en-US"/>
              <a:t>忘记</a:t>
            </a:r>
            <a:r>
              <a:rPr lang="en-US" altLang="zh-CN"/>
              <a:t>”</a:t>
            </a:r>
            <a:r>
              <a:rPr lang="zh-CN" altLang="en-US"/>
              <a:t>的过程还不能把模型搞坏了，它对其他正常数据的判断能力还得保持住。</a:t>
            </a:r>
            <a:endParaRPr lang="en-US" altLang="zh-CN"/>
          </a:p>
          <a:p>
            <a:r>
              <a:rPr lang="zh-CN" altLang="en-US"/>
              <a:t>这种技术用处很大，比如用户注销账号了，我们就需要让模型忘记他</a:t>
            </a:r>
            <a:r>
              <a:rPr lang="en-US" altLang="zh-CN"/>
              <a:t>/</a:t>
            </a:r>
            <a:r>
              <a:rPr lang="zh-CN" altLang="en-US"/>
              <a:t>她的所有数据；用户撤回了之前同意使用的某张照片，模型就需要忘记这张照片；发现训练数据里有些是标错的，也需要模型忘记这些错误信息；或者某些信息已经过时了，比如去年的新闻对现在预测可能没用了，也需要模型忘记。论文里还提到了一个真实的案例，就是谷歌被要求删除某个西班牙人多年前债务相关的搜索结果，这也体现了</a:t>
            </a:r>
            <a:r>
              <a:rPr lang="en-US" altLang="zh-CN"/>
              <a:t>“</a:t>
            </a:r>
            <a:r>
              <a:rPr lang="zh-CN" altLang="en-US"/>
              <a:t>遗忘</a:t>
            </a:r>
            <a:r>
              <a:rPr lang="en-US" altLang="zh-CN"/>
              <a:t>”</a:t>
            </a:r>
            <a:r>
              <a:rPr lang="zh-CN" altLang="en-US"/>
              <a:t>的必要性。</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不过，要做好机器遗忘并不容易，尤其是在</a:t>
            </a:r>
            <a:r>
              <a:rPr lang="en-US" altLang="zh-CN"/>
              <a:t>“</a:t>
            </a:r>
            <a:r>
              <a:rPr lang="zh-CN" altLang="en-US"/>
              <a:t>联邦学习</a:t>
            </a:r>
            <a:r>
              <a:rPr lang="en-US" altLang="zh-CN"/>
              <a:t>”</a:t>
            </a:r>
            <a:r>
              <a:rPr lang="zh-CN" altLang="en-US"/>
              <a:t>这种多个设备一起参与训练的场景下。挑战主要有几个方面：</a:t>
            </a:r>
          </a:p>
          <a:p>
            <a:r>
              <a:rPr lang="zh-CN" altLang="en-US"/>
              <a:t>首先，数据的类型很复杂。有时我们只需要处理一种类型的数据，比如都是温度传感器读数（单模态）；但很多时候是混合数据，比如医院的电子病历里有</a:t>
            </a:r>
            <a:r>
              <a:rPr lang="en-US" altLang="zh-CN"/>
              <a:t>CT</a:t>
            </a:r>
            <a:r>
              <a:rPr lang="zh-CN" altLang="en-US"/>
              <a:t>图片、医生的文字诊断、还有各种化验数值（多模态）。要让模型忘记其中一部分混合数据，比只处理单一类型数据要难得多。</a:t>
            </a:r>
          </a:p>
          <a:p>
            <a:r>
              <a:rPr lang="zh-CN" altLang="en-US"/>
              <a:t>其次，联邦学习的环境是动态变化的。每个参与者（比如每部手机）的数据可能随时更新，而且大家的数据内容、多少、质量都可能很不一样（这就是所谓的</a:t>
            </a:r>
            <a:r>
              <a:rPr lang="en-US" altLang="zh-CN"/>
              <a:t>Non-IID</a:t>
            </a:r>
            <a:r>
              <a:rPr lang="zh-CN" altLang="en-US"/>
              <a:t>，非独立同分布）。模型需要不断适应这种变化，同时还要能准确地</a:t>
            </a:r>
            <a:r>
              <a:rPr lang="en-US" altLang="zh-CN"/>
              <a:t>“</a:t>
            </a:r>
            <a:r>
              <a:rPr lang="zh-CN" altLang="en-US"/>
              <a:t>忘记</a:t>
            </a:r>
            <a:r>
              <a:rPr lang="en-US" altLang="zh-CN"/>
              <a:t>”</a:t>
            </a:r>
            <a:r>
              <a:rPr lang="zh-CN" altLang="en-US"/>
              <a:t>该忘记的东西。</a:t>
            </a:r>
          </a:p>
          <a:p>
            <a:r>
              <a:rPr lang="zh-CN" altLang="en-US"/>
              <a:t>最核心的挑战在于权衡。我们希望</a:t>
            </a:r>
            <a:r>
              <a:rPr lang="en-US" altLang="zh-CN"/>
              <a:t>“</a:t>
            </a:r>
            <a:r>
              <a:rPr lang="zh-CN" altLang="en-US"/>
              <a:t>忘记</a:t>
            </a:r>
            <a:r>
              <a:rPr lang="en-US" altLang="zh-CN"/>
              <a:t>”</a:t>
            </a:r>
            <a:r>
              <a:rPr lang="zh-CN" altLang="en-US"/>
              <a:t>的过程越快越好（效率），忘记之后模型对其他数据的判断能力不能下降太多（性能），同时这个过程本身以及模型最终的状态也要能保护好隐私。这三者往往很难同时达到最优。</a:t>
            </a:r>
          </a:p>
          <a:p>
            <a:r>
              <a:rPr lang="zh-CN" altLang="en-US"/>
              <a:t>看看现有的方法：有些联邦学习结合了差分隐私（</a:t>
            </a:r>
            <a:r>
              <a:rPr lang="en-US" altLang="zh-CN"/>
              <a:t>FL+DP</a:t>
            </a:r>
            <a:r>
              <a:rPr lang="zh-CN" altLang="en-US"/>
              <a:t>），在训练时就加入噪音保护隐私，但它们主要关注的是训练过程本身的安全，不太擅长处理</a:t>
            </a:r>
            <a:r>
              <a:rPr lang="en-US" altLang="zh-CN"/>
              <a:t>“</a:t>
            </a:r>
            <a:r>
              <a:rPr lang="zh-CN" altLang="en-US"/>
              <a:t>训练完了之后，突然要忘记某一部分</a:t>
            </a:r>
            <a:r>
              <a:rPr lang="en-US" altLang="zh-CN"/>
              <a:t>”</a:t>
            </a:r>
            <a:r>
              <a:rPr lang="zh-CN" altLang="en-US"/>
              <a:t>的需求。有些方法专门研究怎么快速</a:t>
            </a:r>
            <a:r>
              <a:rPr lang="en-US" altLang="zh-CN"/>
              <a:t>“</a:t>
            </a:r>
            <a:r>
              <a:rPr lang="zh-CN" altLang="en-US"/>
              <a:t>忘记</a:t>
            </a:r>
            <a:r>
              <a:rPr lang="en-US" altLang="zh-CN"/>
              <a:t>”</a:t>
            </a:r>
            <a:r>
              <a:rPr lang="zh-CN" altLang="en-US"/>
              <a:t>（比如</a:t>
            </a:r>
            <a:r>
              <a:rPr lang="en-US" altLang="zh-CN"/>
              <a:t>SISA</a:t>
            </a:r>
            <a:r>
              <a:rPr lang="zh-CN" altLang="en-US"/>
              <a:t>），但它们可能没怎么考虑隐私保护的问题。还有强化学习（</a:t>
            </a:r>
            <a:r>
              <a:rPr lang="en-US" altLang="zh-CN"/>
              <a:t>RL</a:t>
            </a:r>
            <a:r>
              <a:rPr lang="zh-CN" altLang="en-US"/>
              <a:t>），它能让模型像人一样在不断变化的环境中学习和适应，但它好像天生不太会</a:t>
            </a:r>
            <a:r>
              <a:rPr lang="en-US" altLang="zh-CN"/>
              <a:t>“</a:t>
            </a:r>
            <a:r>
              <a:rPr lang="zh-CN" altLang="en-US"/>
              <a:t>忘记</a:t>
            </a:r>
            <a:r>
              <a:rPr lang="en-US" altLang="zh-CN"/>
              <a:t>”</a:t>
            </a:r>
            <a:r>
              <a:rPr lang="zh-CN" altLang="en-US"/>
              <a:t>东西，尤其是怎么把过时的、没用的信息忘掉。</a:t>
            </a:r>
          </a:p>
          <a:p>
            <a:r>
              <a:rPr lang="zh-CN" altLang="en-US"/>
              <a:t>所以，现在就缺少一个统一的框架，能够把这些事情</a:t>
            </a:r>
            <a:r>
              <a:rPr lang="en-US" altLang="zh-CN"/>
              <a:t>——</a:t>
            </a:r>
            <a:r>
              <a:rPr lang="zh-CN" altLang="en-US"/>
              <a:t>适应动态变化、通过遗忘保护隐私、高效地选择性忘记</a:t>
            </a:r>
            <a:r>
              <a:rPr lang="en-US" altLang="zh-CN"/>
              <a:t>——</a:t>
            </a:r>
            <a:r>
              <a:rPr lang="zh-CN" altLang="en-US"/>
              <a:t>都整合起来，特别是在联邦学习这种分布式环境下。这也就是这篇论文想要填补的空白。</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针对这些挑战，作者提出了 </a:t>
            </a:r>
            <a:r>
              <a:rPr lang="en-US" altLang="zh-CN"/>
              <a:t>FRAMU </a:t>
            </a:r>
            <a:r>
              <a:rPr lang="zh-CN" altLang="en-US"/>
              <a:t>框架。首先来解析一下他的名字，其中每个字母都代表一项关键技术：</a:t>
            </a:r>
            <a:r>
              <a:rPr lang="en-US" altLang="zh-CN"/>
              <a:t>F</a:t>
            </a:r>
            <a:r>
              <a:rPr lang="zh-CN" altLang="en-US"/>
              <a:t>代表联邦学习（</a:t>
            </a:r>
            <a:r>
              <a:rPr lang="en-US" altLang="zh-CN"/>
              <a:t>Federated</a:t>
            </a:r>
            <a:r>
              <a:rPr lang="zh-CN" altLang="en-US"/>
              <a:t>），</a:t>
            </a:r>
            <a:r>
              <a:rPr lang="en-US" altLang="zh-CN"/>
              <a:t>R</a:t>
            </a:r>
            <a:r>
              <a:rPr lang="zh-CN" altLang="en-US"/>
              <a:t>代表强化学习（</a:t>
            </a:r>
            <a:r>
              <a:rPr lang="en-US" altLang="zh-CN"/>
              <a:t>Reinforcement Learning</a:t>
            </a:r>
            <a:r>
              <a:rPr lang="zh-CN" altLang="en-US"/>
              <a:t>），</a:t>
            </a:r>
            <a:r>
              <a:rPr lang="en-US" altLang="zh-CN"/>
              <a:t>A</a:t>
            </a:r>
            <a:r>
              <a:rPr lang="zh-CN" altLang="en-US"/>
              <a:t>代表注意力机制（</a:t>
            </a:r>
            <a:r>
              <a:rPr lang="en-US" altLang="zh-CN"/>
              <a:t>Attention</a:t>
            </a:r>
            <a:r>
              <a:rPr lang="zh-CN" altLang="en-US"/>
              <a:t>），</a:t>
            </a:r>
            <a:r>
              <a:rPr lang="en-US" altLang="zh-CN"/>
              <a:t>MU</a:t>
            </a:r>
            <a:r>
              <a:rPr lang="zh-CN" altLang="en-US"/>
              <a:t>代表机器遗忘（</a:t>
            </a:r>
            <a:r>
              <a:rPr lang="en-US" altLang="zh-CN"/>
              <a:t>Machine Unlearning</a:t>
            </a:r>
            <a:r>
              <a:rPr lang="zh-CN" altLang="en-US"/>
              <a:t>）。</a:t>
            </a:r>
          </a:p>
          <a:p>
            <a:r>
              <a:rPr lang="zh-CN" altLang="en-US"/>
              <a:t>它的整体思路是这样的： 底层架构仍然是</a:t>
            </a:r>
            <a:r>
              <a:rPr lang="zh-CN" altLang="en-US" b="1"/>
              <a:t>联邦学习</a:t>
            </a:r>
            <a:r>
              <a:rPr lang="zh-CN" altLang="en-US"/>
              <a:t>，有很多本地客户端（比如手机、传感器节点）和一个中心服务器。 每个客户端不再是简单地训练模型，而是像一个</a:t>
            </a:r>
            <a:r>
              <a:rPr lang="zh-CN" altLang="en-US" b="1"/>
              <a:t>强化学习</a:t>
            </a:r>
            <a:r>
              <a:rPr lang="zh-CN" altLang="en-US"/>
              <a:t>里的智能体（</a:t>
            </a:r>
            <a:r>
              <a:rPr lang="en-US" altLang="zh-CN"/>
              <a:t>Agent</a:t>
            </a:r>
            <a:r>
              <a:rPr lang="zh-CN" altLang="en-US"/>
              <a:t>），它会根据环境的反馈（奖励或惩罚）来不断调整自己的行为（模型）。 最关键的创新在于引入了</a:t>
            </a:r>
            <a:r>
              <a:rPr lang="zh-CN" altLang="en-US" b="1"/>
              <a:t>注意力机制</a:t>
            </a:r>
            <a:r>
              <a:rPr lang="zh-CN" altLang="en-US"/>
              <a:t>。</a:t>
            </a:r>
          </a:p>
          <a:p>
            <a:r>
              <a:rPr lang="zh-CN" altLang="en-US"/>
              <a:t>首先系统从动态变化的环境中获取数据。这些数据可能是单一类型</a:t>
            </a:r>
            <a:r>
              <a:rPr lang="en-US" altLang="zh-CN"/>
              <a:t> </a:t>
            </a:r>
            <a:r>
              <a:rPr lang="zh-CN" altLang="en-US"/>
              <a:t>，比如只有文本数据；也可能是多种类型混合，比如同时有图像</a:t>
            </a:r>
            <a:r>
              <a:rPr lang="en-US" altLang="zh-CN"/>
              <a:t> (Images) </a:t>
            </a:r>
            <a:r>
              <a:rPr lang="zh-CN" altLang="en-US"/>
              <a:t>和传感器数据</a:t>
            </a:r>
            <a:r>
              <a:rPr lang="en-US" altLang="zh-CN"/>
              <a:t> (Sensor data)</a:t>
            </a:r>
            <a:r>
              <a:rPr lang="zh-CN" altLang="en-US"/>
              <a:t>。</a:t>
            </a:r>
          </a:p>
          <a:p>
            <a:r>
              <a:rPr lang="zh-CN" altLang="en-US"/>
              <a:t>客户端接收到处理过的数据后，会被存储在一个经验回放池</a:t>
            </a:r>
            <a:r>
              <a:rPr lang="en-US" altLang="zh-CN"/>
              <a:t>,</a:t>
            </a:r>
            <a:r>
              <a:rPr lang="zh-CN" altLang="en-US"/>
              <a:t>训练时会从中抽取小批量数据，会利用强化学习的</a:t>
            </a:r>
            <a:r>
              <a:rPr lang="en-US" altLang="zh-CN"/>
              <a:t>DQN</a:t>
            </a:r>
            <a:r>
              <a:rPr lang="zh-CN" altLang="en-US"/>
              <a:t>方法进行学习，进而在注意力层计算出每条数据或每个特征的注意力分数。这个分数代表了当前模型认为这条数据有多重要、多相关。</a:t>
            </a:r>
          </a:p>
          <a:p>
            <a:r>
              <a:rPr lang="zh-CN" altLang="en-US"/>
              <a:t>在注意力分数估计的过程中，本地客户端的模型实际上也在不断地根据强化学习的反馈进行更新和重训练。本地客户端完成一轮学习和注意力分数计算后，会将自己的模型权重</a:t>
            </a:r>
            <a:r>
              <a:rPr lang="en-US" altLang="zh-CN"/>
              <a:t> </a:t>
            </a:r>
            <a:r>
              <a:rPr lang="zh-CN" altLang="en-US"/>
              <a:t>和计算出的注意力分数</a:t>
            </a:r>
            <a:r>
              <a:rPr lang="en-US" altLang="zh-CN"/>
              <a:t> </a:t>
            </a:r>
            <a:r>
              <a:rPr lang="zh-CN" altLang="en-US"/>
              <a:t>一起上传给中心服务器</a:t>
            </a:r>
            <a:r>
              <a:rPr lang="en-US" altLang="zh-CN"/>
              <a:t> (Global Model)</a:t>
            </a:r>
            <a:r>
              <a:rPr lang="zh-CN" altLang="en-US"/>
              <a:t>。</a:t>
            </a:r>
          </a:p>
          <a:p>
            <a:r>
              <a:rPr lang="zh-CN" altLang="en-US"/>
              <a:t>服务器首先会聚合这些模型权重（比如使用</a:t>
            </a:r>
            <a:r>
              <a:rPr lang="en-US" altLang="zh-CN"/>
              <a:t> FedAvg </a:t>
            </a:r>
            <a:r>
              <a:rPr lang="zh-CN" altLang="en-US"/>
              <a:t>算法）来更新全局模型。同时会分析收到的注意力分数。如果发现某些数据（或特征）在多个客户端那里得到的平均注意力分数都很低，服务器就会认为这些数据是需要被遗忘的，于是，在聚合模型权重或更新全局模型时，服务器会降低这些低分数据对应更新的影响力，甚至完全忽略它们。</a:t>
            </a:r>
          </a:p>
          <a:p>
            <a:r>
              <a:rPr lang="zh-CN" altLang="en-US"/>
              <a:t> 最后，服务器再把这个更新过的、已经执行了部分遗忘数据的的全局模型发回给各个客户端，大家继续下一轮的学习和遗忘。这是一个持续进行、不断适应的过程。</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那么，这个注意力机制具体是怎么运作的呢？核心就是那个“注意力分数” 。在每个客户端本地，这个分数的计算和更新是跟强化学习过程结合在一起的。强化学习中有一个重要的概念叫 </a:t>
            </a:r>
            <a:r>
              <a:rPr lang="en-US" altLang="zh-CN"/>
              <a:t>TD-error</a:t>
            </a:r>
            <a:r>
              <a:rPr lang="zh-CN" altLang="en-US"/>
              <a:t>（时间差分误差），简单理解就是模型这次预测的“惊讶程度”或者说“犯错程度”。如果模型对一条数据预测得很准，</a:t>
            </a:r>
            <a:r>
              <a:rPr lang="en-US" altLang="zh-CN"/>
              <a:t>TD-error</a:t>
            </a:r>
            <a:r>
              <a:rPr lang="zh-CN" altLang="en-US"/>
              <a:t>就很小；如果预测错了，或者错得很离谱，</a:t>
            </a:r>
            <a:r>
              <a:rPr lang="en-US" altLang="zh-CN"/>
              <a:t>TD-error</a:t>
            </a:r>
            <a:r>
              <a:rPr lang="zh-CN" altLang="en-US"/>
              <a:t>就很大。大家可以理解为机器学习中的损失函数。</a:t>
            </a:r>
          </a:p>
          <a:p>
            <a:r>
              <a:rPr lang="en-US" altLang="zh-CN"/>
              <a:t>FRAMU</a:t>
            </a:r>
            <a:r>
              <a:rPr lang="zh-CN" altLang="en-US"/>
              <a:t>就利用了这个 </a:t>
            </a:r>
            <a:r>
              <a:rPr lang="en-US" altLang="zh-CN"/>
              <a:t>TD-error</a:t>
            </a:r>
            <a:r>
              <a:rPr lang="zh-CN" altLang="en-US"/>
              <a:t>。如公式</a:t>
            </a:r>
            <a:r>
              <a:rPr lang="en-US" altLang="zh-CN"/>
              <a:t>(13)</a:t>
            </a:r>
            <a:r>
              <a:rPr lang="zh-CN" altLang="en-US"/>
              <a:t>所示，它大致的意思是：如果一条数据让模型很“吃惊”（ 大），说明这条数据可能包含了一些模型没学好的、或者是新的、重要的信息，那么它的注意力分数 就应该</a:t>
            </a:r>
            <a:r>
              <a:rPr lang="zh-CN" altLang="en-US" b="1"/>
              <a:t>提高</a:t>
            </a:r>
            <a:r>
              <a:rPr lang="zh-CN" altLang="en-US"/>
              <a:t>；反过来，如果模型对这条数据已经“习以为常”了（ 小），说明模型已经充分学习了它，或者这条数据本身就是重复的、无关紧要的，那么它的分数就可能</a:t>
            </a:r>
            <a:r>
              <a:rPr lang="zh-CN" altLang="en-US" b="1"/>
              <a:t>不变或者在后续机制中逐渐降低</a:t>
            </a:r>
            <a:r>
              <a:rPr lang="zh-CN" altLang="en-US"/>
              <a:t>。</a:t>
            </a:r>
          </a:p>
          <a:p>
            <a:endParaRPr lang="zh-CN" altLang="en-US"/>
          </a:p>
          <a:p>
            <a:r>
              <a:rPr lang="zh-CN" altLang="en-US"/>
              <a:t>客户端就这样不断地根据学习效果调整每条数据的注意力分数。然后，服务器会收集</a:t>
            </a:r>
            <a:r>
              <a:rPr lang="zh-CN" altLang="en-US" b="1"/>
              <a:t>所有</a:t>
            </a:r>
            <a:r>
              <a:rPr lang="zh-CN" altLang="en-US"/>
              <a:t>客户端对</a:t>
            </a:r>
            <a:r>
              <a:rPr lang="zh-CN" altLang="en-US" b="1"/>
              <a:t>同一条数据</a:t>
            </a:r>
            <a:r>
              <a:rPr lang="zh-CN" altLang="en-US"/>
              <a:t>的注意力分数，算一个</a:t>
            </a:r>
            <a:r>
              <a:rPr lang="zh-CN" altLang="en-US" b="1"/>
              <a:t>平均分</a:t>
            </a:r>
            <a:r>
              <a:rPr lang="zh-CN" altLang="en-US"/>
              <a:t> 。</a:t>
            </a:r>
          </a:p>
          <a:p>
            <a:endParaRPr lang="zh-CN" altLang="en-US"/>
          </a:p>
          <a:p>
            <a:r>
              <a:rPr lang="zh-CN" altLang="en-US"/>
              <a:t>接下来就是</a:t>
            </a:r>
            <a:r>
              <a:rPr lang="zh-CN" altLang="en-US" b="1"/>
              <a:t>遗忘决策</a:t>
            </a:r>
            <a:r>
              <a:rPr lang="zh-CN" altLang="en-US"/>
              <a:t>了。服务器设定一个“遗忘阈值” 。如果某条数据的平均注意力分数 低于这个阈值 ，服务器就认为：“看来大家普遍觉得这条数据不重要了，可以忘了它了”。怎么忘呢？论文里提到的是“降低数据点 对全局模型的影响”。具体实现可以有很多种方式，比如，在用</a:t>
            </a:r>
            <a:r>
              <a:rPr lang="en-US" altLang="zh-CN"/>
              <a:t>FedAvg</a:t>
            </a:r>
            <a:r>
              <a:rPr lang="zh-CN" altLang="en-US"/>
              <a:t>聚合大家的模型更新时，给那些跟这条低分数据相关的更新分配一个</a:t>
            </a:r>
            <a:r>
              <a:rPr lang="zh-CN" altLang="en-US" b="1"/>
              <a:t>非常非常低的权重</a:t>
            </a:r>
            <a:r>
              <a:rPr lang="zh-CN" altLang="en-US"/>
              <a:t>，让它的贡献几乎为零；或者更彻底一点，可以触发一些更精确的遗忘算法来完全移除它的影响（虽然论文没有详细展开后者）。</a:t>
            </a:r>
          </a:p>
          <a:p>
            <a:endParaRPr lang="zh-CN" altLang="en-US"/>
          </a:p>
          <a:p>
            <a:r>
              <a:rPr lang="zh-CN" altLang="en-US"/>
              <a:t>对于</a:t>
            </a:r>
            <a:r>
              <a:rPr lang="zh-CN" altLang="en-US" b="1"/>
              <a:t>多模态数据</a:t>
            </a:r>
            <a:r>
              <a:rPr lang="zh-CN" altLang="en-US"/>
              <a:t>，比如同时有图像和文本，也很简单。</a:t>
            </a:r>
            <a:r>
              <a:rPr lang="en-US" altLang="zh-CN"/>
              <a:t>FRAMU</a:t>
            </a:r>
            <a:r>
              <a:rPr lang="zh-CN" altLang="en-US"/>
              <a:t>会为图像数据算一套注意力分数，为文本数据算另一套分数。然后在服务器端把这条数据在不同模态下的分数</a:t>
            </a:r>
            <a:r>
              <a:rPr lang="zh-CN" altLang="en-US" b="1"/>
              <a:t>融合</a:t>
            </a:r>
            <a:r>
              <a:rPr lang="zh-CN" altLang="en-US"/>
              <a:t>起来（比如简单取个平均），得到一个总的平均分 ，再用这个总分和阈值比较来做遗忘决策。这样就能综合考虑不同类型数据的重要性了。</a:t>
            </a:r>
          </a:p>
          <a:p>
            <a:endParaRPr lang="zh-CN" altLang="en-US"/>
          </a:p>
          <a:p>
            <a:r>
              <a:rPr lang="zh-CN" altLang="en-US"/>
              <a:t>一个基于多模态数据（影像</a:t>
            </a:r>
            <a:r>
              <a:rPr lang="en-US" altLang="zh-CN"/>
              <a:t>+</a:t>
            </a:r>
            <a:r>
              <a:rPr lang="zh-CN" altLang="en-US"/>
              <a:t>报告）的医疗诊断系统，需要判断某位病人（数据点</a:t>
            </a:r>
            <a:r>
              <a:rPr lang="en-US" altLang="zh-CN"/>
              <a:t> j</a:t>
            </a:r>
            <a:r>
              <a:rPr lang="zh-CN" altLang="en-US"/>
              <a:t>）的数据是否应该被遗忘。系统会分别分析该病人的</a:t>
            </a:r>
            <a:r>
              <a:rPr lang="en-US" altLang="zh-CN"/>
              <a:t>CT</a:t>
            </a:r>
            <a:r>
              <a:rPr lang="zh-CN" altLang="en-US"/>
              <a:t>影像</a:t>
            </a:r>
            <a:r>
              <a:rPr lang="en-US" altLang="zh-CN">
                <a:sym typeface="+mn-ea"/>
              </a:rPr>
              <a:t>w1j</a:t>
            </a:r>
            <a:r>
              <a:rPr lang="zh-CN" altLang="en-US"/>
              <a:t>（模态</a:t>
            </a:r>
            <a:r>
              <a:rPr lang="en-US" altLang="zh-CN"/>
              <a:t>1</a:t>
            </a:r>
            <a:r>
              <a:rPr lang="zh-CN" altLang="en-US"/>
              <a:t>）和诊断报告文本为</a:t>
            </a:r>
            <a:r>
              <a:rPr lang="en-US" altLang="zh-CN"/>
              <a:t>w2j</a:t>
            </a:r>
            <a:r>
              <a:rPr lang="zh-CN" altLang="en-US"/>
              <a:t>（模态</a:t>
            </a:r>
            <a:r>
              <a:rPr lang="en-US" altLang="zh-CN"/>
              <a:t>2</a:t>
            </a:r>
            <a:r>
              <a:rPr lang="zh-CN" altLang="en-US"/>
              <a: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这个学习和遗忘的过程是</a:t>
            </a:r>
            <a:r>
              <a:rPr lang="zh-CN" altLang="en-US" b="1"/>
              <a:t>持续不断</a:t>
            </a:r>
            <a:r>
              <a:rPr lang="zh-CN" altLang="en-US"/>
              <a:t>进行的，形成一个闭环。</a:t>
            </a:r>
          </a:p>
          <a:p>
            <a:r>
              <a:rPr lang="zh-CN" altLang="en-US"/>
              <a:t>首先，在每个</a:t>
            </a:r>
            <a:r>
              <a:rPr lang="zh-CN" altLang="en-US" b="1"/>
              <a:t>本地客户端</a:t>
            </a:r>
            <a:r>
              <a:rPr lang="zh-CN" altLang="en-US"/>
              <a:t>，它通过强化学习与环境交互，更新自己的模型参数 ，并根据学习效果实时调整数据的注意力分数 。</a:t>
            </a:r>
          </a:p>
          <a:p>
            <a:endParaRPr lang="zh-CN" altLang="en-US"/>
          </a:p>
          <a:p>
            <a:r>
              <a:rPr lang="zh-CN" altLang="en-US"/>
              <a:t>然后，客户端将这些更新后的模型参数和注意力分数</a:t>
            </a:r>
            <a:r>
              <a:rPr lang="zh-CN" altLang="en-US" b="1"/>
              <a:t>上传</a:t>
            </a:r>
            <a:r>
              <a:rPr lang="zh-CN" altLang="en-US"/>
              <a:t>给中心服务器。</a:t>
            </a:r>
          </a:p>
          <a:p>
            <a:endParaRPr lang="zh-CN" altLang="en-US"/>
          </a:p>
          <a:p>
            <a:r>
              <a:rPr lang="zh-CN" altLang="en-US"/>
              <a:t>接着，在</a:t>
            </a:r>
            <a:r>
              <a:rPr lang="zh-CN" altLang="en-US" b="1"/>
              <a:t>中心服务器</a:t>
            </a:r>
            <a:r>
              <a:rPr lang="zh-CN" altLang="en-US"/>
              <a:t>端，它会执行两个关键操作：一是使用</a:t>
            </a:r>
            <a:r>
              <a:rPr lang="zh-CN" altLang="en-US" b="1"/>
              <a:t>联邦平均（</a:t>
            </a:r>
            <a:r>
              <a:rPr lang="en-US" altLang="zh-CN" b="1"/>
              <a:t>FedAvg</a:t>
            </a:r>
            <a:r>
              <a:rPr lang="zh-CN" altLang="en-US" b="1"/>
              <a:t>）算法，结合所有客户端上传的模型参数，来更新全局模型</a:t>
            </a:r>
            <a:r>
              <a:rPr lang="zh-CN" altLang="en-US"/>
              <a:t> 。注意，这里的聚合过程很可能会受到注意力分数的影响，比如低分数据相关的更新权重会被降低。二是根据收集到的注意力分数执行</a:t>
            </a:r>
            <a:r>
              <a:rPr lang="zh-CN" altLang="en-US" b="1"/>
              <a:t>遗忘决策</a:t>
            </a:r>
            <a:r>
              <a:rPr lang="zh-CN" altLang="en-US"/>
              <a:t>，进一步调整全局模型 ，消除不再需要的数据的影响。</a:t>
            </a:r>
          </a:p>
          <a:p>
            <a:r>
              <a:rPr lang="en-US" altLang="zh-CN"/>
              <a:t>--FedAvg </a:t>
            </a:r>
            <a:r>
              <a:rPr lang="zh-CN" altLang="en-US"/>
              <a:t>的核心思想非常直观：将各个客户端本地训练得到的模型参数，按其数据量的大小进行加权平均，以此作为全局模型的新参数</a:t>
            </a:r>
            <a:r>
              <a:rPr lang="en-US" altLang="zh-CN"/>
              <a:t>--</a:t>
            </a:r>
            <a:endParaRPr lang="zh-CN" altLang="en-US"/>
          </a:p>
          <a:p>
            <a:endParaRPr lang="zh-CN" altLang="en-US"/>
          </a:p>
          <a:p>
            <a:r>
              <a:rPr lang="zh-CN" altLang="en-US"/>
              <a:t>之后，服务器将这个经过聚合和遗忘更新后的全局模型 </a:t>
            </a:r>
            <a:r>
              <a:rPr lang="zh-CN" altLang="en-US" b="1"/>
              <a:t>下发</a:t>
            </a:r>
            <a:r>
              <a:rPr lang="zh-CN" altLang="en-US"/>
              <a:t>回各个客户端。</a:t>
            </a:r>
          </a:p>
          <a:p>
            <a:endParaRPr lang="zh-CN" altLang="en-US"/>
          </a:p>
          <a:p>
            <a:r>
              <a:rPr lang="zh-CN" altLang="en-US"/>
              <a:t>最后，客户端收到新的全局模型后，并不是直接替换掉自己的本地模型，而是将全局模型 和自己之前的本地模型 进行</a:t>
            </a:r>
            <a:r>
              <a:rPr lang="zh-CN" altLang="en-US" b="1"/>
              <a:t>融合</a:t>
            </a:r>
            <a:r>
              <a:rPr lang="zh-CN" altLang="en-US"/>
              <a:t>。这样做的好处是，既能让本地模型学到全局的知识，又能保留一些本地数据的特性。</a:t>
            </a:r>
          </a:p>
          <a:p>
            <a:r>
              <a:rPr lang="zh-CN" altLang="en-US"/>
              <a:t>这个“本地学习</a:t>
            </a:r>
            <a:r>
              <a:rPr lang="en-US" altLang="zh-CN"/>
              <a:t>/</a:t>
            </a:r>
            <a:r>
              <a:rPr lang="zh-CN" altLang="en-US"/>
              <a:t>打分 </a:t>
            </a:r>
            <a:r>
              <a:rPr lang="en-US" altLang="zh-CN"/>
              <a:t>-&gt; </a:t>
            </a:r>
            <a:r>
              <a:rPr lang="zh-CN" altLang="en-US"/>
              <a:t>上传 </a:t>
            </a:r>
            <a:r>
              <a:rPr lang="en-US" altLang="zh-CN"/>
              <a:t>-&gt; </a:t>
            </a:r>
            <a:r>
              <a:rPr lang="zh-CN" altLang="en-US"/>
              <a:t>全局聚合</a:t>
            </a:r>
            <a:r>
              <a:rPr lang="en-US" altLang="zh-CN"/>
              <a:t>/</a:t>
            </a:r>
            <a:r>
              <a:rPr lang="zh-CN" altLang="en-US"/>
              <a:t>遗忘 </a:t>
            </a:r>
            <a:r>
              <a:rPr lang="en-US" altLang="zh-CN"/>
              <a:t>-&gt; </a:t>
            </a:r>
            <a:r>
              <a:rPr lang="zh-CN" altLang="en-US"/>
              <a:t>下发 </a:t>
            </a:r>
            <a:r>
              <a:rPr lang="en-US" altLang="zh-CN"/>
              <a:t>-&gt; </a:t>
            </a:r>
            <a:r>
              <a:rPr lang="zh-CN" altLang="en-US"/>
              <a:t>本地融合”的流程会</a:t>
            </a:r>
            <a:r>
              <a:rPr lang="zh-CN" altLang="en-US" b="1"/>
              <a:t>不断循环</a:t>
            </a:r>
            <a:r>
              <a:rPr lang="zh-CN" altLang="en-US"/>
              <a:t>。通过这个循环，整个系统就能实现在动态变化的分布式环境中，一边</a:t>
            </a:r>
            <a:r>
              <a:rPr lang="zh-CN" altLang="en-US" b="1"/>
              <a:t>持续学习</a:t>
            </a:r>
            <a:r>
              <a:rPr lang="zh-CN" altLang="en-US"/>
              <a:t>新知识，一边</a:t>
            </a:r>
            <a:r>
              <a:rPr lang="zh-CN" altLang="en-US" b="1"/>
              <a:t>自适应地忘记</a:t>
            </a:r>
            <a:r>
              <a:rPr lang="zh-CN" altLang="en-US"/>
              <a:t>那些过时的、无关的或需要移除的旧信息，让模型始终保持在一个比较理想的状态。</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为了验证</a:t>
            </a:r>
            <a:r>
              <a:rPr lang="en-US" altLang="zh-CN"/>
              <a:t>FRAMU</a:t>
            </a:r>
            <a:r>
              <a:rPr lang="zh-CN" altLang="en-US"/>
              <a:t>的效果，作者团队做了很扎实的实验。他们选用了</a:t>
            </a:r>
            <a:r>
              <a:rPr lang="en-US" altLang="zh-CN"/>
              <a:t>6</a:t>
            </a:r>
            <a:r>
              <a:rPr lang="zh-CN" altLang="en-US"/>
              <a:t>个不同领域的真实数据集，有的是单一类型数据，比如家庭用电量</a:t>
            </a:r>
            <a:r>
              <a:rPr lang="en-US" altLang="zh-CN"/>
              <a:t>(AMPds2)</a:t>
            </a:r>
            <a:r>
              <a:rPr lang="zh-CN" altLang="en-US"/>
              <a:t>、洛杉矶交通流量</a:t>
            </a:r>
            <a:r>
              <a:rPr lang="en-US" altLang="zh-CN"/>
              <a:t>(METR-LA)</a:t>
            </a:r>
            <a:r>
              <a:rPr lang="zh-CN" altLang="en-US"/>
              <a:t>、重症监护室数据</a:t>
            </a:r>
            <a:r>
              <a:rPr lang="en-US" altLang="zh-CN"/>
              <a:t>(MIMIC-III)</a:t>
            </a:r>
            <a:r>
              <a:rPr lang="zh-CN" altLang="en-US"/>
              <a:t>；还有的是混合类型数据，比如纽约警察局的投诉记录</a:t>
            </a:r>
            <a:r>
              <a:rPr lang="en-US" altLang="zh-CN"/>
              <a:t>(NYPD)</a:t>
            </a:r>
            <a:r>
              <a:rPr lang="zh-CN" altLang="en-US"/>
              <a:t>、包含</a:t>
            </a:r>
            <a:r>
              <a:rPr lang="en-US" altLang="zh-CN"/>
              <a:t>X</a:t>
            </a:r>
            <a:r>
              <a:rPr lang="zh-CN" altLang="en-US"/>
              <a:t>光片和医生报告的医疗数据</a:t>
            </a:r>
            <a:r>
              <a:rPr lang="en-US" altLang="zh-CN"/>
              <a:t>(MIMIC-CXR)</a:t>
            </a:r>
            <a:r>
              <a:rPr lang="zh-CN" altLang="en-US"/>
              <a:t>、智能家居能耗数据</a:t>
            </a:r>
            <a:r>
              <a:rPr lang="en-US" altLang="zh-CN"/>
              <a:t>(SHED)</a:t>
            </a:r>
            <a:r>
              <a:rPr lang="zh-CN" altLang="en-US"/>
              <a:t>。这些数据都能很好地模拟现实世界中数据会过时、可能涉及隐私等情况。</a:t>
            </a:r>
          </a:p>
          <a:p>
            <a:r>
              <a:rPr lang="zh-CN" altLang="en-US"/>
              <a:t>针对不同数据类型，他们用了常用的</a:t>
            </a:r>
            <a:r>
              <a:rPr lang="en-US" altLang="zh-CN"/>
              <a:t>CNN</a:t>
            </a:r>
            <a:r>
              <a:rPr lang="zh-CN" altLang="en-US"/>
              <a:t>（处理图像或传感器数据）和</a:t>
            </a:r>
            <a:r>
              <a:rPr lang="en-US" altLang="zh-CN"/>
              <a:t>LSTM</a:t>
            </a:r>
            <a:r>
              <a:rPr lang="zh-CN" altLang="en-US"/>
              <a:t>（处理时间序列或文本数据）作为基础模型。</a:t>
            </a:r>
          </a:p>
          <a:p>
            <a:r>
              <a:rPr lang="zh-CN" altLang="en-US"/>
              <a:t>为了说明</a:t>
            </a:r>
            <a:r>
              <a:rPr lang="en-US" altLang="zh-CN"/>
              <a:t>FRAMU</a:t>
            </a:r>
            <a:r>
              <a:rPr lang="zh-CN" altLang="en-US"/>
              <a:t>确实更好，他们还选了当前在相关领域比较有代表性的几种方法作为对比（基线模型），比如专门做联邦知识图谱的</a:t>
            </a:r>
            <a:r>
              <a:rPr lang="en-US" altLang="zh-CN"/>
              <a:t>FedLU</a:t>
            </a:r>
            <a:r>
              <a:rPr lang="zh-CN" altLang="en-US"/>
              <a:t>、做零样本遗忘的</a:t>
            </a:r>
            <a:r>
              <a:rPr lang="en-US" altLang="zh-CN"/>
              <a:t>Zero-shot MU</a:t>
            </a:r>
            <a:r>
              <a:rPr lang="zh-CN" altLang="en-US"/>
              <a:t>、分片训练遗忘的</a:t>
            </a:r>
            <a:r>
              <a:rPr lang="en-US" altLang="zh-CN"/>
              <a:t>SISA</a:t>
            </a:r>
            <a:r>
              <a:rPr lang="zh-CN" altLang="en-US"/>
              <a:t>，以及处理多模态的</a:t>
            </a:r>
            <a:r>
              <a:rPr lang="en-US" altLang="zh-CN"/>
              <a:t>MMOE</a:t>
            </a:r>
            <a:r>
              <a:rPr lang="zh-CN" altLang="en-US"/>
              <a:t>、防后门攻击顺便能遗忘的</a:t>
            </a:r>
            <a:r>
              <a:rPr lang="en-US" altLang="zh-CN"/>
              <a:t>CleanCLIP</a:t>
            </a:r>
            <a:r>
              <a:rPr lang="zh-CN" altLang="en-US"/>
              <a:t>等。</a:t>
            </a:r>
          </a:p>
          <a:p>
            <a:r>
              <a:rPr lang="zh-CN" altLang="en-US"/>
              <a:t>评价好坏主要看两类指标：一是看“遗忘”操作后，模型预测得还准不准，用的是常见的</a:t>
            </a:r>
            <a:r>
              <a:rPr lang="en-US" altLang="zh-CN"/>
              <a:t>MSE</a:t>
            </a:r>
            <a:r>
              <a:rPr lang="zh-CN" altLang="en-US"/>
              <a:t>（均方误差）和</a:t>
            </a:r>
            <a:r>
              <a:rPr lang="en-US" altLang="zh-CN"/>
              <a:t>MAE</a:t>
            </a:r>
            <a:r>
              <a:rPr lang="zh-CN" altLang="en-US"/>
              <a:t>（平均绝对误差），这两个值越小说明模型性能保持得越好。二是看“忘得干不干净”，用了</a:t>
            </a:r>
            <a:r>
              <a:rPr lang="en-US" altLang="zh-CN"/>
              <a:t>RE</a:t>
            </a:r>
            <a:r>
              <a:rPr lang="zh-CN" altLang="en-US"/>
              <a:t>（重构误差）和</a:t>
            </a:r>
            <a:r>
              <a:rPr lang="en-US" altLang="zh-CN"/>
              <a:t>AD</a:t>
            </a:r>
            <a:r>
              <a:rPr lang="zh-CN" altLang="en-US"/>
              <a:t>（激活距离）这两个指标，它们衡量的是遗忘后的模型跟理想中完全没见过那些数据的模型有多接近，同样是越小越好。</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我们先来看处理单一类型数据（比如都是能耗数据或交通数据）的实验结果。这张图展示了不同方法在执行遗忘操作后，模型预测误差的变化情况。</a:t>
            </a:r>
          </a:p>
          <a:p>
            <a:r>
              <a:rPr lang="zh-CN" altLang="en-US"/>
              <a:t>上面的图是</a:t>
            </a:r>
            <a:r>
              <a:rPr lang="en-US" altLang="zh-CN"/>
              <a:t>MSE</a:t>
            </a:r>
            <a:r>
              <a:rPr lang="zh-CN" altLang="en-US"/>
              <a:t>（均方误差），下面的图是</a:t>
            </a:r>
            <a:r>
              <a:rPr lang="en-US" altLang="zh-CN"/>
              <a:t>MAE</a:t>
            </a:r>
            <a:r>
              <a:rPr lang="zh-CN" altLang="en-US"/>
              <a:t>（平均绝对误差），这两个都是越低越好，表示模型性能受遗忘操作的影响越小，保持得越好。大家可以看到，无论是哪种数据集（</a:t>
            </a:r>
            <a:r>
              <a:rPr lang="en-US" altLang="zh-CN"/>
              <a:t>AMPds2, METR-LA, MIMIC-III</a:t>
            </a:r>
            <a:r>
              <a:rPr lang="zh-CN" altLang="en-US"/>
              <a:t>），也无论是需要忘记过时数据、隐私数据还是无关数据</a:t>
            </a:r>
            <a:r>
              <a:rPr lang="en-US" altLang="zh-CN" b="1"/>
              <a:t>FRAMU</a:t>
            </a:r>
            <a:r>
              <a:rPr lang="zh-CN" altLang="en-US" b="1"/>
              <a:t>总是最低的</a:t>
            </a:r>
            <a:r>
              <a:rPr lang="zh-CN" altLang="en-US"/>
              <a:t>！同时可以看到</a:t>
            </a:r>
            <a:r>
              <a:rPr lang="en-US" altLang="zh-CN"/>
              <a:t>p-value</a:t>
            </a:r>
            <a:r>
              <a:rPr lang="zh-CN" altLang="en-US"/>
              <a:t>的值，这种优势在统计学上是显著的（</a:t>
            </a:r>
            <a:r>
              <a:rPr lang="en-US" altLang="zh-CN"/>
              <a:t>p</a:t>
            </a:r>
            <a:r>
              <a:rPr lang="zh-CN" altLang="en-US"/>
              <a:t>值都很小）。</a:t>
            </a:r>
          </a:p>
          <a:p>
            <a:r>
              <a:rPr lang="zh-CN" altLang="en-US"/>
              <a:t>这说明什么呢？说明</a:t>
            </a:r>
            <a:r>
              <a:rPr lang="en-US" altLang="zh-CN"/>
              <a:t>FRAMU</a:t>
            </a:r>
            <a:r>
              <a:rPr lang="zh-CN" altLang="en-US"/>
              <a:t>在执行遗忘任务时，对模型原有性能的破坏最小，能够更好地保持模型的准确性。</a:t>
            </a:r>
          </a:p>
          <a:p>
            <a:r>
              <a:rPr lang="en-US" altLang="zh-CN"/>
              <a:t>--</a:t>
            </a:r>
            <a:r>
              <a:rPr lang="zh-CN" altLang="en-US"/>
              <a:t>联邦知识图谱的</a:t>
            </a:r>
            <a:r>
              <a:rPr lang="en-US" altLang="zh-CN"/>
              <a:t>FedLU-- </a:t>
            </a:r>
          </a:p>
          <a:p>
            <a:r>
              <a:rPr lang="en-US" altLang="zh-CN"/>
              <a:t>--</a:t>
            </a:r>
            <a:r>
              <a:rPr lang="zh-CN" altLang="en-US"/>
              <a:t>分片训练遗忘的</a:t>
            </a:r>
            <a:r>
              <a:rPr lang="en-US" altLang="zh-CN"/>
              <a:t>SISA--</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再来看</a:t>
            </a:r>
            <a:r>
              <a:rPr lang="en-US" altLang="zh-CN"/>
              <a:t>Table IV</a:t>
            </a:r>
          </a:p>
          <a:p>
            <a:r>
              <a:rPr lang="zh-CN" altLang="en-US"/>
              <a:t>它用了另外两个指标（</a:t>
            </a:r>
            <a:r>
              <a:rPr lang="en-US" altLang="zh-CN"/>
              <a:t>RE</a:t>
            </a:r>
            <a:r>
              <a:rPr lang="zh-CN" altLang="en-US"/>
              <a:t>和</a:t>
            </a:r>
            <a:r>
              <a:rPr lang="en-US" altLang="zh-CN"/>
              <a:t>AD</a:t>
            </a:r>
            <a:r>
              <a:rPr lang="zh-CN" altLang="en-US"/>
              <a:t>）来衡量到底“忘得干不干净”。结果同样显示，</a:t>
            </a:r>
            <a:r>
              <a:rPr lang="en-US" altLang="zh-CN"/>
              <a:t>FRAMU</a:t>
            </a:r>
            <a:r>
              <a:rPr lang="zh-CN" altLang="en-US"/>
              <a:t>在这两个指标上也是最好的。</a:t>
            </a:r>
          </a:p>
          <a:p>
            <a:endParaRPr lang="zh-CN" altLang="en-US"/>
          </a:p>
          <a:p>
            <a:r>
              <a:rPr lang="en-US" altLang="zh-CN"/>
              <a:t>Fig 6</a:t>
            </a:r>
            <a:r>
              <a:rPr lang="zh-CN" altLang="en-US"/>
              <a:t>展示的是遗忘操作前后模型误差的“差值”。差值越大，说明遗忘操作对模型的影响越集中在那些该被遗忘的数据上，效果越显著。</a:t>
            </a:r>
            <a:endParaRPr lang="en-US" altLang="zh-CN"/>
          </a:p>
          <a:p>
            <a:r>
              <a:rPr lang="zh-CN" altLang="en-US"/>
              <a:t>可以看到，</a:t>
            </a:r>
            <a:r>
              <a:rPr lang="zh-CN" altLang="en-US" b="1"/>
              <a:t>灰色的柱子（</a:t>
            </a:r>
            <a:r>
              <a:rPr lang="en-US" altLang="zh-CN" b="1"/>
              <a:t>FRAMU</a:t>
            </a:r>
            <a:r>
              <a:rPr lang="zh-CN" altLang="en-US" b="1"/>
              <a:t>）总是最高的</a:t>
            </a:r>
            <a:r>
              <a:rPr lang="zh-CN" altLang="en-US"/>
              <a:t>！</a:t>
            </a:r>
          </a:p>
          <a:p>
            <a:r>
              <a:rPr lang="zh-CN" altLang="en-US"/>
              <a:t>综合来看，在单模态数据上，</a:t>
            </a:r>
            <a:r>
              <a:rPr lang="en-US" altLang="zh-CN"/>
              <a:t>FRAMU</a:t>
            </a:r>
            <a:r>
              <a:rPr lang="zh-CN" altLang="en-US"/>
              <a:t>不仅忘得准、忘得狠，而且对模型整体性能的影响最小。</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那么，处理更复杂的混合类型数据（多模态），比如同时有文本、图片、数值的情况呢？结果怎么样？</a:t>
            </a:r>
          </a:p>
          <a:p>
            <a:r>
              <a:rPr lang="zh-CN" altLang="en-US"/>
              <a:t>我们来看这张图（指着</a:t>
            </a:r>
            <a:r>
              <a:rPr lang="en-US" altLang="zh-CN"/>
              <a:t>Fig 7</a:t>
            </a:r>
            <a:r>
              <a:rPr lang="zh-CN" altLang="en-US"/>
              <a:t>或对应的柱状图）。数据集换成了</a:t>
            </a:r>
            <a:r>
              <a:rPr lang="en-US" altLang="zh-CN"/>
              <a:t>NYPD</a:t>
            </a:r>
            <a:r>
              <a:rPr lang="zh-CN" altLang="en-US"/>
              <a:t>（投诉记录）、</a:t>
            </a:r>
            <a:r>
              <a:rPr lang="en-US" altLang="zh-CN"/>
              <a:t>MIMIC-CXR</a:t>
            </a:r>
            <a:r>
              <a:rPr lang="zh-CN" altLang="en-US"/>
              <a:t>（医疗影像</a:t>
            </a:r>
            <a:r>
              <a:rPr lang="en-US" altLang="zh-CN"/>
              <a:t>+</a:t>
            </a:r>
            <a:r>
              <a:rPr lang="zh-CN" altLang="en-US"/>
              <a:t>报告）、</a:t>
            </a:r>
            <a:r>
              <a:rPr lang="en-US" altLang="zh-CN"/>
              <a:t>SHED</a:t>
            </a:r>
            <a:r>
              <a:rPr lang="zh-CN" altLang="en-US"/>
              <a:t>（智能家居能耗）。</a:t>
            </a:r>
          </a:p>
          <a:p>
            <a:r>
              <a:rPr lang="zh-CN" altLang="en-US"/>
              <a:t>对比的方法也换成了专门处理多模态的</a:t>
            </a:r>
            <a:r>
              <a:rPr lang="en-US" altLang="zh-CN"/>
              <a:t>MMOE</a:t>
            </a:r>
            <a:r>
              <a:rPr lang="zh-CN" altLang="en-US"/>
              <a:t>、</a:t>
            </a:r>
            <a:r>
              <a:rPr lang="en-US" altLang="zh-CN"/>
              <a:t>CleanCLIP</a:t>
            </a:r>
            <a:r>
              <a:rPr lang="zh-CN" altLang="en-US"/>
              <a:t>等。</a:t>
            </a:r>
          </a:p>
          <a:p>
            <a:r>
              <a:rPr lang="zh-CN" altLang="en-US"/>
              <a:t>结果依然非常一致！无论是</a:t>
            </a:r>
            <a:r>
              <a:rPr lang="en-US" altLang="zh-CN"/>
              <a:t>MSE</a:t>
            </a:r>
            <a:r>
              <a:rPr lang="zh-CN" altLang="en-US"/>
              <a:t>还是</a:t>
            </a:r>
            <a:r>
              <a:rPr lang="en-US" altLang="zh-CN"/>
              <a:t>MAE</a:t>
            </a:r>
            <a:r>
              <a:rPr lang="zh-CN" altLang="en-US"/>
              <a:t>（越低越好）</a:t>
            </a:r>
            <a:r>
              <a:rPr lang="en-US" altLang="zh-CN"/>
              <a:t>FRAMU</a:t>
            </a:r>
            <a:r>
              <a:rPr lang="zh-CN" altLang="en-US"/>
              <a:t>仍然是最低的。</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a:t>Table VI</a:t>
            </a:r>
            <a:r>
              <a:rPr lang="zh-CN" altLang="en-US"/>
              <a:t>中衡量遗忘质量的</a:t>
            </a:r>
            <a:r>
              <a:rPr lang="en-US" altLang="zh-CN"/>
              <a:t>RE</a:t>
            </a:r>
            <a:r>
              <a:rPr lang="zh-CN" altLang="en-US"/>
              <a:t>和</a:t>
            </a:r>
            <a:r>
              <a:rPr lang="en-US" altLang="zh-CN"/>
              <a:t>AD</a:t>
            </a:r>
            <a:r>
              <a:rPr lang="zh-CN" altLang="en-US"/>
              <a:t>指标，</a:t>
            </a:r>
            <a:r>
              <a:rPr lang="en-US" altLang="zh-CN"/>
              <a:t>FRAMU</a:t>
            </a:r>
            <a:r>
              <a:rPr lang="zh-CN" altLang="en-US"/>
              <a:t>也是最优的。</a:t>
            </a:r>
            <a:r>
              <a:rPr lang="en-US" altLang="zh-CN"/>
              <a:t>Fig 7</a:t>
            </a:r>
            <a:r>
              <a:rPr lang="zh-CN" altLang="en-US"/>
              <a:t>的误差差异对比中，</a:t>
            </a:r>
            <a:r>
              <a:rPr lang="en-US" altLang="zh-CN"/>
              <a:t>FRAMU</a:t>
            </a:r>
            <a:r>
              <a:rPr lang="zh-CN" altLang="en-US"/>
              <a:t>的柱子依然是最高的。</a:t>
            </a:r>
          </a:p>
          <a:p>
            <a:r>
              <a:rPr lang="zh-CN" altLang="en-US"/>
              <a:t>这充分说明，</a:t>
            </a:r>
            <a:r>
              <a:rPr lang="en-US" altLang="zh-CN"/>
              <a:t>FRAMU</a:t>
            </a:r>
            <a:r>
              <a:rPr lang="zh-CN" altLang="en-US"/>
              <a:t>不仅仅能处理单一类型的数据遗忘，对于混合了多种不同类型数据的复杂场景，它的适应性和效果同样非常出色。</a:t>
            </a:r>
          </a:p>
          <a:p>
            <a:r>
              <a:rPr lang="zh-CN" altLang="en-US"/>
              <a:t>它设计的注意力机制能够很好地权衡和融合来自不同模态的信息，并做出正确的遗忘判断。</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好了，最后总结一下。这篇论文提出的 </a:t>
            </a:r>
            <a:r>
              <a:rPr lang="en-US" altLang="zh-CN"/>
              <a:t>FRAMU </a:t>
            </a:r>
            <a:r>
              <a:rPr lang="zh-CN" altLang="en-US"/>
              <a:t>框架，可以说是为“机器遗忘”这个问题开辟了一个新的方向。它非常巧妙地把联邦学习、强化学习和注意力机制这三个强大的技术</a:t>
            </a:r>
            <a:r>
              <a:rPr lang="zh-CN" altLang="en-US" b="1"/>
              <a:t>整合</a:t>
            </a:r>
            <a:r>
              <a:rPr lang="zh-CN" altLang="en-US"/>
              <a:t>在了一起。</a:t>
            </a:r>
          </a:p>
          <a:p>
            <a:r>
              <a:rPr lang="zh-CN" altLang="en-US"/>
              <a:t>它的核心贡献在于，证明了利用</a:t>
            </a:r>
            <a:r>
              <a:rPr lang="zh-CN" altLang="en-US" b="1"/>
              <a:t>注意力机制</a:t>
            </a:r>
            <a:r>
              <a:rPr lang="zh-CN" altLang="en-US"/>
              <a:t>来动态评估数据的重要性，并以此为依据进行</a:t>
            </a:r>
            <a:r>
              <a:rPr lang="zh-CN" altLang="en-US" b="1"/>
              <a:t>选择性遗忘</a:t>
            </a:r>
            <a:r>
              <a:rPr lang="zh-CN" altLang="en-US"/>
              <a:t>是</a:t>
            </a:r>
            <a:r>
              <a:rPr lang="zh-CN" altLang="en-US" b="1"/>
              <a:t>非常有效</a:t>
            </a:r>
            <a:r>
              <a:rPr lang="zh-CN" altLang="en-US"/>
              <a:t>的。无论面对的是单一类型数据还是混合类型的复杂数据，也无论是需要忘记过时信息、隐私信息还是无关信息，</a:t>
            </a:r>
            <a:r>
              <a:rPr lang="en-US" altLang="zh-CN"/>
              <a:t>FRAMU</a:t>
            </a:r>
            <a:r>
              <a:rPr lang="zh-CN" altLang="en-US"/>
              <a:t>都表现出了比现有方法更好的性能，既忘得干净，又对模型整体影响小。</a:t>
            </a:r>
          </a:p>
          <a:p>
            <a:r>
              <a:rPr lang="zh-CN" altLang="en-US"/>
              <a:t>这项工作的意义在于，它为我们在现实世界中落实像“被遗忘权”这样的隐私要求，以及让</a:t>
            </a:r>
            <a:r>
              <a:rPr lang="en-US" altLang="zh-CN"/>
              <a:t>AI</a:t>
            </a:r>
            <a:r>
              <a:rPr lang="zh-CN" altLang="en-US"/>
              <a:t>模型能跟上时代、不断淘汰旧信息，提供了一个很有前景的</a:t>
            </a:r>
            <a:r>
              <a:rPr lang="zh-CN" altLang="en-US" b="1"/>
              <a:t>技术方案</a:t>
            </a:r>
            <a:r>
              <a:rPr lang="zh-CN" altLang="en-US"/>
              <a:t>。同时，它也展示了将联邦学习、强化学习、注意力机制这些不同领域的技术进行</a:t>
            </a:r>
            <a:r>
              <a:rPr lang="zh-CN" altLang="en-US" b="1"/>
              <a:t>交叉融合</a:t>
            </a:r>
            <a:r>
              <a:rPr lang="zh-CN" altLang="en-US"/>
              <a:t>所能带来的强大能力。</a:t>
            </a:r>
          </a:p>
          <a:p>
            <a:r>
              <a:rPr lang="zh-CN" altLang="en-US"/>
              <a:t>当然，正如所有研究一样，</a:t>
            </a:r>
            <a:r>
              <a:rPr lang="en-US" altLang="zh-CN"/>
              <a:t>FRAMU</a:t>
            </a:r>
            <a:r>
              <a:rPr lang="zh-CN" altLang="en-US"/>
              <a:t>也有它的局限性。比如，这个框架涉及的技术比较多，计算起来可能还是比较复杂；当联邦学习网络规模变得超级巨大时，它的效率和扩展性如何还有待验证；里面的一些参数（比如那个遗忘阈值）怎么设置最好，可能也需要根据具体场景仔细调整。这些都是未来可以继续研究和改进的方向，比如怎么让“忘记”的过程更快、更省资源，怎么让它在有成千上万个设备参与的情况下也能运转良好等等。</a:t>
            </a:r>
          </a:p>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p:cNvSpPr>
            <a:spLocks noGrp="1"/>
          </p:cNvSpPr>
          <p:nvPr>
            <p:ph type="dt" sz="half" idx="10"/>
          </p:nvPr>
        </p:nvSpPr>
        <p:spPr/>
        <p:txBody>
          <a:bodyPr/>
          <a:lstStyle/>
          <a:p>
            <a:fld id="{590E10D0-D1B7-4738-A13A-6C578036ED43}" type="datetimeFigureOut">
              <a:rPr lang="zh-CN" altLang="en-US" smtClean="0"/>
              <a:t>2025/11/9</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81BD92D-7B5D-401D-B831-D64DA71BFF6B}" type="slidenum">
              <a:rPr lang="zh-CN" altLang="en-US" smtClean="0"/>
              <a:t>‹#›</a:t>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10"/>
          </p:nvPr>
        </p:nvSpPr>
        <p:spPr/>
        <p:txBody>
          <a:bodyPr/>
          <a:lstStyle/>
          <a:p>
            <a:fld id="{590E10D0-D1B7-4738-A13A-6C578036ED43}" type="datetimeFigureOut">
              <a:rPr lang="zh-CN" altLang="en-US" smtClean="0"/>
              <a:t>2025/11/9</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81BD92D-7B5D-401D-B831-D64DA71BFF6B}" type="slidenum">
              <a:rPr lang="zh-CN" altLang="en-US" smtClean="0"/>
              <a:t>‹#›</a:t>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p:txBody>
          <a:bodyPr/>
          <a:lstStyle/>
          <a:p>
            <a:fld id="{590E10D0-D1B7-4738-A13A-6C578036ED43}" type="datetimeFigureOut">
              <a:rPr lang="zh-CN" altLang="en-US" smtClean="0"/>
              <a:t>2025/11/9</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81BD92D-7B5D-401D-B831-D64DA71BFF6B}" type="slidenum">
              <a:rPr lang="zh-CN" altLang="en-US" smtClean="0"/>
              <a:t>‹#›</a:t>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p:cNvSpPr>
            <a:spLocks noGrp="1"/>
          </p:cNvSpPr>
          <p:nvPr>
            <p:ph type="dt" sz="half" idx="10"/>
          </p:nvPr>
        </p:nvSpPr>
        <p:spPr/>
        <p:txBody>
          <a:bodyPr/>
          <a:lstStyle/>
          <a:p>
            <a:fld id="{590E10D0-D1B7-4738-A13A-6C578036ED43}" type="datetimeFigureOut">
              <a:rPr lang="zh-CN" altLang="en-US" smtClean="0"/>
              <a:t>2025/11/9</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781BD92D-7B5D-401D-B831-D64DA71BFF6B}" type="slidenum">
              <a:rPr lang="zh-CN" altLang="en-US" smtClean="0"/>
              <a:t>‹#›</a:t>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p:cNvSpPr>
            <a:spLocks noGrp="1"/>
          </p:cNvSpPr>
          <p:nvPr>
            <p:ph type="dt" sz="half" idx="10"/>
          </p:nvPr>
        </p:nvSpPr>
        <p:spPr/>
        <p:txBody>
          <a:bodyPr/>
          <a:lstStyle/>
          <a:p>
            <a:fld id="{590E10D0-D1B7-4738-A13A-6C578036ED43}" type="datetimeFigureOut">
              <a:rPr lang="zh-CN" altLang="en-US" smtClean="0"/>
              <a:t>2025/11/9</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781BD92D-7B5D-401D-B831-D64DA71BFF6B}" type="slidenum">
              <a:rPr lang="zh-CN" altLang="en-US" smtClean="0"/>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590E10D0-D1B7-4738-A13A-6C578036ED43}" type="datetimeFigureOut">
              <a:rPr lang="zh-CN" altLang="en-US" smtClean="0"/>
              <a:t>2025/11/9</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781BD92D-7B5D-401D-B831-D64DA71BFF6B}" type="slidenum">
              <a:rPr lang="zh-CN" altLang="en-US" smtClean="0"/>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590E10D0-D1B7-4738-A13A-6C578036ED43}" type="datetimeFigureOut">
              <a:rPr lang="zh-CN" altLang="en-US" smtClean="0"/>
              <a:t>2025/11/9</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781BD92D-7B5D-401D-B831-D64DA71BFF6B}" type="slidenum">
              <a:rPr lang="zh-CN" altLang="en-US" smtClean="0"/>
              <a:t>‹#›</a:t>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590E10D0-D1B7-4738-A13A-6C578036ED43}" type="datetimeFigureOut">
              <a:rPr lang="zh-CN" altLang="en-US" smtClean="0"/>
              <a:t>2025/11/9</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781BD92D-7B5D-401D-B831-D64DA71BFF6B}" type="slidenum">
              <a:rPr lang="zh-CN" altLang="en-US" smtClean="0"/>
              <a:t>‹#›</a:t>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590E10D0-D1B7-4738-A13A-6C578036ED43}" type="datetimeFigureOut">
              <a:rPr lang="zh-CN" altLang="en-US" smtClean="0"/>
              <a:t>2025/11/9</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781BD92D-7B5D-401D-B831-D64DA71BFF6B}" type="slidenum">
              <a:rPr lang="zh-CN" altLang="en-US" smtClean="0"/>
              <a:t>‹#›</a:t>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10"/>
          </p:nvPr>
        </p:nvSpPr>
        <p:spPr/>
        <p:txBody>
          <a:bodyPr/>
          <a:lstStyle/>
          <a:p>
            <a:fld id="{590E10D0-D1B7-4738-A13A-6C578036ED43}" type="datetimeFigureOut">
              <a:rPr lang="zh-CN" altLang="en-US" smtClean="0"/>
              <a:t>2025/11/9</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81BD92D-7B5D-401D-B831-D64DA71BFF6B}" type="slidenum">
              <a:rPr lang="zh-CN" altLang="en-US" smtClean="0"/>
              <a:t>‹#›</a:t>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10"/>
          </p:nvPr>
        </p:nvSpPr>
        <p:spPr/>
        <p:txBody>
          <a:bodyPr/>
          <a:lstStyle/>
          <a:p>
            <a:fld id="{590E10D0-D1B7-4738-A13A-6C578036ED43}" type="datetimeFigureOut">
              <a:rPr lang="zh-CN" altLang="en-US" smtClean="0"/>
              <a:t>2025/11/9</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81BD92D-7B5D-401D-B831-D64DA71BFF6B}" type="slidenum">
              <a:rPr lang="zh-CN" altLang="en-US" smtClean="0"/>
              <a:t>‹#›</a:t>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90E10D0-D1B7-4738-A13A-6C578036ED43}" type="datetimeFigureOut">
              <a:rPr lang="zh-CN" altLang="en-US" smtClean="0"/>
              <a:t>2025/11/9</a:t>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81BD92D-7B5D-401D-B831-D64DA71BFF6B}"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tags" Target="../tags/tag3.xml"/><Relationship Id="rId2" Type="http://schemas.openxmlformats.org/officeDocument/2006/relationships/tags" Target="../tags/tag2.xml"/><Relationship Id="rId1" Type="http://schemas.openxmlformats.org/officeDocument/2006/relationships/tags" Target="../tags/tag1.xml"/><Relationship Id="rId5" Type="http://schemas.openxmlformats.org/officeDocument/2006/relationships/notesSlide" Target="../notesSlides/notesSlide1.xml"/><Relationship Id="rId4"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tags" Target="../tags/tag11.xml"/><Relationship Id="rId13" Type="http://schemas.openxmlformats.org/officeDocument/2006/relationships/tags" Target="../tags/tag16.xml"/><Relationship Id="rId18" Type="http://schemas.openxmlformats.org/officeDocument/2006/relationships/tags" Target="../tags/tag21.xml"/><Relationship Id="rId3" Type="http://schemas.openxmlformats.org/officeDocument/2006/relationships/tags" Target="../tags/tag6.xml"/><Relationship Id="rId7" Type="http://schemas.openxmlformats.org/officeDocument/2006/relationships/tags" Target="../tags/tag10.xml"/><Relationship Id="rId12" Type="http://schemas.openxmlformats.org/officeDocument/2006/relationships/tags" Target="../tags/tag15.xml"/><Relationship Id="rId17" Type="http://schemas.openxmlformats.org/officeDocument/2006/relationships/tags" Target="../tags/tag20.xml"/><Relationship Id="rId2" Type="http://schemas.openxmlformats.org/officeDocument/2006/relationships/tags" Target="../tags/tag5.xml"/><Relationship Id="rId16" Type="http://schemas.openxmlformats.org/officeDocument/2006/relationships/tags" Target="../tags/tag19.xml"/><Relationship Id="rId1" Type="http://schemas.openxmlformats.org/officeDocument/2006/relationships/tags" Target="../tags/tag4.xml"/><Relationship Id="rId6" Type="http://schemas.openxmlformats.org/officeDocument/2006/relationships/tags" Target="../tags/tag9.xml"/><Relationship Id="rId11" Type="http://schemas.openxmlformats.org/officeDocument/2006/relationships/tags" Target="../tags/tag14.xml"/><Relationship Id="rId5" Type="http://schemas.openxmlformats.org/officeDocument/2006/relationships/tags" Target="../tags/tag8.xml"/><Relationship Id="rId15" Type="http://schemas.openxmlformats.org/officeDocument/2006/relationships/tags" Target="../tags/tag18.xml"/><Relationship Id="rId10" Type="http://schemas.openxmlformats.org/officeDocument/2006/relationships/tags" Target="../tags/tag13.xml"/><Relationship Id="rId19" Type="http://schemas.openxmlformats.org/officeDocument/2006/relationships/slideLayout" Target="../slideLayouts/slideLayout1.xml"/><Relationship Id="rId4" Type="http://schemas.openxmlformats.org/officeDocument/2006/relationships/tags" Target="../tags/tag7.xml"/><Relationship Id="rId9" Type="http://schemas.openxmlformats.org/officeDocument/2006/relationships/tags" Target="../tags/tag12.xml"/><Relationship Id="rId14" Type="http://schemas.openxmlformats.org/officeDocument/2006/relationships/tags" Target="../tags/tag1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1.xml"/><Relationship Id="rId1" Type="http://schemas.openxmlformats.org/officeDocument/2006/relationships/tags" Target="../tags/tag22.xml"/><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8" Type="http://schemas.openxmlformats.org/officeDocument/2006/relationships/image" Target="../media/image23.svg"/><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21.svg"/><Relationship Id="rId5" Type="http://schemas.openxmlformats.org/officeDocument/2006/relationships/image" Target="../media/image20.png"/><Relationship Id="rId4" Type="http://schemas.openxmlformats.org/officeDocument/2006/relationships/image" Target="../media/image19.svg"/></Relationships>
</file>

<file path=ppt/slides/_rels/slide2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2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31.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直角三角形 3"/>
          <p:cNvSpPr/>
          <p:nvPr/>
        </p:nvSpPr>
        <p:spPr>
          <a:xfrm flipV="1">
            <a:off x="-1" y="-2"/>
            <a:ext cx="3310360" cy="3310360"/>
          </a:xfrm>
          <a:prstGeom prst="r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nvSpPr>
        <p:spPr>
          <a:xfrm rot="18900000" flipH="1">
            <a:off x="-1125758" y="1252138"/>
            <a:ext cx="4421529" cy="22132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直角三角形 7"/>
          <p:cNvSpPr/>
          <p:nvPr/>
        </p:nvSpPr>
        <p:spPr>
          <a:xfrm flipH="1">
            <a:off x="8881640" y="3547640"/>
            <a:ext cx="3310360" cy="3310360"/>
          </a:xfrm>
          <a:prstGeom prst="r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rot="18900000" flipV="1">
            <a:off x="8688882" y="5578872"/>
            <a:ext cx="4421529" cy="7988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p:nvSpPr>
        <p:spPr>
          <a:xfrm rot="18900000" flipV="1">
            <a:off x="8955099" y="5578872"/>
            <a:ext cx="4421529" cy="7988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p:cNvSpPr txBox="1"/>
          <p:nvPr>
            <p:custDataLst>
              <p:tags r:id="rId1"/>
            </p:custDataLst>
          </p:nvPr>
        </p:nvSpPr>
        <p:spPr>
          <a:xfrm>
            <a:off x="1644015" y="4431665"/>
            <a:ext cx="8765540" cy="597535"/>
          </a:xfrm>
          <a:prstGeom prst="rect">
            <a:avLst/>
          </a:prstGeom>
          <a:noFill/>
        </p:spPr>
        <p:txBody>
          <a:bodyPr wrap="square" rtlCol="0">
            <a:noAutofit/>
          </a:bodyPr>
          <a:lstStyle/>
          <a:p>
            <a:pPr>
              <a:lnSpc>
                <a:spcPct val="120000"/>
              </a:lnSpc>
            </a:pPr>
            <a:r>
              <a:rPr lang="zh-CN" altLang="en-US" sz="2000" b="1" dirty="0">
                <a:solidFill>
                  <a:schemeClr val="tx1">
                    <a:lumMod val="85000"/>
                    <a:lumOff val="15000"/>
                  </a:schemeClr>
                </a:solidFill>
                <a:latin typeface="+mn-ea"/>
                <a:sym typeface="+mn-ea"/>
              </a:rPr>
              <a:t>汇报人：</a:t>
            </a:r>
            <a:r>
              <a:rPr lang="zh-CN" altLang="en-US" sz="2000" b="1" dirty="0">
                <a:solidFill>
                  <a:schemeClr val="tx1">
                    <a:lumMod val="85000"/>
                    <a:lumOff val="15000"/>
                  </a:schemeClr>
                </a:solidFill>
                <a:latin typeface="Times New Roman" panose="02020603050405020304" charset="0"/>
                <a:cs typeface="Times New Roman" panose="02020603050405020304" charset="0"/>
              </a:rPr>
              <a:t>李旭杰</a:t>
            </a:r>
          </a:p>
        </p:txBody>
      </p:sp>
      <p:sp>
        <p:nvSpPr>
          <p:cNvPr id="2" name="文本框 1"/>
          <p:cNvSpPr txBox="1"/>
          <p:nvPr>
            <p:custDataLst>
              <p:tags r:id="rId2"/>
            </p:custDataLst>
          </p:nvPr>
        </p:nvSpPr>
        <p:spPr>
          <a:xfrm>
            <a:off x="1713230" y="1852930"/>
            <a:ext cx="9780905" cy="1272540"/>
          </a:xfrm>
          <a:prstGeom prst="rect">
            <a:avLst/>
          </a:prstGeom>
          <a:noFill/>
        </p:spPr>
        <p:txBody>
          <a:bodyPr wrap="square" rtlCol="0">
            <a:spAutoFit/>
          </a:bodyPr>
          <a:lstStyle/>
          <a:p>
            <a:pPr>
              <a:lnSpc>
                <a:spcPct val="120000"/>
              </a:lnSpc>
            </a:pPr>
            <a:r>
              <a:rPr lang="en-US" altLang="zh-CN" sz="3200" b="1" dirty="0">
                <a:solidFill>
                  <a:schemeClr val="tx1">
                    <a:lumMod val="85000"/>
                    <a:lumOff val="15000"/>
                  </a:schemeClr>
                </a:solidFill>
                <a:latin typeface="Times New Roman" panose="02020603050405020304" charset="0"/>
                <a:cs typeface="Times New Roman" panose="02020603050405020304" charset="0"/>
              </a:rPr>
              <a:t>SecureML: A System for Scalable  Privacy-Preserving Machine Learning</a:t>
            </a:r>
          </a:p>
        </p:txBody>
      </p:sp>
      <p:sp>
        <p:nvSpPr>
          <p:cNvPr id="3" name="文本框 2"/>
          <p:cNvSpPr txBox="1"/>
          <p:nvPr>
            <p:custDataLst>
              <p:tags r:id="rId3"/>
            </p:custDataLst>
          </p:nvPr>
        </p:nvSpPr>
        <p:spPr>
          <a:xfrm>
            <a:off x="1644015" y="3971290"/>
            <a:ext cx="8765540" cy="460375"/>
          </a:xfrm>
          <a:prstGeom prst="rect">
            <a:avLst/>
          </a:prstGeom>
          <a:noFill/>
        </p:spPr>
        <p:txBody>
          <a:bodyPr wrap="square" rtlCol="0">
            <a:spAutoFit/>
          </a:bodyPr>
          <a:lstStyle/>
          <a:p>
            <a:pPr>
              <a:lnSpc>
                <a:spcPct val="120000"/>
              </a:lnSpc>
            </a:pPr>
            <a:r>
              <a:rPr lang="zh-CN" altLang="en-US" sz="2000" b="1">
                <a:solidFill>
                  <a:schemeClr val="tx1">
                    <a:lumMod val="85000"/>
                    <a:lumOff val="15000"/>
                  </a:schemeClr>
                </a:solidFill>
                <a:latin typeface="+mn-ea"/>
                <a:sym typeface="+mn-ea"/>
              </a:rPr>
              <a:t>作者：</a:t>
            </a:r>
            <a:r>
              <a:rPr lang="en-US" altLang="zh-CN" sz="2000" b="1">
                <a:solidFill>
                  <a:schemeClr val="tx1">
                    <a:lumMod val="85000"/>
                    <a:lumOff val="15000"/>
                  </a:schemeClr>
                </a:solidFill>
                <a:uFillTx/>
                <a:latin typeface="Times New Roman" panose="02020603050405020304" charset="0"/>
                <a:sym typeface="+mn-ea"/>
              </a:rPr>
              <a:t>Payman Mohassel, Yupeng Zhang</a:t>
            </a:r>
            <a:endParaRPr lang="en-US" altLang="zh-CN" sz="2000" b="1" dirty="0">
              <a:solidFill>
                <a:schemeClr val="tx1">
                  <a:lumMod val="85000"/>
                  <a:lumOff val="15000"/>
                </a:schemeClr>
              </a:solidFill>
              <a:uFillTx/>
              <a:latin typeface="Times New Roman" panose="02020603050405020304" charset="0"/>
              <a:cs typeface="Times New Roman" panose="02020603050405020304" charset="0"/>
              <a:sym typeface="+mn-ea"/>
            </a:endParaRPr>
          </a:p>
        </p:txBody>
      </p:sp>
      <p:sp>
        <p:nvSpPr>
          <p:cNvPr id="15" name="矩形 14"/>
          <p:cNvSpPr/>
          <p:nvPr/>
        </p:nvSpPr>
        <p:spPr>
          <a:xfrm>
            <a:off x="3525520" y="3363595"/>
            <a:ext cx="5140325" cy="109855"/>
          </a:xfrm>
          <a:prstGeom prst="rect">
            <a:avLst/>
          </a:prstGeom>
          <a:gradFill flip="none" rotWithShape="1">
            <a:gsLst>
              <a:gs pos="50000">
                <a:schemeClr val="accent1"/>
              </a:gs>
              <a:gs pos="100000">
                <a:schemeClr val="accent1">
                  <a:lumMod val="95000"/>
                  <a:lumOff val="5000"/>
                </a:schemeClr>
              </a:gs>
              <a:gs pos="73000">
                <a:schemeClr val="accent1"/>
              </a:gs>
              <a:gs pos="13000">
                <a:schemeClr val="accent1">
                  <a:lumMod val="90000"/>
                  <a:lumOff val="10000"/>
                </a:schemeClr>
              </a:gs>
            </a:gsLst>
            <a:lin ang="27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latin typeface="HarmonyOS Sans SC" panose="00000500000000000000" pitchFamily="2"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 name="文本框 58"/>
          <p:cNvSpPr txBox="1"/>
          <p:nvPr/>
        </p:nvSpPr>
        <p:spPr>
          <a:xfrm>
            <a:off x="657191" y="2836502"/>
            <a:ext cx="7424488" cy="2215991"/>
          </a:xfrm>
          <a:prstGeom prst="rect">
            <a:avLst/>
          </a:prstGeom>
          <a:noFill/>
        </p:spPr>
        <p:txBody>
          <a:bodyPr wrap="square" rtlCol="0">
            <a:spAutoFit/>
          </a:bodyPr>
          <a:lstStyle/>
          <a:p>
            <a:pPr algn="dist"/>
            <a:r>
              <a:rPr lang="en-US" altLang="zh-CN" sz="13800" dirty="0">
                <a:solidFill>
                  <a:schemeClr val="accent1">
                    <a:alpha val="8000"/>
                  </a:schemeClr>
                </a:solidFill>
                <a:latin typeface="Impact" panose="020B0806030902050204" pitchFamily="34" charset="0"/>
                <a:ea typeface="微软雅黑" panose="020B0503020204020204" pitchFamily="34" charset="-122"/>
                <a:cs typeface="Arial" panose="020B0604020202020204" pitchFamily="34" charset="0"/>
              </a:rPr>
              <a:t>CONTENTS</a:t>
            </a:r>
            <a:endParaRPr lang="zh-CN" altLang="en-US" sz="13800" dirty="0">
              <a:solidFill>
                <a:schemeClr val="accent1">
                  <a:alpha val="8000"/>
                </a:schemeClr>
              </a:solidFill>
              <a:latin typeface="Impact" panose="020B0806030902050204" pitchFamily="34" charset="0"/>
              <a:ea typeface="微软雅黑" panose="020B0503020204020204" pitchFamily="34" charset="-122"/>
              <a:cs typeface="Arial" panose="020B0604020202020204" pitchFamily="34" charset="0"/>
            </a:endParaRPr>
          </a:p>
        </p:txBody>
      </p:sp>
      <p:sp>
        <p:nvSpPr>
          <p:cNvPr id="4" name="直角三角形 3"/>
          <p:cNvSpPr/>
          <p:nvPr/>
        </p:nvSpPr>
        <p:spPr>
          <a:xfrm flipV="1">
            <a:off x="-1" y="-2"/>
            <a:ext cx="3310360" cy="3310360"/>
          </a:xfrm>
          <a:prstGeom prst="r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nvSpPr>
        <p:spPr>
          <a:xfrm rot="18900000" flipH="1">
            <a:off x="-1125758" y="1252138"/>
            <a:ext cx="4421529" cy="22132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直角三角形 7"/>
          <p:cNvSpPr/>
          <p:nvPr/>
        </p:nvSpPr>
        <p:spPr>
          <a:xfrm flipH="1">
            <a:off x="8881640" y="3547640"/>
            <a:ext cx="3310360" cy="3310360"/>
          </a:xfrm>
          <a:prstGeom prst="r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rot="18900000" flipV="1">
            <a:off x="8688882" y="5578872"/>
            <a:ext cx="4421529" cy="7988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p:nvSpPr>
        <p:spPr>
          <a:xfrm rot="18900000" flipV="1">
            <a:off x="8955099" y="5578872"/>
            <a:ext cx="4421529" cy="7988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矩形 42"/>
          <p:cNvSpPr/>
          <p:nvPr>
            <p:custDataLst>
              <p:tags r:id="rId1"/>
            </p:custDataLst>
          </p:nvPr>
        </p:nvSpPr>
        <p:spPr>
          <a:xfrm>
            <a:off x="6519582" y="1728435"/>
            <a:ext cx="3269713" cy="398780"/>
          </a:xfrm>
          <a:prstGeom prst="rect">
            <a:avLst/>
          </a:prstGeom>
        </p:spPr>
        <p:txBody>
          <a:bodyPr wrap="square">
            <a:spAutoFit/>
          </a:bodyPr>
          <a:lstStyle/>
          <a:p>
            <a:r>
              <a:rPr lang="zh-CN" altLang="en-US" sz="2000" b="1" dirty="0">
                <a:solidFill>
                  <a:schemeClr val="tx1"/>
                </a:solidFill>
                <a:latin typeface="微软雅黑" panose="020B0503020204020204" pitchFamily="34" charset="-122"/>
                <a:ea typeface="微软雅黑" panose="020B0503020204020204" pitchFamily="34" charset="-122"/>
              </a:rPr>
              <a:t>背景问题</a:t>
            </a:r>
          </a:p>
        </p:txBody>
      </p:sp>
      <p:sp>
        <p:nvSpPr>
          <p:cNvPr id="45" name="矩形: 圆角 44"/>
          <p:cNvSpPr/>
          <p:nvPr>
            <p:custDataLst>
              <p:tags r:id="rId2"/>
            </p:custDataLst>
          </p:nvPr>
        </p:nvSpPr>
        <p:spPr>
          <a:xfrm>
            <a:off x="5842469" y="1664375"/>
            <a:ext cx="507966" cy="507966"/>
          </a:xfrm>
          <a:prstGeom prst="roundRect">
            <a:avLst/>
          </a:prstGeom>
          <a:solidFill>
            <a:schemeClr val="accent1"/>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latin typeface="微软雅黑 Light" panose="020B0502040204020203" pitchFamily="34" charset="-122"/>
              <a:ea typeface="微软雅黑 Light" panose="020B0502040204020203" pitchFamily="34" charset="-122"/>
            </a:endParaRPr>
          </a:p>
        </p:txBody>
      </p:sp>
      <p:sp>
        <p:nvSpPr>
          <p:cNvPr id="46" name="文本框 45"/>
          <p:cNvSpPr txBox="1"/>
          <p:nvPr>
            <p:custDataLst>
              <p:tags r:id="rId3"/>
            </p:custDataLst>
          </p:nvPr>
        </p:nvSpPr>
        <p:spPr>
          <a:xfrm>
            <a:off x="5731651" y="1727330"/>
            <a:ext cx="728357" cy="400110"/>
          </a:xfrm>
          <a:prstGeom prst="rect">
            <a:avLst/>
          </a:prstGeom>
          <a:noFill/>
          <a:ln>
            <a:noFill/>
          </a:ln>
        </p:spPr>
        <p:txBody>
          <a:bodyPr wrap="square" rtlCol="0">
            <a:spAutoFit/>
          </a:bodyPr>
          <a:lstStyle/>
          <a:p>
            <a:pPr algn="ctr"/>
            <a:r>
              <a:rPr lang="en-US" altLang="zh-CN" sz="2000" b="1" dirty="0">
                <a:solidFill>
                  <a:schemeClr val="bg1"/>
                </a:solidFill>
                <a:latin typeface="微软雅黑 Light" panose="020B0502040204020203" pitchFamily="34" charset="-122"/>
                <a:ea typeface="微软雅黑 Light" panose="020B0502040204020203" pitchFamily="34" charset="-122"/>
              </a:rPr>
              <a:t>01</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7" name="矩形 46"/>
          <p:cNvSpPr/>
          <p:nvPr>
            <p:custDataLst>
              <p:tags r:id="rId4"/>
            </p:custDataLst>
          </p:nvPr>
        </p:nvSpPr>
        <p:spPr>
          <a:xfrm>
            <a:off x="6519582" y="2733506"/>
            <a:ext cx="3086299" cy="398780"/>
          </a:xfrm>
          <a:prstGeom prst="rect">
            <a:avLst/>
          </a:prstGeom>
        </p:spPr>
        <p:txBody>
          <a:bodyPr wrap="square">
            <a:spAutoFit/>
          </a:bodyPr>
          <a:lstStyle/>
          <a:p>
            <a:pPr algn="l">
              <a:lnSpc>
                <a:spcPct val="100000"/>
              </a:lnSpc>
              <a:buClrTx/>
              <a:buSzTx/>
              <a:buFontTx/>
            </a:pPr>
            <a:r>
              <a:rPr lang="zh-CN" altLang="en-US" sz="2000" b="1" dirty="0">
                <a:latin typeface="微软雅黑" panose="020B0503020204020204" pitchFamily="34" charset="-122"/>
                <a:ea typeface="微软雅黑" panose="020B0503020204020204" pitchFamily="34" charset="-122"/>
              </a:rPr>
              <a:t>研究意义</a:t>
            </a:r>
          </a:p>
        </p:txBody>
      </p:sp>
      <p:sp>
        <p:nvSpPr>
          <p:cNvPr id="49" name="矩形: 圆角 48"/>
          <p:cNvSpPr/>
          <p:nvPr>
            <p:custDataLst>
              <p:tags r:id="rId5"/>
            </p:custDataLst>
          </p:nvPr>
        </p:nvSpPr>
        <p:spPr>
          <a:xfrm>
            <a:off x="5842469" y="2676702"/>
            <a:ext cx="507966" cy="507966"/>
          </a:xfrm>
          <a:prstGeom prst="roundRect">
            <a:avLst/>
          </a:prstGeom>
          <a:solidFill>
            <a:schemeClr val="accent1"/>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latin typeface="微软雅黑 Light" panose="020B0502040204020203" pitchFamily="34" charset="-122"/>
              <a:ea typeface="微软雅黑 Light" panose="020B0502040204020203" pitchFamily="34" charset="-122"/>
            </a:endParaRPr>
          </a:p>
        </p:txBody>
      </p:sp>
      <p:sp>
        <p:nvSpPr>
          <p:cNvPr id="50" name="文本框 49"/>
          <p:cNvSpPr txBox="1"/>
          <p:nvPr>
            <p:custDataLst>
              <p:tags r:id="rId6"/>
            </p:custDataLst>
          </p:nvPr>
        </p:nvSpPr>
        <p:spPr>
          <a:xfrm>
            <a:off x="5731651" y="2739657"/>
            <a:ext cx="728357" cy="400110"/>
          </a:xfrm>
          <a:prstGeom prst="rect">
            <a:avLst/>
          </a:prstGeom>
          <a:noFill/>
          <a:ln>
            <a:noFill/>
          </a:ln>
        </p:spPr>
        <p:txBody>
          <a:bodyPr wrap="square" rtlCol="0">
            <a:spAutoFit/>
          </a:bodyPr>
          <a:lstStyle/>
          <a:p>
            <a:pPr algn="ctr"/>
            <a:r>
              <a:rPr lang="en-US" altLang="zh-CN" sz="2000" b="1" dirty="0">
                <a:solidFill>
                  <a:schemeClr val="bg1"/>
                </a:solidFill>
                <a:latin typeface="微软雅黑 Light" panose="020B0502040204020203" pitchFamily="34" charset="-122"/>
                <a:ea typeface="微软雅黑 Light" panose="020B0502040204020203" pitchFamily="34" charset="-122"/>
              </a:rPr>
              <a:t>02</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51" name="矩形 50"/>
          <p:cNvSpPr/>
          <p:nvPr>
            <p:custDataLst>
              <p:tags r:id="rId7"/>
            </p:custDataLst>
          </p:nvPr>
        </p:nvSpPr>
        <p:spPr>
          <a:xfrm>
            <a:off x="6519125" y="3738620"/>
            <a:ext cx="3804359" cy="398780"/>
          </a:xfrm>
          <a:prstGeom prst="rect">
            <a:avLst/>
          </a:prstGeom>
        </p:spPr>
        <p:txBody>
          <a:bodyPr wrap="square">
            <a:spAutoFit/>
          </a:bodyPr>
          <a:lstStyle/>
          <a:p>
            <a:pPr algn="l">
              <a:lnSpc>
                <a:spcPct val="100000"/>
              </a:lnSpc>
              <a:buClrTx/>
              <a:buSzTx/>
              <a:buFontTx/>
            </a:pPr>
            <a:r>
              <a:rPr lang="zh-CN" altLang="en-US" sz="2000" b="1" dirty="0">
                <a:latin typeface="微软雅黑" panose="020B0503020204020204" pitchFamily="34" charset="-122"/>
                <a:ea typeface="微软雅黑" panose="020B0503020204020204" pitchFamily="34" charset="-122"/>
              </a:rPr>
              <a:t>系统架构</a:t>
            </a:r>
          </a:p>
        </p:txBody>
      </p:sp>
      <p:sp>
        <p:nvSpPr>
          <p:cNvPr id="53" name="矩形: 圆角 52"/>
          <p:cNvSpPr/>
          <p:nvPr>
            <p:custDataLst>
              <p:tags r:id="rId8"/>
            </p:custDataLst>
          </p:nvPr>
        </p:nvSpPr>
        <p:spPr>
          <a:xfrm>
            <a:off x="5842012" y="3681815"/>
            <a:ext cx="507966" cy="507966"/>
          </a:xfrm>
          <a:prstGeom prst="roundRect">
            <a:avLst/>
          </a:prstGeom>
          <a:solidFill>
            <a:schemeClr val="accent1"/>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latin typeface="微软雅黑 Light" panose="020B0502040204020203" pitchFamily="34" charset="-122"/>
              <a:ea typeface="微软雅黑 Light" panose="020B0502040204020203" pitchFamily="34" charset="-122"/>
            </a:endParaRPr>
          </a:p>
        </p:txBody>
      </p:sp>
      <p:sp>
        <p:nvSpPr>
          <p:cNvPr id="54" name="文本框 53"/>
          <p:cNvSpPr txBox="1"/>
          <p:nvPr>
            <p:custDataLst>
              <p:tags r:id="rId9"/>
            </p:custDataLst>
          </p:nvPr>
        </p:nvSpPr>
        <p:spPr>
          <a:xfrm>
            <a:off x="5731194" y="3744770"/>
            <a:ext cx="728357" cy="400110"/>
          </a:xfrm>
          <a:prstGeom prst="rect">
            <a:avLst/>
          </a:prstGeom>
          <a:noFill/>
        </p:spPr>
        <p:txBody>
          <a:bodyPr wrap="square" rtlCol="0">
            <a:spAutoFit/>
          </a:bodyPr>
          <a:lstStyle/>
          <a:p>
            <a:pPr algn="ctr"/>
            <a:r>
              <a:rPr lang="en-US" altLang="zh-CN" sz="2000" b="1" dirty="0">
                <a:solidFill>
                  <a:schemeClr val="bg1"/>
                </a:solidFill>
                <a:latin typeface="微软雅黑 Light" panose="020B0502040204020203" pitchFamily="34" charset="-122"/>
                <a:ea typeface="微软雅黑 Light" panose="020B0502040204020203" pitchFamily="34" charset="-122"/>
              </a:rPr>
              <a:t>03</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55" name="矩形 54"/>
          <p:cNvSpPr/>
          <p:nvPr>
            <p:custDataLst>
              <p:tags r:id="rId10"/>
            </p:custDataLst>
          </p:nvPr>
        </p:nvSpPr>
        <p:spPr>
          <a:xfrm>
            <a:off x="6519761" y="4596133"/>
            <a:ext cx="3528588" cy="629920"/>
          </a:xfrm>
          <a:prstGeom prst="rect">
            <a:avLst/>
          </a:prstGeom>
        </p:spPr>
        <p:txBody>
          <a:bodyPr wrap="square">
            <a:spAutoFit/>
          </a:bodyPr>
          <a:lstStyle/>
          <a:p>
            <a:pPr>
              <a:lnSpc>
                <a:spcPct val="175000"/>
              </a:lnSpc>
            </a:pPr>
            <a:r>
              <a:rPr lang="zh-CN" altLang="en-US" sz="2000" b="1" dirty="0">
                <a:solidFill>
                  <a:schemeClr val="tx1"/>
                </a:solidFill>
                <a:latin typeface="微软雅黑" panose="020B0503020204020204" pitchFamily="34" charset="-122"/>
                <a:ea typeface="微软雅黑" panose="020B0503020204020204" pitchFamily="34" charset="-122"/>
              </a:rPr>
              <a:t>核心创新</a:t>
            </a:r>
          </a:p>
        </p:txBody>
      </p:sp>
      <p:sp>
        <p:nvSpPr>
          <p:cNvPr id="57" name="矩形: 圆角 56"/>
          <p:cNvSpPr/>
          <p:nvPr>
            <p:custDataLst>
              <p:tags r:id="rId11"/>
            </p:custDataLst>
          </p:nvPr>
        </p:nvSpPr>
        <p:spPr>
          <a:xfrm>
            <a:off x="5842012" y="4720641"/>
            <a:ext cx="507966" cy="507966"/>
          </a:xfrm>
          <a:prstGeom prst="roundRect">
            <a:avLst/>
          </a:prstGeom>
          <a:solidFill>
            <a:schemeClr val="accent1"/>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latin typeface="微软雅黑 Light" panose="020B0502040204020203" pitchFamily="34" charset="-122"/>
              <a:ea typeface="微软雅黑 Light" panose="020B0502040204020203" pitchFamily="34" charset="-122"/>
            </a:endParaRPr>
          </a:p>
        </p:txBody>
      </p:sp>
      <p:sp>
        <p:nvSpPr>
          <p:cNvPr id="58" name="文本框 57"/>
          <p:cNvSpPr txBox="1"/>
          <p:nvPr>
            <p:custDataLst>
              <p:tags r:id="rId12"/>
            </p:custDataLst>
          </p:nvPr>
        </p:nvSpPr>
        <p:spPr>
          <a:xfrm>
            <a:off x="5731194" y="4783596"/>
            <a:ext cx="728357" cy="400110"/>
          </a:xfrm>
          <a:prstGeom prst="rect">
            <a:avLst/>
          </a:prstGeom>
          <a:noFill/>
        </p:spPr>
        <p:txBody>
          <a:bodyPr wrap="square" rtlCol="0">
            <a:spAutoFit/>
          </a:bodyPr>
          <a:lstStyle/>
          <a:p>
            <a:pPr algn="ctr"/>
            <a:r>
              <a:rPr lang="en-US" altLang="zh-CN" sz="2000" b="1" dirty="0">
                <a:solidFill>
                  <a:schemeClr val="bg1"/>
                </a:solidFill>
                <a:latin typeface="微软雅黑 Light" panose="020B0502040204020203" pitchFamily="34" charset="-122"/>
                <a:ea typeface="微软雅黑 Light" panose="020B0502040204020203" pitchFamily="34" charset="-122"/>
              </a:rPr>
              <a:t>04</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60" name="文本框 59"/>
          <p:cNvSpPr txBox="1"/>
          <p:nvPr/>
        </p:nvSpPr>
        <p:spPr>
          <a:xfrm>
            <a:off x="2893586" y="2688277"/>
            <a:ext cx="2261883" cy="1141082"/>
          </a:xfrm>
          <a:prstGeom prst="rect">
            <a:avLst/>
          </a:prstGeom>
          <a:noFill/>
        </p:spPr>
        <p:txBody>
          <a:bodyPr wrap="square" rtlCol="0">
            <a:spAutoFit/>
          </a:bodyPr>
          <a:lstStyle/>
          <a:p>
            <a:pPr algn="dist">
              <a:lnSpc>
                <a:spcPct val="125000"/>
              </a:lnSpc>
            </a:pPr>
            <a:r>
              <a:rPr lang="zh-CN" altLang="en-US" sz="6000" b="1" dirty="0">
                <a:solidFill>
                  <a:schemeClr val="tx1"/>
                </a:solidFill>
                <a:latin typeface="微软雅黑" panose="020B0503020204020204" pitchFamily="34" charset="-122"/>
                <a:ea typeface="微软雅黑" panose="020B0503020204020204" pitchFamily="34" charset="-122"/>
                <a:cs typeface="Arial" panose="020B0604020202020204" pitchFamily="34" charset="0"/>
              </a:rPr>
              <a:t>目 录</a:t>
            </a:r>
          </a:p>
        </p:txBody>
      </p:sp>
      <p:sp>
        <p:nvSpPr>
          <p:cNvPr id="2" name="矩形 1"/>
          <p:cNvSpPr/>
          <p:nvPr>
            <p:custDataLst>
              <p:tags r:id="rId13"/>
            </p:custDataLst>
          </p:nvPr>
        </p:nvSpPr>
        <p:spPr>
          <a:xfrm>
            <a:off x="9012592" y="1773520"/>
            <a:ext cx="3269713" cy="398780"/>
          </a:xfrm>
          <a:prstGeom prst="rect">
            <a:avLst/>
          </a:prstGeom>
        </p:spPr>
        <p:txBody>
          <a:bodyPr wrap="square">
            <a:spAutoFit/>
          </a:bodyPr>
          <a:lstStyle/>
          <a:p>
            <a:r>
              <a:rPr lang="zh-CN" altLang="en-US" sz="2000" b="1" dirty="0">
                <a:solidFill>
                  <a:schemeClr val="tx1"/>
                </a:solidFill>
                <a:latin typeface="微软雅黑" panose="020B0503020204020204" pitchFamily="34" charset="-122"/>
                <a:ea typeface="微软雅黑" panose="020B0503020204020204" pitchFamily="34" charset="-122"/>
              </a:rPr>
              <a:t>实验结果</a:t>
            </a:r>
          </a:p>
        </p:txBody>
      </p:sp>
      <p:sp>
        <p:nvSpPr>
          <p:cNvPr id="3" name="矩形: 圆角 44"/>
          <p:cNvSpPr/>
          <p:nvPr>
            <p:custDataLst>
              <p:tags r:id="rId14"/>
            </p:custDataLst>
          </p:nvPr>
        </p:nvSpPr>
        <p:spPr>
          <a:xfrm>
            <a:off x="8335479" y="1709460"/>
            <a:ext cx="507966" cy="507966"/>
          </a:xfrm>
          <a:prstGeom prst="roundRect">
            <a:avLst/>
          </a:prstGeom>
          <a:solidFill>
            <a:schemeClr val="accent1"/>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latin typeface="微软雅黑 Light" panose="020B0502040204020203" pitchFamily="34" charset="-122"/>
              <a:ea typeface="微软雅黑 Light" panose="020B0502040204020203" pitchFamily="34" charset="-122"/>
            </a:endParaRPr>
          </a:p>
        </p:txBody>
      </p:sp>
      <p:sp>
        <p:nvSpPr>
          <p:cNvPr id="6" name="文本框 5"/>
          <p:cNvSpPr txBox="1"/>
          <p:nvPr>
            <p:custDataLst>
              <p:tags r:id="rId15"/>
            </p:custDataLst>
          </p:nvPr>
        </p:nvSpPr>
        <p:spPr>
          <a:xfrm>
            <a:off x="8224661" y="1772415"/>
            <a:ext cx="728357" cy="398780"/>
          </a:xfrm>
          <a:prstGeom prst="rect">
            <a:avLst/>
          </a:prstGeom>
          <a:noFill/>
          <a:ln>
            <a:noFill/>
          </a:ln>
        </p:spPr>
        <p:txBody>
          <a:bodyPr wrap="square" rtlCol="0">
            <a:spAutoFit/>
          </a:bodyPr>
          <a:lstStyle/>
          <a:p>
            <a:pPr algn="ctr"/>
            <a:r>
              <a:rPr lang="en-US" altLang="zh-CN" sz="2000" b="1" dirty="0">
                <a:solidFill>
                  <a:schemeClr val="bg1"/>
                </a:solidFill>
                <a:latin typeface="微软雅黑 Light" panose="020B0502040204020203" pitchFamily="34" charset="-122"/>
                <a:ea typeface="微软雅黑 Light" panose="020B0502040204020203" pitchFamily="34" charset="-122"/>
              </a:rPr>
              <a:t>05</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7" name="矩形 6"/>
          <p:cNvSpPr/>
          <p:nvPr>
            <p:custDataLst>
              <p:tags r:id="rId16"/>
            </p:custDataLst>
          </p:nvPr>
        </p:nvSpPr>
        <p:spPr>
          <a:xfrm>
            <a:off x="9012592" y="2748245"/>
            <a:ext cx="3269713" cy="398780"/>
          </a:xfrm>
          <a:prstGeom prst="rect">
            <a:avLst/>
          </a:prstGeom>
        </p:spPr>
        <p:txBody>
          <a:bodyPr wrap="square">
            <a:spAutoFit/>
          </a:bodyPr>
          <a:lstStyle/>
          <a:p>
            <a:r>
              <a:rPr lang="zh-CN" altLang="en-US" sz="2000" b="1" dirty="0">
                <a:solidFill>
                  <a:schemeClr val="tx1"/>
                </a:solidFill>
                <a:latin typeface="微软雅黑" panose="020B0503020204020204" pitchFamily="34" charset="-122"/>
                <a:ea typeface="微软雅黑" panose="020B0503020204020204" pitchFamily="34" charset="-122"/>
              </a:rPr>
              <a:t>总结与展望</a:t>
            </a:r>
          </a:p>
        </p:txBody>
      </p:sp>
      <p:sp>
        <p:nvSpPr>
          <p:cNvPr id="11" name="矩形: 圆角 44"/>
          <p:cNvSpPr/>
          <p:nvPr>
            <p:custDataLst>
              <p:tags r:id="rId17"/>
            </p:custDataLst>
          </p:nvPr>
        </p:nvSpPr>
        <p:spPr>
          <a:xfrm>
            <a:off x="8335479" y="2684185"/>
            <a:ext cx="507966" cy="507966"/>
          </a:xfrm>
          <a:prstGeom prst="roundRect">
            <a:avLst/>
          </a:prstGeom>
          <a:solidFill>
            <a:schemeClr val="accent1"/>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latin typeface="微软雅黑 Light" panose="020B0502040204020203" pitchFamily="34" charset="-122"/>
              <a:ea typeface="微软雅黑 Light" panose="020B0502040204020203" pitchFamily="34" charset="-122"/>
            </a:endParaRPr>
          </a:p>
        </p:txBody>
      </p:sp>
      <p:sp>
        <p:nvSpPr>
          <p:cNvPr id="12" name="文本框 11"/>
          <p:cNvSpPr txBox="1"/>
          <p:nvPr>
            <p:custDataLst>
              <p:tags r:id="rId18"/>
            </p:custDataLst>
          </p:nvPr>
        </p:nvSpPr>
        <p:spPr>
          <a:xfrm>
            <a:off x="8224661" y="2747140"/>
            <a:ext cx="728357" cy="398780"/>
          </a:xfrm>
          <a:prstGeom prst="rect">
            <a:avLst/>
          </a:prstGeom>
          <a:noFill/>
          <a:ln>
            <a:noFill/>
          </a:ln>
        </p:spPr>
        <p:txBody>
          <a:bodyPr wrap="square" rtlCol="0">
            <a:spAutoFit/>
          </a:bodyPr>
          <a:lstStyle/>
          <a:p>
            <a:pPr algn="ctr"/>
            <a:r>
              <a:rPr lang="en-US" altLang="zh-CN" sz="2000" b="1" dirty="0">
                <a:solidFill>
                  <a:schemeClr val="bg1"/>
                </a:solidFill>
                <a:latin typeface="微软雅黑 Light" panose="020B0502040204020203" pitchFamily="34" charset="-122"/>
                <a:ea typeface="微软雅黑 Light" panose="020B0502040204020203" pitchFamily="34" charset="-122"/>
              </a:rPr>
              <a:t>06</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文本框 19"/>
          <p:cNvSpPr txBox="1"/>
          <p:nvPr/>
        </p:nvSpPr>
        <p:spPr>
          <a:xfrm>
            <a:off x="629331" y="295379"/>
            <a:ext cx="3426179" cy="583565"/>
          </a:xfrm>
          <a:prstGeom prst="rect">
            <a:avLst/>
          </a:prstGeom>
          <a:noFill/>
        </p:spPr>
        <p:txBody>
          <a:bodyPr wrap="square" rtlCol="0">
            <a:spAutoFit/>
          </a:bodyPr>
          <a:lstStyle/>
          <a:p>
            <a:pPr lvl="0">
              <a:defRPr/>
            </a:pPr>
            <a:r>
              <a:rPr lang="zh-CN" altLang="en-US" sz="3200" b="1" dirty="0">
                <a:solidFill>
                  <a:schemeClr val="tx1"/>
                </a:solidFill>
                <a:latin typeface="微软雅黑" panose="020B0503020204020204" pitchFamily="34" charset="-122"/>
                <a:ea typeface="微软雅黑" panose="020B0503020204020204" pitchFamily="34" charset="-122"/>
              </a:rPr>
              <a:t>背景与问题</a:t>
            </a:r>
          </a:p>
        </p:txBody>
      </p:sp>
      <p:sp>
        <p:nvSpPr>
          <p:cNvPr id="22" name="矩形: 圆角 21"/>
          <p:cNvSpPr/>
          <p:nvPr/>
        </p:nvSpPr>
        <p:spPr>
          <a:xfrm flipH="1">
            <a:off x="-218450" y="224311"/>
            <a:ext cx="739545" cy="724771"/>
          </a:xfrm>
          <a:prstGeom prst="roundRect">
            <a:avLst>
              <a:gd name="adj" fmla="val 1461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lumMod val="75000"/>
                  <a:lumOff val="25000"/>
                </a:schemeClr>
              </a:solidFill>
            </a:endParaRPr>
          </a:p>
        </p:txBody>
      </p:sp>
      <p:sp>
        <p:nvSpPr>
          <p:cNvPr id="5" name="文本框 4"/>
          <p:cNvSpPr txBox="1"/>
          <p:nvPr/>
        </p:nvSpPr>
        <p:spPr>
          <a:xfrm>
            <a:off x="659765" y="1284605"/>
            <a:ext cx="9721215" cy="398780"/>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altLang="zh-CN" sz="2000" b="1" dirty="0">
                <a:solidFill>
                  <a:schemeClr val="tx1"/>
                </a:solidFill>
                <a:uFillTx/>
                <a:latin typeface="Times New Roman" panose="02020603050405020304" charset="0"/>
                <a:ea typeface="微软雅黑" panose="020B0503020204020204" pitchFamily="34" charset="-122"/>
                <a:cs typeface="Times New Roman" panose="02020603050405020304" charset="0"/>
              </a:rPr>
              <a:t>1.</a:t>
            </a:r>
            <a:r>
              <a:rPr lang="zh-CN" altLang="en-US" sz="2000" b="1" dirty="0">
                <a:solidFill>
                  <a:schemeClr val="tx1"/>
                </a:solidFill>
                <a:uFillTx/>
                <a:latin typeface="Times New Roman" panose="02020603050405020304" charset="0"/>
                <a:ea typeface="微软雅黑" panose="020B0503020204020204" pitchFamily="34" charset="-122"/>
                <a:cs typeface="Times New Roman" panose="02020603050405020304" charset="0"/>
              </a:rPr>
              <a:t>数据隐私困境</a:t>
            </a:r>
          </a:p>
        </p:txBody>
      </p:sp>
      <p:sp>
        <p:nvSpPr>
          <p:cNvPr id="6" name="文本框 5"/>
          <p:cNvSpPr txBox="1"/>
          <p:nvPr/>
        </p:nvSpPr>
        <p:spPr>
          <a:xfrm>
            <a:off x="717550" y="1888490"/>
            <a:ext cx="9663430" cy="4074160"/>
          </a:xfrm>
          <a:prstGeom prst="rect">
            <a:avLst/>
          </a:prstGeom>
        </p:spPr>
        <p:txBody>
          <a:bodyPr wrap="square">
            <a:spAutoFit/>
          </a:bodyPr>
          <a:lstStyle/>
          <a:p>
            <a:pPr marL="285750" indent="-285750" algn="just">
              <a:lnSpc>
                <a:spcPct val="120000"/>
              </a:lnSpc>
              <a:buClrTx/>
              <a:buSzTx/>
              <a:buFont typeface="Arial" panose="020B0604020202020204" pitchFamily="34" charset="0"/>
              <a:buChar char="•"/>
            </a:pPr>
            <a:r>
              <a:rPr b="1">
                <a:solidFill>
                  <a:schemeClr val="tx1"/>
                </a:solidFill>
                <a:uFillTx/>
                <a:latin typeface="Times New Roman" panose="02020603050405020304" charset="0"/>
                <a:ea typeface="微软雅黑" panose="020B0503020204020204" pitchFamily="34" charset="-122"/>
                <a:sym typeface="+mn-ea"/>
              </a:rPr>
              <a:t>数</a:t>
            </a:r>
            <a:r>
              <a:rPr b="1">
                <a:uFillTx/>
                <a:latin typeface="Times New Roman" panose="02020603050405020304" charset="0"/>
                <a:ea typeface="微软雅黑" panose="020B0503020204020204" pitchFamily="34" charset="-122"/>
                <a:sym typeface="+mn-ea"/>
              </a:rPr>
              <a:t>据越多模型越准，数据越敏感越难共享</a:t>
            </a:r>
            <a:endParaRPr b="1">
              <a:solidFill>
                <a:schemeClr val="tx1"/>
              </a:solidFill>
              <a:uFillTx/>
              <a:latin typeface="Times New Roman" panose="02020603050405020304" charset="0"/>
              <a:ea typeface="微软雅黑" panose="020B0503020204020204" pitchFamily="34" charset="-122"/>
              <a:sym typeface="+mn-ea"/>
            </a:endParaRPr>
          </a:p>
          <a:p>
            <a:pPr indent="0" algn="just">
              <a:lnSpc>
                <a:spcPct val="120000"/>
              </a:lnSpc>
              <a:buClrTx/>
              <a:buSzTx/>
              <a:buFont typeface="Arial" panose="020B0604020202020204" pitchFamily="34" charset="0"/>
              <a:buNone/>
            </a:pPr>
            <a:r>
              <a:rPr lang="zh-CN" altLang="en-US" sz="1600">
                <a:solidFill>
                  <a:schemeClr val="tx1"/>
                </a:solidFill>
                <a:uFillTx/>
                <a:latin typeface="Times New Roman" panose="02020603050405020304" charset="0"/>
                <a:ea typeface="微软雅黑" panose="020B0503020204020204" pitchFamily="34" charset="-122"/>
              </a:rPr>
              <a:t>在机器学习时代，</a:t>
            </a:r>
            <a:r>
              <a:rPr lang="en-US" altLang="zh-CN" sz="1600">
                <a:solidFill>
                  <a:schemeClr val="tx1"/>
                </a:solidFill>
                <a:uFillTx/>
                <a:latin typeface="Times New Roman" panose="02020603050405020304" charset="0"/>
                <a:ea typeface="微软雅黑" panose="020B0503020204020204" pitchFamily="34" charset="-122"/>
              </a:rPr>
              <a:t>“</a:t>
            </a:r>
            <a:r>
              <a:rPr lang="zh-CN" altLang="en-US" sz="1600">
                <a:solidFill>
                  <a:schemeClr val="tx1"/>
                </a:solidFill>
                <a:uFillTx/>
                <a:latin typeface="Times New Roman" panose="02020603050405020304" charset="0"/>
                <a:ea typeface="微软雅黑" panose="020B0503020204020204" pitchFamily="34" charset="-122"/>
              </a:rPr>
              <a:t>数据就是燃料</a:t>
            </a:r>
            <a:r>
              <a:rPr lang="en-US" altLang="zh-CN" sz="1600">
                <a:solidFill>
                  <a:schemeClr val="tx1"/>
                </a:solidFill>
                <a:uFillTx/>
                <a:latin typeface="Times New Roman" panose="02020603050405020304" charset="0"/>
                <a:ea typeface="微软雅黑" panose="020B0503020204020204" pitchFamily="34" charset="-122"/>
              </a:rPr>
              <a:t>”</a:t>
            </a:r>
            <a:r>
              <a:rPr lang="zh-CN" altLang="en-US" sz="1600">
                <a:solidFill>
                  <a:schemeClr val="tx1"/>
                </a:solidFill>
                <a:uFillTx/>
                <a:latin typeface="Times New Roman" panose="02020603050405020304" charset="0"/>
                <a:ea typeface="微软雅黑" panose="020B0503020204020204" pitchFamily="34" charset="-122"/>
              </a:rPr>
              <a:t>。模型的准确率高度依赖于数据量与多样性。</a:t>
            </a:r>
          </a:p>
          <a:p>
            <a:pPr marL="285750" indent="-285750" algn="just">
              <a:lnSpc>
                <a:spcPct val="120000"/>
              </a:lnSpc>
              <a:buClrTx/>
              <a:buSzTx/>
              <a:buFont typeface="Arial" panose="020B0604020202020204" pitchFamily="34" charset="0"/>
              <a:buChar char="•"/>
            </a:pPr>
            <a:r>
              <a:rPr b="1">
                <a:uFillTx/>
                <a:latin typeface="Times New Roman" panose="02020603050405020304" charset="0"/>
                <a:ea typeface="微软雅黑" panose="020B0503020204020204" pitchFamily="34" charset="-122"/>
                <a:sym typeface="+mn-ea"/>
              </a:rPr>
              <a:t>数据分散在不同机构（医疗、金融、政府等）</a:t>
            </a:r>
            <a:endParaRPr>
              <a:solidFill>
                <a:schemeClr val="tx1"/>
              </a:solidFill>
              <a:uFillTx/>
              <a:latin typeface="Times New Roman" panose="02020603050405020304" charset="0"/>
              <a:ea typeface="微软雅黑" panose="020B0503020204020204" pitchFamily="34" charset="-122"/>
              <a:sym typeface="+mn-ea"/>
            </a:endParaRPr>
          </a:p>
          <a:p>
            <a:pPr indent="0" algn="just">
              <a:lnSpc>
                <a:spcPct val="120000"/>
              </a:lnSpc>
              <a:buClrTx/>
              <a:buSzTx/>
              <a:buFont typeface="Arial" panose="020B0604020202020204" pitchFamily="34" charset="0"/>
              <a:buNone/>
            </a:pPr>
            <a:r>
              <a:rPr lang="zh-CN" altLang="en-US" sz="1600">
                <a:uFillTx/>
                <a:latin typeface="Times New Roman" panose="02020603050405020304" charset="0"/>
                <a:ea typeface="微软雅黑" panose="020B0503020204020204" pitchFamily="34" charset="-122"/>
                <a:sym typeface="+mn-ea"/>
              </a:rPr>
              <a:t>然而，现实中的数据往往分散在不同机构手中</a:t>
            </a:r>
            <a:r>
              <a:rPr lang="en-US" altLang="zh-CN" sz="1600">
                <a:uFillTx/>
                <a:latin typeface="Times New Roman" panose="02020603050405020304" charset="0"/>
                <a:ea typeface="微软雅黑" panose="020B0503020204020204" pitchFamily="34" charset="-122"/>
                <a:sym typeface="+mn-ea"/>
              </a:rPr>
              <a:t>——</a:t>
            </a:r>
            <a:r>
              <a:rPr lang="zh-CN" altLang="en-US" sz="1600">
                <a:uFillTx/>
                <a:latin typeface="Times New Roman" panose="02020603050405020304" charset="0"/>
                <a:ea typeface="微软雅黑" panose="020B0503020204020204" pitchFamily="34" charset="-122"/>
                <a:sym typeface="+mn-ea"/>
              </a:rPr>
              <a:t>医院拥有病历，银行有交易记录，电商掌握消费行为。这些数据一旦结合，就能训练出更强大的预测模型。但是，隐私保护与法律合规成了拦路虎。</a:t>
            </a:r>
            <a:endParaRPr lang="zh-CN" altLang="en-US" sz="1600">
              <a:solidFill>
                <a:schemeClr val="tx1"/>
              </a:solidFill>
              <a:uFillTx/>
              <a:latin typeface="Times New Roman" panose="02020603050405020304" charset="0"/>
              <a:ea typeface="微软雅黑" panose="020B0503020204020204" pitchFamily="34" charset="-122"/>
            </a:endParaRPr>
          </a:p>
          <a:p>
            <a:pPr marL="285750" indent="-285750" algn="just">
              <a:lnSpc>
                <a:spcPct val="120000"/>
              </a:lnSpc>
              <a:buClrTx/>
              <a:buSzTx/>
              <a:buFont typeface="Arial" panose="020B0604020202020204" pitchFamily="34" charset="0"/>
              <a:buChar char="•"/>
            </a:pPr>
            <a:r>
              <a:rPr b="1">
                <a:solidFill>
                  <a:schemeClr val="tx1"/>
                </a:solidFill>
                <a:uFillTx/>
                <a:latin typeface="Times New Roman" panose="02020603050405020304" charset="0"/>
                <a:ea typeface="微软雅黑" panose="020B0503020204020204" pitchFamily="34" charset="-122"/>
                <a:sym typeface="+mn-ea"/>
              </a:rPr>
              <a:t>法规限制（GDPR、个人信息保护法）导致数据孤岛</a:t>
            </a:r>
          </a:p>
          <a:p>
            <a:pPr indent="0" algn="just">
              <a:lnSpc>
                <a:spcPct val="120000"/>
              </a:lnSpc>
              <a:buClrTx/>
              <a:buSzTx/>
              <a:buFont typeface="Arial" panose="020B0604020202020204" pitchFamily="34" charset="0"/>
              <a:buNone/>
            </a:pPr>
            <a:r>
              <a:rPr lang="zh-CN" altLang="en-US" sz="1600">
                <a:solidFill>
                  <a:schemeClr val="tx1"/>
                </a:solidFill>
                <a:uFillTx/>
                <a:latin typeface="Times New Roman" panose="02020603050405020304" charset="0"/>
                <a:ea typeface="微软雅黑" panose="020B0503020204020204" pitchFamily="34" charset="-122"/>
              </a:rPr>
              <a:t>以医疗场景为例：</a:t>
            </a:r>
          </a:p>
          <a:p>
            <a:pPr indent="0" algn="just">
              <a:lnSpc>
                <a:spcPct val="120000"/>
              </a:lnSpc>
              <a:buClrTx/>
              <a:buSzTx/>
              <a:buFont typeface="Arial" panose="020B0604020202020204" pitchFamily="34" charset="0"/>
              <a:buNone/>
            </a:pPr>
            <a:r>
              <a:rPr lang="zh-CN" altLang="en-US" sz="1600">
                <a:solidFill>
                  <a:schemeClr val="tx1"/>
                </a:solidFill>
                <a:uFillTx/>
                <a:latin typeface="Times New Roman" panose="02020603050405020304" charset="0"/>
                <a:ea typeface="微软雅黑" panose="020B0503020204020204" pitchFamily="34" charset="-122"/>
              </a:rPr>
              <a:t>假设三家医院想合作训练一个疾病预测模型。</a:t>
            </a:r>
          </a:p>
          <a:p>
            <a:pPr indent="0" algn="just">
              <a:lnSpc>
                <a:spcPct val="120000"/>
              </a:lnSpc>
              <a:buClrTx/>
              <a:buSzTx/>
              <a:buFont typeface="Arial" panose="020B0604020202020204" pitchFamily="34" charset="0"/>
              <a:buNone/>
            </a:pPr>
            <a:r>
              <a:rPr lang="zh-CN" altLang="en-US" sz="1600">
                <a:solidFill>
                  <a:schemeClr val="tx1"/>
                </a:solidFill>
                <a:uFillTx/>
                <a:latin typeface="Times New Roman" panose="02020603050405020304" charset="0"/>
                <a:ea typeface="微软雅黑" panose="020B0503020204020204" pitchFamily="34" charset="-122"/>
              </a:rPr>
              <a:t>但病历中包含个人身份、遗传信息和治疗历史，受《</a:t>
            </a:r>
            <a:r>
              <a:rPr lang="en-US" altLang="zh-CN" sz="1600">
                <a:solidFill>
                  <a:schemeClr val="tx1"/>
                </a:solidFill>
                <a:uFillTx/>
                <a:latin typeface="Times New Roman" panose="02020603050405020304" charset="0"/>
                <a:ea typeface="微软雅黑" panose="020B0503020204020204" pitchFamily="34" charset="-122"/>
              </a:rPr>
              <a:t>GDPR</a:t>
            </a:r>
            <a:r>
              <a:rPr lang="zh-CN" altLang="en-US" sz="1600">
                <a:solidFill>
                  <a:schemeClr val="tx1"/>
                </a:solidFill>
                <a:uFillTx/>
                <a:latin typeface="Times New Roman" panose="02020603050405020304" charset="0"/>
                <a:ea typeface="微软雅黑" panose="020B0503020204020204" pitchFamily="34" charset="-122"/>
              </a:rPr>
              <a:t>》和《个人信息保护法》约束，医院之间不能直接交换原始数据。</a:t>
            </a:r>
          </a:p>
          <a:p>
            <a:pPr indent="0" algn="just">
              <a:lnSpc>
                <a:spcPct val="120000"/>
              </a:lnSpc>
              <a:buClrTx/>
              <a:buSzTx/>
              <a:buFont typeface="Arial" panose="020B0604020202020204" pitchFamily="34" charset="0"/>
              <a:buNone/>
            </a:pPr>
            <a:r>
              <a:rPr lang="zh-CN" altLang="en-US" sz="1600">
                <a:solidFill>
                  <a:schemeClr val="tx1"/>
                </a:solidFill>
                <a:uFillTx/>
                <a:latin typeface="Times New Roman" panose="02020603050405020304" charset="0"/>
                <a:ea typeface="微软雅黑" panose="020B0503020204020204" pitchFamily="34" charset="-122"/>
              </a:rPr>
              <a:t>金融领域也是同样：银行希望与支付公司共享欺诈交易样本，但客户的账户数据具有高度敏感性。这种无法共享的现象被称为</a:t>
            </a:r>
            <a:r>
              <a:rPr lang="en-US" altLang="zh-CN" sz="1600">
                <a:solidFill>
                  <a:schemeClr val="tx1"/>
                </a:solidFill>
                <a:uFillTx/>
                <a:latin typeface="Times New Roman" panose="02020603050405020304" charset="0"/>
                <a:ea typeface="微软雅黑" panose="020B0503020204020204" pitchFamily="34" charset="-122"/>
              </a:rPr>
              <a:t>“</a:t>
            </a:r>
            <a:r>
              <a:rPr lang="zh-CN" altLang="en-US" sz="1600">
                <a:solidFill>
                  <a:schemeClr val="tx1"/>
                </a:solidFill>
                <a:uFillTx/>
                <a:latin typeface="Times New Roman" panose="02020603050405020304" charset="0"/>
                <a:ea typeface="微软雅黑" panose="020B0503020204020204" pitchFamily="34" charset="-122"/>
              </a:rPr>
              <a:t>数据孤岛</a:t>
            </a:r>
            <a:r>
              <a:rPr lang="en-US" altLang="zh-CN" sz="1600">
                <a:solidFill>
                  <a:schemeClr val="tx1"/>
                </a:solidFill>
                <a:uFillTx/>
                <a:latin typeface="Times New Roman" panose="02020603050405020304" charset="0"/>
                <a:ea typeface="微软雅黑" panose="020B0503020204020204" pitchFamily="34" charset="-122"/>
              </a:rPr>
              <a:t>”</a:t>
            </a:r>
            <a:r>
              <a:rPr lang="zh-CN" altLang="en-US" sz="1600">
                <a:solidFill>
                  <a:schemeClr val="tx1"/>
                </a:solidFill>
                <a:uFillTx/>
                <a:latin typeface="Times New Roman" panose="02020603050405020304" charset="0"/>
                <a:ea typeface="微软雅黑" panose="020B0503020204020204" pitchFamily="34" charset="-122"/>
              </a:rPr>
              <a:t>。</a:t>
            </a:r>
            <a:endParaRPr lang="en-US" altLang="zh-CN" b="1">
              <a:solidFill>
                <a:schemeClr val="tx1"/>
              </a:solidFill>
              <a:uFillTx/>
              <a:latin typeface="Times New Roman" panose="02020603050405020304" charset="0"/>
              <a:ea typeface="微软雅黑" panose="020B0503020204020204" pitchFamily="34" charset="-122"/>
            </a:endParaRPr>
          </a:p>
          <a:p>
            <a:pPr marL="285750" indent="-285750" algn="just">
              <a:lnSpc>
                <a:spcPct val="120000"/>
              </a:lnSpc>
              <a:buClrTx/>
              <a:buSzTx/>
              <a:buFont typeface="Arial" panose="020B0604020202020204" pitchFamily="34" charset="0"/>
              <a:buChar char="•"/>
            </a:pPr>
            <a:r>
              <a:rPr b="1">
                <a:solidFill>
                  <a:schemeClr val="tx1"/>
                </a:solidFill>
                <a:uFillTx/>
                <a:latin typeface="Times New Roman" panose="02020603050405020304" charset="0"/>
                <a:ea typeface="微软雅黑" panose="020B0503020204020204" pitchFamily="34" charset="-122"/>
                <a:sym typeface="+mn-ea"/>
              </a:rPr>
              <a:t>隐私保护成为机器学习瓶颈</a:t>
            </a:r>
            <a:endParaRPr lang="zh-CN" altLang="en-US" b="1"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文本框 19"/>
          <p:cNvSpPr txBox="1"/>
          <p:nvPr/>
        </p:nvSpPr>
        <p:spPr>
          <a:xfrm>
            <a:off x="629331" y="295379"/>
            <a:ext cx="3426179" cy="583565"/>
          </a:xfrm>
          <a:prstGeom prst="rect">
            <a:avLst/>
          </a:prstGeom>
          <a:noFill/>
        </p:spPr>
        <p:txBody>
          <a:bodyPr wrap="square" rtlCol="0">
            <a:spAutoFit/>
          </a:bodyPr>
          <a:lstStyle/>
          <a:p>
            <a:pPr lvl="0">
              <a:defRPr/>
            </a:pPr>
            <a:r>
              <a:rPr lang="zh-CN" altLang="en-US" sz="3200" b="1" dirty="0">
                <a:solidFill>
                  <a:schemeClr val="tx1"/>
                </a:solidFill>
                <a:latin typeface="微软雅黑" panose="020B0503020204020204" pitchFamily="34" charset="-122"/>
                <a:ea typeface="微软雅黑" panose="020B0503020204020204" pitchFamily="34" charset="-122"/>
              </a:rPr>
              <a:t>背景与问题</a:t>
            </a:r>
          </a:p>
        </p:txBody>
      </p:sp>
      <p:sp>
        <p:nvSpPr>
          <p:cNvPr id="22" name="矩形: 圆角 21"/>
          <p:cNvSpPr/>
          <p:nvPr/>
        </p:nvSpPr>
        <p:spPr>
          <a:xfrm flipH="1">
            <a:off x="-218450" y="224311"/>
            <a:ext cx="739545" cy="724771"/>
          </a:xfrm>
          <a:prstGeom prst="roundRect">
            <a:avLst>
              <a:gd name="adj" fmla="val 1461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lumMod val="75000"/>
                  <a:lumOff val="25000"/>
                </a:schemeClr>
              </a:solidFill>
            </a:endParaRPr>
          </a:p>
        </p:txBody>
      </p:sp>
      <p:sp>
        <p:nvSpPr>
          <p:cNvPr id="5" name="文本框 4"/>
          <p:cNvSpPr txBox="1"/>
          <p:nvPr/>
        </p:nvSpPr>
        <p:spPr>
          <a:xfrm>
            <a:off x="659765" y="1284605"/>
            <a:ext cx="9721215" cy="398780"/>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altLang="zh-CN" sz="2000" b="1" dirty="0">
                <a:solidFill>
                  <a:schemeClr val="tx1"/>
                </a:solidFill>
                <a:uFillTx/>
                <a:latin typeface="Times New Roman" panose="02020603050405020304" charset="0"/>
                <a:ea typeface="微软雅黑" panose="020B0503020204020204" pitchFamily="34" charset="-122"/>
                <a:cs typeface="Times New Roman" panose="02020603050405020304" charset="0"/>
              </a:rPr>
              <a:t>2.</a:t>
            </a:r>
            <a:r>
              <a:rPr lang="zh-CN" altLang="en-US" sz="2000" b="1" dirty="0">
                <a:solidFill>
                  <a:schemeClr val="tx1"/>
                </a:solidFill>
                <a:uFillTx/>
                <a:latin typeface="Times New Roman" panose="02020603050405020304" charset="0"/>
                <a:ea typeface="微软雅黑" panose="020B0503020204020204" pitchFamily="34" charset="-122"/>
                <a:cs typeface="Times New Roman" panose="02020603050405020304" charset="0"/>
              </a:rPr>
              <a:t>传统方法的局限</a:t>
            </a:r>
          </a:p>
        </p:txBody>
      </p:sp>
      <p:sp>
        <p:nvSpPr>
          <p:cNvPr id="6" name="文本框 5"/>
          <p:cNvSpPr txBox="1"/>
          <p:nvPr/>
        </p:nvSpPr>
        <p:spPr>
          <a:xfrm>
            <a:off x="717550" y="1888490"/>
            <a:ext cx="9663430" cy="4408805"/>
          </a:xfrm>
          <a:prstGeom prst="rect">
            <a:avLst/>
          </a:prstGeom>
        </p:spPr>
        <p:txBody>
          <a:bodyPr wrap="square">
            <a:spAutoFit/>
          </a:bodyPr>
          <a:lstStyle/>
          <a:p>
            <a:pPr indent="0" algn="just">
              <a:lnSpc>
                <a:spcPct val="120000"/>
              </a:lnSpc>
              <a:buClrTx/>
              <a:buSzTx/>
              <a:buFont typeface="Arial" panose="020B0604020202020204" pitchFamily="34" charset="0"/>
              <a:buNone/>
            </a:pPr>
            <a:r>
              <a:rPr lang="zh-CN" altLang="en-US"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为了打破数据孤岛，研究者尝试过多种加密计算方法。</a:t>
            </a:r>
          </a:p>
          <a:p>
            <a:pPr indent="0" algn="just">
              <a:lnSpc>
                <a:spcPct val="120000"/>
              </a:lnSpc>
              <a:buClrTx/>
              <a:buSzTx/>
              <a:buFont typeface="Arial" panose="020B0604020202020204" pitchFamily="34" charset="0"/>
              <a:buNone/>
            </a:pPr>
            <a:r>
              <a:rPr lang="zh-CN" altLang="en-US"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其中两种最典型的就是</a:t>
            </a:r>
            <a:r>
              <a:rPr lang="en-US" altLang="zh-CN"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 </a:t>
            </a:r>
            <a:r>
              <a:rPr lang="zh-CN" altLang="en-US" b="1"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同态加密</a:t>
            </a:r>
            <a:r>
              <a:rPr lang="zh-CN" altLang="en-US"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a:t>
            </a:r>
            <a:r>
              <a:rPr lang="en-US" altLang="zh-CN"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Homomorphic Encryption, HE</a:t>
            </a:r>
            <a:r>
              <a:rPr lang="zh-CN" altLang="en-US"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a:t>
            </a:r>
            <a:r>
              <a:rPr lang="en-US" altLang="zh-CN"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 </a:t>
            </a:r>
            <a:r>
              <a:rPr lang="zh-CN" altLang="en-US"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和</a:t>
            </a:r>
            <a:r>
              <a:rPr lang="en-US" altLang="zh-CN"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 </a:t>
            </a:r>
            <a:r>
              <a:rPr lang="zh-CN" altLang="en-US" b="1"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安全多方计算</a:t>
            </a:r>
            <a:r>
              <a:rPr lang="zh-CN" altLang="en-US"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a:t>
            </a:r>
            <a:r>
              <a:rPr lang="en-US" altLang="zh-CN"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Secure Multi-Party Computation, MPC</a:t>
            </a:r>
            <a:r>
              <a:rPr lang="zh-CN" altLang="en-US"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a:t>
            </a:r>
            <a:endParaRPr lang="en-US" altLang="zh-CN"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endParaRPr>
          </a:p>
          <a:p>
            <a:pPr marL="285750" indent="-285750" algn="just">
              <a:lnSpc>
                <a:spcPct val="120000"/>
              </a:lnSpc>
              <a:buClrTx/>
              <a:buSzTx/>
              <a:buFont typeface="Arial" panose="020B0604020202020204" pitchFamily="34" charset="0"/>
              <a:buChar char="•"/>
            </a:pPr>
            <a:r>
              <a:rPr lang="zh-CN" altLang="en-US" b="1"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同态加密的优点是</a:t>
            </a:r>
            <a:r>
              <a:rPr lang="en-US" altLang="zh-CN" b="1"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a:t>
            </a:r>
            <a:r>
              <a:rPr lang="zh-CN" altLang="en-US" b="1"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加密状态下可计算</a:t>
            </a:r>
            <a:r>
              <a:rPr lang="en-US" altLang="zh-CN" b="1"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a:t>
            </a:r>
            <a:r>
              <a:rPr lang="zh-CN" altLang="en-US" b="1"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，但它的速度极慢。在加密域里做一次乘法，可能要比明文慢几千倍。</a:t>
            </a:r>
            <a:endParaRPr lang="en-US" altLang="zh-CN" b="1"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endParaRPr>
          </a:p>
          <a:p>
            <a:pPr marL="285750" indent="-285750" algn="just">
              <a:lnSpc>
                <a:spcPct val="120000"/>
              </a:lnSpc>
              <a:buClrTx/>
              <a:buSzTx/>
              <a:buFont typeface="Arial" panose="020B0604020202020204" pitchFamily="34" charset="0"/>
              <a:buChar char="•"/>
            </a:pPr>
            <a:r>
              <a:rPr lang="zh-CN" altLang="en-US" b="1"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多方安全计算能确保参与方都无法看到他人数据，但它需要频繁通信，尤其在神经网络训练这种高维度任务中，通信量会呈指数增长。</a:t>
            </a:r>
            <a:endParaRPr lang="en-US" altLang="zh-CN" b="1"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endParaRPr>
          </a:p>
          <a:p>
            <a:pPr marL="285750" indent="-285750" algn="just">
              <a:lnSpc>
                <a:spcPct val="120000"/>
              </a:lnSpc>
              <a:buClrTx/>
              <a:buSzTx/>
              <a:buFont typeface="Arial" panose="020B0604020202020204" pitchFamily="34" charset="0"/>
              <a:buChar char="•"/>
            </a:pPr>
            <a:r>
              <a:rPr lang="zh-CN" altLang="en-US" b="1"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另外还有</a:t>
            </a:r>
            <a:r>
              <a:rPr lang="en-US" altLang="zh-CN" b="1"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 </a:t>
            </a:r>
            <a:r>
              <a:rPr lang="zh-CN" altLang="en-US" b="1"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可信执行环境（</a:t>
            </a:r>
            <a:r>
              <a:rPr lang="en-US" altLang="zh-CN" b="1"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TEE</a:t>
            </a:r>
            <a:r>
              <a:rPr lang="zh-CN" altLang="en-US" b="1"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），例如</a:t>
            </a:r>
            <a:r>
              <a:rPr lang="en-US" altLang="zh-CN" b="1"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 Intel SGX</a:t>
            </a:r>
            <a:r>
              <a:rPr lang="zh-CN" altLang="en-US" b="1"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，但它依赖硬件信任假设，容易受到侧信道攻击。</a:t>
            </a:r>
          </a:p>
          <a:p>
            <a:pPr indent="0" algn="just">
              <a:lnSpc>
                <a:spcPct val="120000"/>
              </a:lnSpc>
              <a:buClrTx/>
              <a:buSzTx/>
              <a:buFont typeface="Arial" panose="020B0604020202020204" pitchFamily="34" charset="0"/>
              <a:buNone/>
            </a:pPr>
            <a:r>
              <a:rPr lang="zh-CN" altLang="en-US"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因此，虽然这些技术理论上能保护隐私，但在实践中很难扩展到大规模数据集。</a:t>
            </a:r>
          </a:p>
          <a:p>
            <a:pPr indent="0" algn="just">
              <a:lnSpc>
                <a:spcPct val="120000"/>
              </a:lnSpc>
              <a:buClrTx/>
              <a:buSzTx/>
              <a:buFont typeface="Arial" panose="020B0604020202020204" pitchFamily="34" charset="0"/>
              <a:buNone/>
            </a:pPr>
            <a:endParaRPr lang="zh-CN" altLang="en-US"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endParaRPr>
          </a:p>
          <a:p>
            <a:pPr indent="0" algn="just">
              <a:lnSpc>
                <a:spcPct val="120000"/>
              </a:lnSpc>
              <a:buClrTx/>
              <a:buSzTx/>
              <a:buFont typeface="Arial" panose="020B0604020202020204" pitchFamily="34" charset="0"/>
              <a:buNone/>
            </a:pPr>
            <a:r>
              <a:rPr lang="en-US" altLang="zh-CN" b="1">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 </a:t>
            </a:r>
            <a:r>
              <a:rPr lang="en-US" altLang="zh-CN" b="1"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SecureML </a:t>
            </a:r>
            <a:r>
              <a:rPr lang="zh-CN" altLang="en-US" b="1"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的核心问题：</a:t>
            </a:r>
          </a:p>
          <a:p>
            <a:pPr indent="0" algn="just">
              <a:lnSpc>
                <a:spcPct val="120000"/>
              </a:lnSpc>
              <a:buClrTx/>
              <a:buSzTx/>
              <a:buFont typeface="Arial" panose="020B0604020202020204" pitchFamily="34" charset="0"/>
              <a:buNone/>
            </a:pPr>
            <a:r>
              <a:rPr lang="en-US" altLang="zh-CN" b="1"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a:t>
            </a:r>
            <a:r>
              <a:rPr lang="zh-CN" altLang="en-US" b="1"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如何在不泄露原始数据的前提下，实现可扩展、可落地的联合模型训练？</a:t>
            </a:r>
            <a:r>
              <a:rPr lang="en-US" altLang="zh-CN" b="1"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文本框 19"/>
          <p:cNvSpPr txBox="1"/>
          <p:nvPr/>
        </p:nvSpPr>
        <p:spPr>
          <a:xfrm>
            <a:off x="629331" y="295379"/>
            <a:ext cx="3426179" cy="583565"/>
          </a:xfrm>
          <a:prstGeom prst="rect">
            <a:avLst/>
          </a:prstGeom>
          <a:noFill/>
        </p:spPr>
        <p:txBody>
          <a:bodyPr wrap="square" rtlCol="0">
            <a:spAutoFit/>
          </a:bodyPr>
          <a:lstStyle/>
          <a:p>
            <a:pPr lvl="0">
              <a:defRPr/>
            </a:pPr>
            <a:r>
              <a:rPr lang="zh-CN" altLang="en-US" sz="3200" b="1" dirty="0">
                <a:solidFill>
                  <a:schemeClr val="tx1"/>
                </a:solidFill>
                <a:latin typeface="微软雅黑" panose="020B0503020204020204" pitchFamily="34" charset="-122"/>
                <a:ea typeface="微软雅黑" panose="020B0503020204020204" pitchFamily="34" charset="-122"/>
              </a:rPr>
              <a:t>研究意义</a:t>
            </a:r>
          </a:p>
        </p:txBody>
      </p:sp>
      <p:sp>
        <p:nvSpPr>
          <p:cNvPr id="22" name="矩形: 圆角 21"/>
          <p:cNvSpPr/>
          <p:nvPr/>
        </p:nvSpPr>
        <p:spPr>
          <a:xfrm flipH="1">
            <a:off x="-218450" y="224311"/>
            <a:ext cx="739545" cy="724771"/>
          </a:xfrm>
          <a:prstGeom prst="roundRect">
            <a:avLst>
              <a:gd name="adj" fmla="val 1461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lumMod val="75000"/>
                  <a:lumOff val="25000"/>
                </a:schemeClr>
              </a:solidFill>
            </a:endParaRPr>
          </a:p>
        </p:txBody>
      </p:sp>
      <p:sp>
        <p:nvSpPr>
          <p:cNvPr id="6" name="文本框 5"/>
          <p:cNvSpPr txBox="1"/>
          <p:nvPr/>
        </p:nvSpPr>
        <p:spPr>
          <a:xfrm>
            <a:off x="717550" y="1258570"/>
            <a:ext cx="9663430" cy="4331970"/>
          </a:xfrm>
          <a:prstGeom prst="rect">
            <a:avLst/>
          </a:prstGeom>
        </p:spPr>
        <p:txBody>
          <a:bodyPr wrap="square">
            <a:spAutoFit/>
          </a:bodyPr>
          <a:lstStyle/>
          <a:p>
            <a:pPr marL="285750" indent="-285750" algn="just">
              <a:lnSpc>
                <a:spcPct val="120000"/>
              </a:lnSpc>
              <a:buClrTx/>
              <a:buSzTx/>
              <a:buFont typeface="Arial" panose="020B0604020202020204" pitchFamily="34" charset="0"/>
              <a:buChar char="•"/>
            </a:pPr>
            <a:r>
              <a:rPr b="1">
                <a:uFillTx/>
                <a:latin typeface="Times New Roman" panose="02020603050405020304" charset="0"/>
                <a:ea typeface="微软雅黑" panose="020B0503020204020204" pitchFamily="34" charset="-122"/>
                <a:sym typeface="+mn-ea"/>
              </a:rPr>
              <a:t>理论突破：打破“隐私保护</a:t>
            </a:r>
            <a:r>
              <a:rPr lang="en-US" b="1">
                <a:uFillTx/>
                <a:latin typeface="Times New Roman" panose="02020603050405020304" charset="0"/>
                <a:ea typeface="微软雅黑" panose="020B0503020204020204" pitchFamily="34" charset="-122"/>
                <a:sym typeface="+mn-ea"/>
              </a:rPr>
              <a:t> </a:t>
            </a:r>
            <a:r>
              <a:rPr b="1">
                <a:uFillTx/>
                <a:latin typeface="Times New Roman" panose="02020603050405020304" charset="0"/>
                <a:ea typeface="微软雅黑" panose="020B0503020204020204" pitchFamily="34" charset="-122"/>
                <a:sym typeface="+mn-ea"/>
              </a:rPr>
              <a:t>=</a:t>
            </a:r>
            <a:r>
              <a:rPr lang="en-US" b="1">
                <a:uFillTx/>
                <a:latin typeface="Times New Roman" panose="02020603050405020304" charset="0"/>
                <a:ea typeface="微软雅黑" panose="020B0503020204020204" pitchFamily="34" charset="-122"/>
                <a:sym typeface="+mn-ea"/>
              </a:rPr>
              <a:t> </a:t>
            </a:r>
            <a:r>
              <a:rPr b="1">
                <a:uFillTx/>
                <a:latin typeface="Times New Roman" panose="02020603050405020304" charset="0"/>
                <a:ea typeface="微软雅黑" panose="020B0503020204020204" pitchFamily="34" charset="-122"/>
                <a:sym typeface="+mn-ea"/>
              </a:rPr>
              <a:t>低效”</a:t>
            </a:r>
          </a:p>
          <a:p>
            <a:pPr indent="0" algn="just">
              <a:lnSpc>
                <a:spcPct val="120000"/>
              </a:lnSpc>
              <a:buClrTx/>
              <a:buSzTx/>
              <a:buFont typeface="Arial" panose="020B0604020202020204" pitchFamily="34" charset="0"/>
              <a:buNone/>
            </a:pPr>
            <a:r>
              <a:rPr lang="zh-CN" altLang="en-US" sz="1600">
                <a:uFillTx/>
                <a:latin typeface="Times New Roman" panose="02020603050405020304" charset="0"/>
                <a:ea typeface="微软雅黑" panose="020B0503020204020204" pitchFamily="34" charset="-122"/>
              </a:rPr>
              <a:t>从理论角度看，这篇论文首次证明了</a:t>
            </a:r>
            <a:r>
              <a:rPr lang="en-US" altLang="zh-CN" sz="1600">
                <a:uFillTx/>
                <a:latin typeface="Times New Roman" panose="02020603050405020304" charset="0"/>
                <a:ea typeface="微软雅黑" panose="020B0503020204020204" pitchFamily="34" charset="-122"/>
              </a:rPr>
              <a:t>——</a:t>
            </a:r>
            <a:r>
              <a:rPr lang="zh-CN" altLang="en-US" sz="1600">
                <a:uFillTx/>
                <a:latin typeface="Times New Roman" panose="02020603050405020304" charset="0"/>
                <a:ea typeface="微软雅黑" panose="020B0503020204020204" pitchFamily="34" charset="-122"/>
              </a:rPr>
              <a:t>隐私保护并不必然意味着极端低效。</a:t>
            </a:r>
          </a:p>
          <a:p>
            <a:pPr indent="0" algn="just">
              <a:lnSpc>
                <a:spcPct val="120000"/>
              </a:lnSpc>
              <a:buClrTx/>
              <a:buSzTx/>
              <a:buFont typeface="Arial" panose="020B0604020202020204" pitchFamily="34" charset="0"/>
              <a:buNone/>
            </a:pPr>
            <a:r>
              <a:rPr lang="zh-CN" altLang="en-US" sz="1600">
                <a:uFillTx/>
                <a:latin typeface="Times New Roman" panose="02020603050405020304" charset="0"/>
                <a:ea typeface="微软雅黑" panose="020B0503020204020204" pitchFamily="34" charset="-122"/>
              </a:rPr>
              <a:t>作者通过新的协议设计，让安全计算的性能提升了几百到上千倍。</a:t>
            </a:r>
          </a:p>
          <a:p>
            <a:pPr indent="0" algn="just">
              <a:lnSpc>
                <a:spcPct val="120000"/>
              </a:lnSpc>
              <a:buClrTx/>
              <a:buSzTx/>
              <a:buFont typeface="Arial" panose="020B0604020202020204" pitchFamily="34" charset="0"/>
              <a:buNone/>
            </a:pPr>
            <a:endParaRPr lang="zh-CN" altLang="en-US" sz="1600">
              <a:uFillTx/>
              <a:latin typeface="Times New Roman" panose="02020603050405020304" charset="0"/>
              <a:ea typeface="微软雅黑" panose="020B0503020204020204" pitchFamily="34" charset="-122"/>
            </a:endParaRPr>
          </a:p>
          <a:p>
            <a:pPr marL="285750" indent="-285750" algn="just">
              <a:lnSpc>
                <a:spcPct val="120000"/>
              </a:lnSpc>
              <a:buClrTx/>
              <a:buSzTx/>
              <a:buFont typeface="Arial" panose="020B0604020202020204" pitchFamily="34" charset="0"/>
              <a:buChar char="•"/>
            </a:pPr>
            <a:r>
              <a:rPr b="1">
                <a:uFillTx/>
                <a:latin typeface="Times New Roman" panose="02020603050405020304" charset="0"/>
                <a:ea typeface="微软雅黑" panose="020B0503020204020204" pitchFamily="34" charset="-122"/>
                <a:sym typeface="+mn-ea"/>
              </a:rPr>
              <a:t>应用突破：首个支持神经网络的隐私保护系统</a:t>
            </a:r>
          </a:p>
          <a:p>
            <a:pPr indent="0" algn="just">
              <a:lnSpc>
                <a:spcPct val="120000"/>
              </a:lnSpc>
              <a:buClrTx/>
              <a:buSzTx/>
              <a:buFont typeface="Arial" panose="020B0604020202020204" pitchFamily="34" charset="0"/>
              <a:buNone/>
            </a:pPr>
            <a:r>
              <a:rPr lang="zh-CN" altLang="en-US" sz="1600">
                <a:uFillTx/>
                <a:latin typeface="Times New Roman" panose="02020603050405020304" charset="0"/>
                <a:ea typeface="微软雅黑" panose="020B0503020204020204" pitchFamily="34" charset="-122"/>
              </a:rPr>
              <a:t>从应用角度看，</a:t>
            </a:r>
            <a:r>
              <a:rPr lang="en-US" altLang="zh-CN" sz="1600">
                <a:uFillTx/>
                <a:latin typeface="Times New Roman" panose="02020603050405020304" charset="0"/>
                <a:ea typeface="微软雅黑" panose="020B0503020204020204" pitchFamily="34" charset="-122"/>
              </a:rPr>
              <a:t>SecureML </a:t>
            </a:r>
            <a:r>
              <a:rPr lang="zh-CN" altLang="en-US" sz="1600">
                <a:uFillTx/>
                <a:latin typeface="Times New Roman" panose="02020603050405020304" charset="0"/>
                <a:ea typeface="微软雅黑" panose="020B0503020204020204" pitchFamily="34" charset="-122"/>
              </a:rPr>
              <a:t>也是第一个支持神经网络训练的隐私保护系统。</a:t>
            </a:r>
          </a:p>
          <a:p>
            <a:pPr indent="0" algn="just">
              <a:lnSpc>
                <a:spcPct val="120000"/>
              </a:lnSpc>
              <a:buClrTx/>
              <a:buSzTx/>
              <a:buFont typeface="Arial" panose="020B0604020202020204" pitchFamily="34" charset="0"/>
              <a:buNone/>
            </a:pPr>
            <a:r>
              <a:rPr lang="zh-CN" altLang="en-US" sz="1600">
                <a:uFillTx/>
                <a:latin typeface="Times New Roman" panose="02020603050405020304" charset="0"/>
                <a:ea typeface="微软雅黑" panose="020B0503020204020204" pitchFamily="34" charset="-122"/>
              </a:rPr>
              <a:t>在此之前，几乎所有隐私计算研究只停留在线性回归或逻辑回归，大家普遍认为神经网络的安全训练</a:t>
            </a:r>
            <a:r>
              <a:rPr lang="en-US" altLang="zh-CN" sz="1600">
                <a:uFillTx/>
                <a:latin typeface="Times New Roman" panose="02020603050405020304" charset="0"/>
                <a:ea typeface="微软雅黑" panose="020B0503020204020204" pitchFamily="34" charset="-122"/>
              </a:rPr>
              <a:t>“</a:t>
            </a:r>
            <a:r>
              <a:rPr lang="zh-CN" altLang="en-US" sz="1600">
                <a:uFillTx/>
                <a:latin typeface="Times New Roman" panose="02020603050405020304" charset="0"/>
                <a:ea typeface="微软雅黑" panose="020B0503020204020204" pitchFamily="34" charset="-122"/>
              </a:rPr>
              <a:t>在可预见的未来都不可能实现</a:t>
            </a:r>
            <a:r>
              <a:rPr lang="en-US" altLang="zh-CN" sz="1600">
                <a:uFillTx/>
                <a:latin typeface="Times New Roman" panose="02020603050405020304" charset="0"/>
                <a:ea typeface="微软雅黑" panose="020B0503020204020204" pitchFamily="34" charset="-122"/>
              </a:rPr>
              <a:t>”</a:t>
            </a:r>
            <a:r>
              <a:rPr lang="zh-CN" altLang="en-US" sz="1600">
                <a:uFillTx/>
                <a:latin typeface="Times New Roman" panose="02020603050405020304" charset="0"/>
                <a:ea typeface="微软雅黑" panose="020B0503020204020204" pitchFamily="34" charset="-122"/>
              </a:rPr>
              <a:t>。</a:t>
            </a:r>
            <a:r>
              <a:rPr lang="en-US" altLang="zh-CN" sz="1600">
                <a:uFillTx/>
                <a:latin typeface="Times New Roman" panose="02020603050405020304" charset="0"/>
                <a:ea typeface="微软雅黑" panose="020B0503020204020204" pitchFamily="34" charset="-122"/>
              </a:rPr>
              <a:t>SecureML </a:t>
            </a:r>
            <a:r>
              <a:rPr lang="zh-CN" altLang="en-US" sz="1600">
                <a:uFillTx/>
                <a:latin typeface="Times New Roman" panose="02020603050405020304" charset="0"/>
                <a:ea typeface="微软雅黑" panose="020B0503020204020204" pitchFamily="34" charset="-122"/>
              </a:rPr>
              <a:t>改变了这种看法，为隐私深度学习打开了大门。</a:t>
            </a:r>
          </a:p>
          <a:p>
            <a:pPr indent="0" algn="just">
              <a:lnSpc>
                <a:spcPct val="120000"/>
              </a:lnSpc>
              <a:buClrTx/>
              <a:buSzTx/>
              <a:buFont typeface="Arial" panose="020B0604020202020204" pitchFamily="34" charset="0"/>
              <a:buNone/>
            </a:pPr>
            <a:endParaRPr lang="zh-CN" altLang="en-US" sz="1600">
              <a:uFillTx/>
              <a:latin typeface="Times New Roman" panose="02020603050405020304" charset="0"/>
              <a:ea typeface="微软雅黑" panose="020B0503020204020204" pitchFamily="34" charset="-122"/>
            </a:endParaRPr>
          </a:p>
          <a:p>
            <a:pPr marL="285750" indent="-285750" algn="just">
              <a:lnSpc>
                <a:spcPct val="120000"/>
              </a:lnSpc>
              <a:buClrTx/>
              <a:buSzTx/>
              <a:buFont typeface="Arial" panose="020B0604020202020204" pitchFamily="34" charset="0"/>
              <a:buChar char="•"/>
            </a:pPr>
            <a:r>
              <a:rPr b="1">
                <a:uFillTx/>
                <a:latin typeface="Times New Roman" panose="02020603050405020304" charset="0"/>
                <a:ea typeface="微软雅黑" panose="020B0503020204020204" pitchFamily="34" charset="-122"/>
                <a:sym typeface="+mn-ea"/>
              </a:rPr>
              <a:t>性能提升100–1000倍，精度几乎一致</a:t>
            </a:r>
            <a:endParaRPr b="1">
              <a:uFillTx/>
              <a:latin typeface="Times New Roman" panose="02020603050405020304" charset="0"/>
              <a:ea typeface="微软雅黑" panose="020B0503020204020204" pitchFamily="34" charset="-122"/>
            </a:endParaRPr>
          </a:p>
          <a:p>
            <a:pPr indent="0" algn="just">
              <a:lnSpc>
                <a:spcPct val="120000"/>
              </a:lnSpc>
              <a:buClrTx/>
              <a:buSzTx/>
              <a:buFont typeface="Arial" panose="020B0604020202020204" pitchFamily="34" charset="0"/>
              <a:buNone/>
            </a:pPr>
            <a:r>
              <a:rPr lang="zh-CN" altLang="en-US" sz="1600"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更重要的是，它提出了一整套可复用的设计框架：</a:t>
            </a:r>
          </a:p>
          <a:p>
            <a:pPr indent="0" algn="just">
              <a:lnSpc>
                <a:spcPct val="120000"/>
              </a:lnSpc>
              <a:buClrTx/>
              <a:buSzTx/>
              <a:buFont typeface="Arial" panose="020B0604020202020204" pitchFamily="34" charset="0"/>
              <a:buNone/>
            </a:pPr>
            <a:r>
              <a:rPr lang="zh-CN" altLang="en-US" sz="1600"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包括两服务器模型、截断算术、</a:t>
            </a:r>
            <a:r>
              <a:rPr lang="en-US" altLang="zh-CN" sz="1600"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MPC </a:t>
            </a:r>
            <a:r>
              <a:rPr lang="zh-CN" altLang="en-US" sz="1600"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友好激活函数、协议向量化等思路。</a:t>
            </a:r>
          </a:p>
          <a:p>
            <a:pPr indent="0" algn="just">
              <a:lnSpc>
                <a:spcPct val="120000"/>
              </a:lnSpc>
              <a:buClrTx/>
              <a:buSzTx/>
              <a:buFont typeface="Arial" panose="020B0604020202020204" pitchFamily="34" charset="0"/>
              <a:buNone/>
            </a:pPr>
            <a:r>
              <a:rPr lang="zh-CN" altLang="en-US" sz="1600"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这些思想后来被广泛采用，比如</a:t>
            </a:r>
            <a:r>
              <a:rPr lang="en-US" altLang="zh-CN" sz="1600"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SecureNN</a:t>
            </a:r>
            <a:r>
              <a:rPr lang="zh-CN" altLang="en-US" sz="1600"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a:t>
            </a:r>
            <a:r>
              <a:rPr lang="en-US" altLang="zh-CN" sz="1600"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CrypTen</a:t>
            </a:r>
            <a:r>
              <a:rPr lang="zh-CN" altLang="en-US" sz="1600"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a:t>
            </a:r>
            <a:r>
              <a:rPr lang="en-US" altLang="zh-CN" sz="1600"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CryptGPU </a:t>
            </a:r>
            <a:r>
              <a:rPr lang="zh-CN" altLang="en-US" sz="1600"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等系统，都在不同程度上延续了</a:t>
            </a:r>
            <a:r>
              <a:rPr lang="en-US" altLang="zh-CN" sz="1600"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 SecureML </a:t>
            </a:r>
            <a:r>
              <a:rPr lang="zh-CN" altLang="en-US" sz="1600"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的设计理念。</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文本框 19"/>
          <p:cNvSpPr txBox="1"/>
          <p:nvPr/>
        </p:nvSpPr>
        <p:spPr>
          <a:xfrm>
            <a:off x="629331" y="295379"/>
            <a:ext cx="3426179" cy="583565"/>
          </a:xfrm>
          <a:prstGeom prst="rect">
            <a:avLst/>
          </a:prstGeom>
          <a:noFill/>
        </p:spPr>
        <p:txBody>
          <a:bodyPr wrap="square" rtlCol="0">
            <a:spAutoFit/>
          </a:bodyPr>
          <a:lstStyle/>
          <a:p>
            <a:pPr lvl="0">
              <a:defRPr/>
            </a:pPr>
            <a:r>
              <a:rPr lang="zh-CN" altLang="en-US" sz="3200" b="1" dirty="0">
                <a:solidFill>
                  <a:schemeClr val="tx1"/>
                </a:solidFill>
                <a:latin typeface="微软雅黑" panose="020B0503020204020204" pitchFamily="34" charset="-122"/>
                <a:ea typeface="微软雅黑" panose="020B0503020204020204" pitchFamily="34" charset="-122"/>
              </a:rPr>
              <a:t>系统总体架构</a:t>
            </a:r>
          </a:p>
        </p:txBody>
      </p:sp>
      <p:sp>
        <p:nvSpPr>
          <p:cNvPr id="22" name="矩形: 圆角 21"/>
          <p:cNvSpPr/>
          <p:nvPr/>
        </p:nvSpPr>
        <p:spPr>
          <a:xfrm flipH="1">
            <a:off x="-218450" y="224311"/>
            <a:ext cx="739545" cy="724771"/>
          </a:xfrm>
          <a:prstGeom prst="roundRect">
            <a:avLst>
              <a:gd name="adj" fmla="val 1461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lumMod val="75000"/>
                  <a:lumOff val="25000"/>
                </a:schemeClr>
              </a:solidFill>
            </a:endParaRPr>
          </a:p>
        </p:txBody>
      </p:sp>
      <p:sp>
        <p:nvSpPr>
          <p:cNvPr id="6" name="文本框 5"/>
          <p:cNvSpPr txBox="1"/>
          <p:nvPr/>
        </p:nvSpPr>
        <p:spPr>
          <a:xfrm>
            <a:off x="717550" y="1258570"/>
            <a:ext cx="6645910" cy="4369435"/>
          </a:xfrm>
          <a:prstGeom prst="rect">
            <a:avLst/>
          </a:prstGeom>
        </p:spPr>
        <p:txBody>
          <a:bodyPr wrap="square">
            <a:spAutoFit/>
          </a:bodyPr>
          <a:lstStyle/>
          <a:p>
            <a:pPr marL="285750" indent="-285750" algn="just">
              <a:lnSpc>
                <a:spcPct val="120000"/>
              </a:lnSpc>
              <a:buClrTx/>
              <a:buSzTx/>
              <a:buFont typeface="Arial" panose="020B0604020202020204" pitchFamily="34" charset="0"/>
              <a:buChar char="•"/>
            </a:pPr>
            <a:r>
              <a:rPr b="1">
                <a:solidFill>
                  <a:schemeClr val="tx1"/>
                </a:solidFill>
                <a:uFillTx/>
                <a:latin typeface="Times New Roman" panose="02020603050405020304" charset="0"/>
                <a:ea typeface="微软雅黑" panose="020B0503020204020204" pitchFamily="34" charset="-122"/>
                <a:sym typeface="+mn-ea"/>
              </a:rPr>
              <a:t>两服务器模型：客户端→S₀/S₁→模型输出</a:t>
            </a:r>
          </a:p>
          <a:p>
            <a:pPr indent="0" algn="just">
              <a:lnSpc>
                <a:spcPct val="120000"/>
              </a:lnSpc>
              <a:buClrTx/>
              <a:buSzTx/>
              <a:buFont typeface="Arial" panose="020B0604020202020204" pitchFamily="34" charset="0"/>
              <a:buNone/>
            </a:pPr>
            <a:r>
              <a:rPr lang="zh-CN" altLang="en-US" sz="1600">
                <a:solidFill>
                  <a:schemeClr val="tx1"/>
                </a:solidFill>
                <a:uFillTx/>
                <a:latin typeface="Times New Roman" panose="02020603050405020304" charset="0"/>
                <a:ea typeface="微软雅黑" panose="020B0503020204020204" pitchFamily="34" charset="-122"/>
              </a:rPr>
              <a:t>多个客户端（即数据持有者）先在本地对数据进行预处理，比如标准化、分片或加密。</a:t>
            </a:r>
          </a:p>
          <a:p>
            <a:pPr indent="0" algn="just">
              <a:lnSpc>
                <a:spcPct val="120000"/>
              </a:lnSpc>
              <a:buClrTx/>
              <a:buSzTx/>
              <a:buFont typeface="Arial" panose="020B0604020202020204" pitchFamily="34" charset="0"/>
              <a:buNone/>
            </a:pPr>
            <a:r>
              <a:rPr lang="zh-CN" altLang="en-US" sz="1600">
                <a:solidFill>
                  <a:schemeClr val="tx1"/>
                </a:solidFill>
                <a:uFillTx/>
                <a:latin typeface="Times New Roman" panose="02020603050405020304" charset="0"/>
                <a:ea typeface="微软雅黑" panose="020B0503020204020204" pitchFamily="34" charset="-122"/>
              </a:rPr>
              <a:t>每个客户端将数据拆成两份</a:t>
            </a:r>
            <a:r>
              <a:rPr lang="en-US" altLang="zh-CN" sz="1600">
                <a:solidFill>
                  <a:schemeClr val="tx1"/>
                </a:solidFill>
                <a:uFillTx/>
                <a:latin typeface="Times New Roman" panose="02020603050405020304" charset="0"/>
                <a:ea typeface="微软雅黑" panose="020B0503020204020204" pitchFamily="34" charset="-122"/>
              </a:rPr>
              <a:t>——</a:t>
            </a:r>
            <a:r>
              <a:rPr lang="zh-CN" altLang="en-US" sz="1600">
                <a:solidFill>
                  <a:schemeClr val="tx1"/>
                </a:solidFill>
                <a:uFillTx/>
                <a:latin typeface="Times New Roman" panose="02020603050405020304" charset="0"/>
                <a:ea typeface="微软雅黑" panose="020B0503020204020204" pitchFamily="34" charset="-122"/>
              </a:rPr>
              <a:t>类似</a:t>
            </a:r>
            <a:r>
              <a:rPr lang="en-US" altLang="zh-CN" sz="1600">
                <a:solidFill>
                  <a:schemeClr val="tx1"/>
                </a:solidFill>
                <a:uFillTx/>
                <a:latin typeface="Times New Roman" panose="02020603050405020304" charset="0"/>
                <a:ea typeface="微软雅黑" panose="020B0503020204020204" pitchFamily="34" charset="-122"/>
              </a:rPr>
              <a:t>“</a:t>
            </a:r>
            <a:r>
              <a:rPr lang="zh-CN" altLang="en-US" sz="1600">
                <a:solidFill>
                  <a:schemeClr val="tx1"/>
                </a:solidFill>
                <a:uFillTx/>
                <a:latin typeface="Times New Roman" panose="02020603050405020304" charset="0"/>
                <a:ea typeface="微软雅黑" panose="020B0503020204020204" pitchFamily="34" charset="-122"/>
              </a:rPr>
              <a:t>切成两半的拼图</a:t>
            </a:r>
            <a:r>
              <a:rPr lang="en-US" altLang="zh-CN" sz="1600">
                <a:solidFill>
                  <a:schemeClr val="tx1"/>
                </a:solidFill>
                <a:uFillTx/>
                <a:latin typeface="Times New Roman" panose="02020603050405020304" charset="0"/>
                <a:ea typeface="微软雅黑" panose="020B0503020204020204" pitchFamily="34" charset="-122"/>
              </a:rPr>
              <a:t>”</a:t>
            </a:r>
            <a:r>
              <a:rPr lang="zh-CN" altLang="en-US" sz="1600">
                <a:solidFill>
                  <a:schemeClr val="tx1"/>
                </a:solidFill>
                <a:uFillTx/>
                <a:latin typeface="Times New Roman" panose="02020603050405020304" charset="0"/>
                <a:ea typeface="微软雅黑" panose="020B0503020204020204" pitchFamily="34" charset="-122"/>
              </a:rPr>
              <a:t>，分别发给两台不串通的服务器</a:t>
            </a:r>
            <a:r>
              <a:rPr lang="en-US" altLang="zh-CN" sz="1600">
                <a:solidFill>
                  <a:schemeClr val="tx1"/>
                </a:solidFill>
                <a:uFillTx/>
                <a:latin typeface="Times New Roman" panose="02020603050405020304" charset="0"/>
                <a:ea typeface="微软雅黑" panose="020B0503020204020204" pitchFamily="34" charset="-122"/>
              </a:rPr>
              <a:t> S</a:t>
            </a:r>
            <a:r>
              <a:rPr lang="en-US" altLang="en-US" sz="1600">
                <a:solidFill>
                  <a:schemeClr val="tx1"/>
                </a:solidFill>
                <a:uFillTx/>
                <a:latin typeface="Times New Roman" panose="02020603050405020304" charset="0"/>
                <a:ea typeface="微软雅黑" panose="020B0503020204020204" pitchFamily="34" charset="-122"/>
              </a:rPr>
              <a:t>₀</a:t>
            </a:r>
            <a:r>
              <a:rPr lang="en-US" altLang="zh-CN" sz="1600">
                <a:solidFill>
                  <a:schemeClr val="tx1"/>
                </a:solidFill>
                <a:uFillTx/>
                <a:latin typeface="Times New Roman" panose="02020603050405020304" charset="0"/>
                <a:ea typeface="微软雅黑" panose="020B0503020204020204" pitchFamily="34" charset="-122"/>
              </a:rPr>
              <a:t> </a:t>
            </a:r>
            <a:r>
              <a:rPr lang="zh-CN" altLang="en-US" sz="1600">
                <a:solidFill>
                  <a:schemeClr val="tx1"/>
                </a:solidFill>
                <a:uFillTx/>
                <a:latin typeface="Times New Roman" panose="02020603050405020304" charset="0"/>
                <a:ea typeface="微软雅黑" panose="020B0503020204020204" pitchFamily="34" charset="-122"/>
              </a:rPr>
              <a:t>和</a:t>
            </a:r>
            <a:r>
              <a:rPr lang="en-US" altLang="zh-CN" sz="1600">
                <a:solidFill>
                  <a:schemeClr val="tx1"/>
                </a:solidFill>
                <a:uFillTx/>
                <a:latin typeface="Times New Roman" panose="02020603050405020304" charset="0"/>
                <a:ea typeface="微软雅黑" panose="020B0503020204020204" pitchFamily="34" charset="-122"/>
              </a:rPr>
              <a:t> S</a:t>
            </a:r>
            <a:r>
              <a:rPr lang="en-US" altLang="en-US" sz="1600">
                <a:solidFill>
                  <a:schemeClr val="tx1"/>
                </a:solidFill>
                <a:uFillTx/>
                <a:latin typeface="Times New Roman" panose="02020603050405020304" charset="0"/>
                <a:ea typeface="微软雅黑" panose="020B0503020204020204" pitchFamily="34" charset="-122"/>
              </a:rPr>
              <a:t>₁</a:t>
            </a:r>
            <a:r>
              <a:rPr lang="zh-CN" altLang="en-US" sz="1600">
                <a:solidFill>
                  <a:schemeClr val="tx1"/>
                </a:solidFill>
                <a:uFillTx/>
                <a:latin typeface="Times New Roman" panose="02020603050405020304" charset="0"/>
                <a:ea typeface="微软雅黑" panose="020B0503020204020204" pitchFamily="34" charset="-122"/>
              </a:rPr>
              <a:t>。</a:t>
            </a:r>
          </a:p>
          <a:p>
            <a:pPr indent="0" algn="just">
              <a:lnSpc>
                <a:spcPct val="120000"/>
              </a:lnSpc>
              <a:buClrTx/>
              <a:buSzTx/>
              <a:buFont typeface="Arial" panose="020B0604020202020204" pitchFamily="34" charset="0"/>
              <a:buNone/>
            </a:pPr>
            <a:r>
              <a:rPr lang="zh-CN" altLang="en-US" sz="1600">
                <a:solidFill>
                  <a:schemeClr val="tx1"/>
                </a:solidFill>
                <a:uFillTx/>
                <a:latin typeface="Times New Roman" panose="02020603050405020304" charset="0"/>
                <a:ea typeface="微软雅黑" panose="020B0503020204020204" pitchFamily="34" charset="-122"/>
              </a:rPr>
              <a:t>两台服务器各自持有一半数据碎片，无法单独恢复原始信息，但可以通过安全两方计算</a:t>
            </a:r>
            <a:r>
              <a:rPr lang="en-US" altLang="zh-CN" sz="1600">
                <a:solidFill>
                  <a:schemeClr val="tx1"/>
                </a:solidFill>
                <a:uFillTx/>
                <a:latin typeface="Times New Roman" panose="02020603050405020304" charset="0"/>
                <a:ea typeface="微软雅黑" panose="020B0503020204020204" pitchFamily="34" charset="-122"/>
              </a:rPr>
              <a:t> (2PC) </a:t>
            </a:r>
            <a:r>
              <a:rPr lang="zh-CN" altLang="en-US" sz="1600">
                <a:solidFill>
                  <a:schemeClr val="tx1"/>
                </a:solidFill>
                <a:uFillTx/>
                <a:latin typeface="Times New Roman" panose="02020603050405020304" charset="0"/>
                <a:ea typeface="微软雅黑" panose="020B0503020204020204" pitchFamily="34" charset="-122"/>
              </a:rPr>
              <a:t>合作训练模型。</a:t>
            </a:r>
          </a:p>
          <a:p>
            <a:pPr marL="285750" indent="-285750" algn="just">
              <a:lnSpc>
                <a:spcPct val="120000"/>
              </a:lnSpc>
              <a:buClrTx/>
              <a:buSzTx/>
              <a:buFont typeface="Arial" panose="020B0604020202020204" pitchFamily="34" charset="0"/>
              <a:buChar char="•"/>
            </a:pPr>
            <a:r>
              <a:rPr b="1">
                <a:solidFill>
                  <a:schemeClr val="tx1"/>
                </a:solidFill>
                <a:uFillTx/>
                <a:latin typeface="Times New Roman" panose="02020603050405020304" charset="0"/>
                <a:ea typeface="微软雅黑" panose="020B0503020204020204" pitchFamily="34" charset="-122"/>
                <a:sym typeface="+mn-ea"/>
              </a:rPr>
              <a:t>客户端上传数据后可离线</a:t>
            </a:r>
            <a:endParaRPr b="1">
              <a:solidFill>
                <a:schemeClr val="tx1"/>
              </a:solidFill>
              <a:uFillTx/>
              <a:latin typeface="Times New Roman" panose="02020603050405020304" charset="0"/>
              <a:ea typeface="微软雅黑" panose="020B0503020204020204" pitchFamily="34" charset="-122"/>
            </a:endParaRPr>
          </a:p>
          <a:p>
            <a:pPr marL="285750" indent="-285750" algn="just">
              <a:lnSpc>
                <a:spcPct val="120000"/>
              </a:lnSpc>
              <a:buClrTx/>
              <a:buSzTx/>
              <a:buFont typeface="Arial" panose="020B0604020202020204" pitchFamily="34" charset="0"/>
              <a:buChar char="•"/>
            </a:pPr>
            <a:r>
              <a:rPr b="1">
                <a:solidFill>
                  <a:schemeClr val="tx1"/>
                </a:solidFill>
                <a:uFillTx/>
                <a:latin typeface="Times New Roman" panose="02020603050405020304" charset="0"/>
                <a:ea typeface="微软雅黑" panose="020B0503020204020204" pitchFamily="34" charset="-122"/>
                <a:sym typeface="+mn-ea"/>
              </a:rPr>
              <a:t>两服务器通过2PC协同训练</a:t>
            </a:r>
            <a:endParaRPr b="1">
              <a:solidFill>
                <a:schemeClr val="tx1"/>
              </a:solidFill>
              <a:uFillTx/>
              <a:latin typeface="Times New Roman" panose="02020603050405020304" charset="0"/>
              <a:ea typeface="微软雅黑" panose="020B0503020204020204" pitchFamily="34" charset="-122"/>
            </a:endParaRPr>
          </a:p>
          <a:p>
            <a:pPr marL="285750" indent="-285750" algn="just">
              <a:lnSpc>
                <a:spcPct val="120000"/>
              </a:lnSpc>
              <a:buClrTx/>
              <a:buSzTx/>
              <a:buFont typeface="Arial" panose="020B0604020202020204" pitchFamily="34" charset="0"/>
              <a:buChar char="•"/>
            </a:pPr>
            <a:r>
              <a:rPr b="1">
                <a:solidFill>
                  <a:schemeClr val="tx1"/>
                </a:solidFill>
                <a:uFillTx/>
                <a:latin typeface="Times New Roman" panose="02020603050405020304" charset="0"/>
                <a:ea typeface="微软雅黑" panose="020B0503020204020204" pitchFamily="34" charset="-122"/>
                <a:sym typeface="+mn-ea"/>
              </a:rPr>
              <a:t>分为离线与在线阶段：重离线、轻在线</a:t>
            </a:r>
          </a:p>
          <a:p>
            <a:pPr indent="0" algn="just">
              <a:lnSpc>
                <a:spcPct val="120000"/>
              </a:lnSpc>
              <a:buClrTx/>
              <a:buSzTx/>
              <a:buFont typeface="Arial" panose="020B0604020202020204" pitchFamily="34" charset="0"/>
              <a:buNone/>
            </a:pPr>
            <a:r>
              <a:rPr lang="zh-CN" altLang="en-US" sz="1600">
                <a:solidFill>
                  <a:schemeClr val="tx1"/>
                </a:solidFill>
                <a:uFillTx/>
                <a:latin typeface="Times New Roman" panose="02020603050405020304" charset="0"/>
                <a:ea typeface="微软雅黑" panose="020B0503020204020204" pitchFamily="34" charset="-122"/>
                <a:sym typeface="+mn-ea"/>
              </a:rPr>
              <a:t>离线阶段（Offline Phase）：预先生成大量用于安全计算的随机乘法三元组，这一步与具体数据无关。</a:t>
            </a:r>
          </a:p>
          <a:p>
            <a:pPr indent="0" algn="just">
              <a:lnSpc>
                <a:spcPct val="120000"/>
              </a:lnSpc>
              <a:buClrTx/>
              <a:buSzTx/>
              <a:buFont typeface="Arial" panose="020B0604020202020204" pitchFamily="34" charset="0"/>
              <a:buNone/>
            </a:pPr>
            <a:r>
              <a:rPr lang="zh-CN" altLang="en-US" sz="1600">
                <a:solidFill>
                  <a:schemeClr val="tx1"/>
                </a:solidFill>
                <a:uFillTx/>
                <a:latin typeface="Times New Roman" panose="02020603050405020304" charset="0"/>
                <a:ea typeface="微软雅黑" panose="020B0503020204020204" pitchFamily="34" charset="-122"/>
                <a:sym typeface="+mn-ea"/>
              </a:rPr>
              <a:t>在线阶段（Online Phase）：在训练时只进行轻量级算术运算，不再执行复杂加密。</a:t>
            </a:r>
          </a:p>
        </p:txBody>
      </p:sp>
      <p:pic>
        <p:nvPicPr>
          <p:cNvPr id="2" name="图片 1"/>
          <p:cNvPicPr>
            <a:picLocks noChangeAspect="1"/>
          </p:cNvPicPr>
          <p:nvPr/>
        </p:nvPicPr>
        <p:blipFill>
          <a:blip r:embed="rId3"/>
          <a:stretch>
            <a:fillRect/>
          </a:stretch>
        </p:blipFill>
        <p:spPr>
          <a:xfrm>
            <a:off x="7475220" y="2408555"/>
            <a:ext cx="4620895" cy="18288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73EE43-BA3D-AB55-7363-92627E48E0D8}"/>
            </a:ext>
          </a:extLst>
        </p:cNvPr>
        <p:cNvGrpSpPr/>
        <p:nvPr/>
      </p:nvGrpSpPr>
      <p:grpSpPr>
        <a:xfrm>
          <a:off x="0" y="0"/>
          <a:ext cx="0" cy="0"/>
          <a:chOff x="0" y="0"/>
          <a:chExt cx="0" cy="0"/>
        </a:xfrm>
      </p:grpSpPr>
      <p:sp>
        <p:nvSpPr>
          <p:cNvPr id="20" name="文本框 19">
            <a:extLst>
              <a:ext uri="{FF2B5EF4-FFF2-40B4-BE49-F238E27FC236}">
                <a16:creationId xmlns:a16="http://schemas.microsoft.com/office/drawing/2014/main" id="{52E834A7-48CD-3CD4-4160-A6CECE877B61}"/>
              </a:ext>
            </a:extLst>
          </p:cNvPr>
          <p:cNvSpPr txBox="1"/>
          <p:nvPr/>
        </p:nvSpPr>
        <p:spPr>
          <a:xfrm>
            <a:off x="629331" y="295379"/>
            <a:ext cx="3426179" cy="583565"/>
          </a:xfrm>
          <a:prstGeom prst="rect">
            <a:avLst/>
          </a:prstGeom>
          <a:noFill/>
        </p:spPr>
        <p:txBody>
          <a:bodyPr wrap="square" rtlCol="0">
            <a:spAutoFit/>
          </a:bodyPr>
          <a:lstStyle/>
          <a:p>
            <a:pPr lvl="0">
              <a:defRPr/>
            </a:pPr>
            <a:r>
              <a:rPr lang="zh-CN" altLang="en-US" sz="3200" b="1">
                <a:solidFill>
                  <a:schemeClr val="tx1"/>
                </a:solidFill>
                <a:latin typeface="微软雅黑" panose="020B0503020204020204" pitchFamily="34" charset="-122"/>
                <a:ea typeface="微软雅黑" panose="020B0503020204020204" pitchFamily="34" charset="-122"/>
              </a:rPr>
              <a:t>安全模型假设</a:t>
            </a:r>
            <a:endParaRPr lang="zh-CN" altLang="en-US" sz="3200" b="1" dirty="0">
              <a:solidFill>
                <a:schemeClr val="tx1"/>
              </a:solidFill>
              <a:latin typeface="微软雅黑" panose="020B0503020204020204" pitchFamily="34" charset="-122"/>
              <a:ea typeface="微软雅黑" panose="020B0503020204020204" pitchFamily="34" charset="-122"/>
            </a:endParaRPr>
          </a:p>
        </p:txBody>
      </p:sp>
      <p:sp>
        <p:nvSpPr>
          <p:cNvPr id="22" name="矩形: 圆角 21">
            <a:extLst>
              <a:ext uri="{FF2B5EF4-FFF2-40B4-BE49-F238E27FC236}">
                <a16:creationId xmlns:a16="http://schemas.microsoft.com/office/drawing/2014/main" id="{242BDA50-F85D-115C-6881-93C37D099601}"/>
              </a:ext>
            </a:extLst>
          </p:cNvPr>
          <p:cNvSpPr/>
          <p:nvPr/>
        </p:nvSpPr>
        <p:spPr>
          <a:xfrm flipH="1">
            <a:off x="-218450" y="224311"/>
            <a:ext cx="739545" cy="724771"/>
          </a:xfrm>
          <a:prstGeom prst="roundRect">
            <a:avLst>
              <a:gd name="adj" fmla="val 1461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lumMod val="75000"/>
                  <a:lumOff val="25000"/>
                </a:schemeClr>
              </a:solidFill>
            </a:endParaRPr>
          </a:p>
        </p:txBody>
      </p:sp>
      <p:sp>
        <p:nvSpPr>
          <p:cNvPr id="6" name="文本框 5">
            <a:extLst>
              <a:ext uri="{FF2B5EF4-FFF2-40B4-BE49-F238E27FC236}">
                <a16:creationId xmlns:a16="http://schemas.microsoft.com/office/drawing/2014/main" id="{6A01680F-18EF-C7DA-FDE4-BBCA26DC6123}"/>
              </a:ext>
            </a:extLst>
          </p:cNvPr>
          <p:cNvSpPr txBox="1"/>
          <p:nvPr/>
        </p:nvSpPr>
        <p:spPr>
          <a:xfrm>
            <a:off x="629331" y="3886024"/>
            <a:ext cx="6645910" cy="1289712"/>
          </a:xfrm>
          <a:prstGeom prst="rect">
            <a:avLst/>
          </a:prstGeom>
        </p:spPr>
        <p:txBody>
          <a:bodyPr wrap="square">
            <a:spAutoFit/>
          </a:bodyPr>
          <a:lstStyle/>
          <a:p>
            <a:pPr marL="285750" indent="-285750">
              <a:lnSpc>
                <a:spcPct val="150000"/>
              </a:lnSpc>
              <a:buFont typeface="Arial" panose="020B0604020202020204" pitchFamily="34" charset="0"/>
              <a:buChar char="•"/>
            </a:pPr>
            <a:r>
              <a:rPr lang="zh-CN" altLang="en-US" b="1">
                <a:latin typeface="Times New Roman" panose="02020603050405020304" pitchFamily="18" charset="0"/>
                <a:ea typeface="微软雅黑" panose="020B0503020204020204" pitchFamily="34" charset="-122"/>
              </a:rPr>
              <a:t>两服务器不串通假设</a:t>
            </a:r>
          </a:p>
          <a:p>
            <a:pPr marL="285750" indent="-285750">
              <a:lnSpc>
                <a:spcPct val="150000"/>
              </a:lnSpc>
              <a:buFont typeface="Arial" panose="020B0604020202020204" pitchFamily="34" charset="0"/>
              <a:buChar char="•"/>
            </a:pPr>
            <a:r>
              <a:rPr lang="zh-CN" altLang="en-US" b="1">
                <a:latin typeface="Times New Roman" panose="02020603050405020304" pitchFamily="18" charset="0"/>
                <a:ea typeface="微软雅黑" panose="020B0503020204020204" pitchFamily="34" charset="-122"/>
              </a:rPr>
              <a:t>客户端不参与在线计算</a:t>
            </a:r>
          </a:p>
          <a:p>
            <a:pPr marL="285750" indent="-285750">
              <a:lnSpc>
                <a:spcPct val="150000"/>
              </a:lnSpc>
              <a:buFont typeface="Arial" panose="020B0604020202020204" pitchFamily="34" charset="0"/>
              <a:buChar char="•"/>
            </a:pPr>
            <a:r>
              <a:rPr lang="zh-CN" altLang="en-US" b="1">
                <a:latin typeface="Times New Roman" panose="02020603050405020304" pitchFamily="18" charset="0"/>
                <a:ea typeface="微软雅黑" panose="020B0503020204020204" pitchFamily="34" charset="-122"/>
              </a:rPr>
              <a:t>假设被破坏→存在隐私风险</a:t>
            </a:r>
          </a:p>
        </p:txBody>
      </p:sp>
      <p:sp>
        <p:nvSpPr>
          <p:cNvPr id="3" name="文本框 2">
            <a:extLst>
              <a:ext uri="{FF2B5EF4-FFF2-40B4-BE49-F238E27FC236}">
                <a16:creationId xmlns:a16="http://schemas.microsoft.com/office/drawing/2014/main" id="{2E4F0BD9-6CD8-D70D-C067-26F9AA894FE9}"/>
              </a:ext>
            </a:extLst>
          </p:cNvPr>
          <p:cNvSpPr txBox="1"/>
          <p:nvPr/>
        </p:nvSpPr>
        <p:spPr>
          <a:xfrm>
            <a:off x="629331" y="1321534"/>
            <a:ext cx="7843337" cy="2310889"/>
          </a:xfrm>
          <a:prstGeom prst="rect">
            <a:avLst/>
          </a:prstGeom>
        </p:spPr>
        <p:txBody>
          <a:bodyPr wrap="square">
            <a:spAutoFit/>
          </a:bodyPr>
          <a:lstStyle/>
          <a:p>
            <a:pPr>
              <a:lnSpc>
                <a:spcPct val="150000"/>
              </a:lnSpc>
            </a:pPr>
            <a:r>
              <a:rPr lang="zh-CN" altLang="en-US" b="1">
                <a:latin typeface="Times New Roman" panose="02020603050405020304" pitchFamily="18" charset="0"/>
                <a:ea typeface="微软雅黑" panose="020B0503020204020204" pitchFamily="34" charset="-122"/>
              </a:rPr>
              <a:t>本文假设半诚实模型 </a:t>
            </a:r>
            <a:r>
              <a:rPr lang="en-US" altLang="zh-CN" b="1">
                <a:latin typeface="Times New Roman" panose="02020603050405020304" pitchFamily="18" charset="0"/>
                <a:ea typeface="微软雅黑" panose="020B0503020204020204" pitchFamily="34" charset="-122"/>
              </a:rPr>
              <a:t>(Semi-Honest)</a:t>
            </a:r>
          </a:p>
          <a:p>
            <a:pPr marL="285750" indent="-285750">
              <a:lnSpc>
                <a:spcPct val="150000"/>
              </a:lnSpc>
              <a:buFont typeface="Arial" panose="020B0604020202020204" pitchFamily="34" charset="0"/>
              <a:buChar char="•"/>
            </a:pPr>
            <a:r>
              <a:rPr lang="zh-CN" altLang="en-US" sz="1600" b="1">
                <a:latin typeface="Times New Roman" panose="02020603050405020304" pitchFamily="18" charset="0"/>
                <a:ea typeface="微软雅黑" panose="020B0503020204020204" pitchFamily="34" charset="-122"/>
              </a:rPr>
              <a:t>恶意 </a:t>
            </a:r>
            <a:r>
              <a:rPr lang="en-US" altLang="zh-CN" sz="1600" b="1">
                <a:latin typeface="Times New Roman" panose="02020603050405020304" pitchFamily="18" charset="0"/>
                <a:ea typeface="微软雅黑" panose="020B0503020204020204" pitchFamily="34" charset="-122"/>
              </a:rPr>
              <a:t>(Malicious)</a:t>
            </a:r>
            <a:r>
              <a:rPr lang="zh-CN" altLang="en-US" sz="1600" b="1">
                <a:latin typeface="Times New Roman" panose="02020603050405020304" pitchFamily="18" charset="0"/>
                <a:ea typeface="微软雅黑" panose="020B0503020204020204" pitchFamily="34" charset="-122"/>
              </a:rPr>
              <a:t>： </a:t>
            </a:r>
            <a:r>
              <a:rPr lang="zh-CN" altLang="en-US" sz="1600">
                <a:latin typeface="Times New Roman" panose="02020603050405020304" pitchFamily="18" charset="0"/>
                <a:ea typeface="微软雅黑" panose="020B0503020204020204" pitchFamily="34" charset="-122"/>
              </a:rPr>
              <a:t>对手会不择手段，比如篡改协议、发送假数据、提前中止计算来攻击你。防御这种对手代价极高。</a:t>
            </a:r>
            <a:endParaRPr lang="en-US" altLang="zh-CN" sz="1600">
              <a:latin typeface="Times New Roman" panose="02020603050405020304" pitchFamily="18" charset="0"/>
              <a:ea typeface="微软雅黑" panose="020B0503020204020204" pitchFamily="34" charset="-122"/>
            </a:endParaRPr>
          </a:p>
          <a:p>
            <a:pPr marL="285750" indent="-285750">
              <a:lnSpc>
                <a:spcPct val="150000"/>
              </a:lnSpc>
              <a:buFont typeface="Arial" panose="020B0604020202020204" pitchFamily="34" charset="0"/>
              <a:buChar char="•"/>
            </a:pPr>
            <a:r>
              <a:rPr lang="zh-CN" altLang="en-US" sz="1600" b="1">
                <a:latin typeface="Times New Roman" panose="02020603050405020304" pitchFamily="18" charset="0"/>
                <a:ea typeface="微软雅黑" panose="020B0503020204020204" pitchFamily="34" charset="-122"/>
              </a:rPr>
              <a:t>半诚实 </a:t>
            </a:r>
            <a:r>
              <a:rPr lang="en-US" altLang="zh-CN" sz="1600" b="1">
                <a:latin typeface="Times New Roman" panose="02020603050405020304" pitchFamily="18" charset="0"/>
                <a:ea typeface="微软雅黑" panose="020B0503020204020204" pitchFamily="34" charset="-122"/>
              </a:rPr>
              <a:t>(Semi-Honest)</a:t>
            </a:r>
            <a:r>
              <a:rPr lang="zh-CN" altLang="en-US" sz="1600" b="1">
                <a:latin typeface="Times New Roman" panose="02020603050405020304" pitchFamily="18" charset="0"/>
                <a:ea typeface="微软雅黑" panose="020B0503020204020204" pitchFamily="34" charset="-122"/>
              </a:rPr>
              <a:t>： </a:t>
            </a:r>
            <a:r>
              <a:rPr lang="zh-CN" altLang="en-US" sz="1600">
                <a:latin typeface="Times New Roman" panose="02020603050405020304" pitchFamily="18" charset="0"/>
                <a:ea typeface="微软雅黑" panose="020B0503020204020204" pitchFamily="34" charset="-122"/>
              </a:rPr>
              <a:t>也叫“诚实但好奇”。对手会严格遵守协议的每一步，但他会保留计算过程中收到的所有信息（比如中间值），试图在事后推断出额外的信息 。</a:t>
            </a:r>
          </a:p>
        </p:txBody>
      </p:sp>
    </p:spTree>
    <p:extLst>
      <p:ext uri="{BB962C8B-B14F-4D97-AF65-F5344CB8AC3E}">
        <p14:creationId xmlns:p14="http://schemas.microsoft.com/office/powerpoint/2010/main" val="2651513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文本框 19"/>
          <p:cNvSpPr txBox="1"/>
          <p:nvPr/>
        </p:nvSpPr>
        <p:spPr>
          <a:xfrm>
            <a:off x="629331" y="295379"/>
            <a:ext cx="3426179" cy="583565"/>
          </a:xfrm>
          <a:prstGeom prst="rect">
            <a:avLst/>
          </a:prstGeom>
          <a:noFill/>
        </p:spPr>
        <p:txBody>
          <a:bodyPr wrap="square" rtlCol="0">
            <a:spAutoFit/>
          </a:bodyPr>
          <a:lstStyle/>
          <a:p>
            <a:pPr lvl="0">
              <a:defRPr/>
            </a:pPr>
            <a:r>
              <a:rPr lang="zh-CN" altLang="en-US" sz="3200" b="1" dirty="0">
                <a:solidFill>
                  <a:schemeClr val="tx1"/>
                </a:solidFill>
                <a:latin typeface="微软雅黑" panose="020B0503020204020204" pitchFamily="34" charset="-122"/>
                <a:ea typeface="微软雅黑" panose="020B0503020204020204" pitchFamily="34" charset="-122"/>
              </a:rPr>
              <a:t>核心创新</a:t>
            </a:r>
          </a:p>
        </p:txBody>
      </p:sp>
      <p:sp>
        <p:nvSpPr>
          <p:cNvPr id="22" name="矩形: 圆角 21"/>
          <p:cNvSpPr/>
          <p:nvPr/>
        </p:nvSpPr>
        <p:spPr>
          <a:xfrm flipH="1">
            <a:off x="-218450" y="224311"/>
            <a:ext cx="739545" cy="724771"/>
          </a:xfrm>
          <a:prstGeom prst="roundRect">
            <a:avLst>
              <a:gd name="adj" fmla="val 1461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lumMod val="75000"/>
                  <a:lumOff val="25000"/>
                </a:schemeClr>
              </a:solidFill>
            </a:endParaRPr>
          </a:p>
        </p:txBody>
      </p:sp>
      <p:sp>
        <p:nvSpPr>
          <p:cNvPr id="5" name="文本框 4"/>
          <p:cNvSpPr txBox="1"/>
          <p:nvPr/>
        </p:nvSpPr>
        <p:spPr>
          <a:xfrm>
            <a:off x="659765" y="1284605"/>
            <a:ext cx="9721215" cy="398780"/>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altLang="zh-CN" sz="2000" b="1" dirty="0">
                <a:solidFill>
                  <a:schemeClr val="tx1"/>
                </a:solidFill>
                <a:uFillTx/>
                <a:latin typeface="Times New Roman" panose="02020603050405020304" charset="0"/>
                <a:ea typeface="微软雅黑" panose="020B0503020204020204" pitchFamily="34" charset="-122"/>
                <a:cs typeface="Times New Roman" panose="02020603050405020304" charset="0"/>
              </a:rPr>
              <a:t>1.</a:t>
            </a:r>
            <a:r>
              <a:rPr lang="zh-CN" altLang="en-US" sz="2000" b="1" dirty="0">
                <a:uFillTx/>
                <a:latin typeface="Times New Roman" panose="02020603050405020304" charset="0"/>
                <a:ea typeface="微软雅黑" panose="020B0503020204020204" pitchFamily="34" charset="-122"/>
                <a:cs typeface="Times New Roman" panose="02020603050405020304" charset="0"/>
                <a:sym typeface="+mn-ea"/>
              </a:rPr>
              <a:t>高效处理小数运算</a:t>
            </a:r>
            <a:endParaRPr lang="zh-CN" altLang="en-US" sz="2000" b="1" dirty="0">
              <a:solidFill>
                <a:schemeClr val="tx1"/>
              </a:solidFill>
              <a:uFillTx/>
              <a:latin typeface="Times New Roman" panose="02020603050405020304" charset="0"/>
              <a:ea typeface="微软雅黑" panose="020B0503020204020204" pitchFamily="34" charset="-122"/>
              <a:cs typeface="Times New Roman" panose="02020603050405020304" charset="0"/>
            </a:endParaRPr>
          </a:p>
        </p:txBody>
      </p:sp>
      <p:sp>
        <p:nvSpPr>
          <p:cNvPr id="4" name="文本框 3"/>
          <p:cNvSpPr txBox="1"/>
          <p:nvPr/>
        </p:nvSpPr>
        <p:spPr>
          <a:xfrm>
            <a:off x="717550" y="1888490"/>
            <a:ext cx="9663430" cy="2914015"/>
          </a:xfrm>
          <a:prstGeom prst="rect">
            <a:avLst/>
          </a:prstGeom>
        </p:spPr>
        <p:txBody>
          <a:bodyPr wrap="square">
            <a:spAutoFit/>
          </a:bodyPr>
          <a:lstStyle/>
          <a:p>
            <a:pPr marL="285750" indent="-285750" algn="just" fontAlgn="auto">
              <a:lnSpc>
                <a:spcPct val="120000"/>
              </a:lnSpc>
              <a:spcAft>
                <a:spcPts val="500"/>
              </a:spcAft>
              <a:buClrTx/>
              <a:buSzTx/>
              <a:buFont typeface="Arial" panose="020B0604020202020204" pitchFamily="34" charset="0"/>
              <a:buChar char="•"/>
            </a:pPr>
            <a:r>
              <a:rPr b="1">
                <a:solidFill>
                  <a:schemeClr val="tx1"/>
                </a:solidFill>
                <a:uFillTx/>
                <a:latin typeface="Times New Roman" panose="02020603050405020304" charset="0"/>
                <a:ea typeface="微软雅黑" panose="020B0503020204020204" pitchFamily="34" charset="-122"/>
                <a:sym typeface="+mn-ea"/>
              </a:rPr>
              <a:t>问题：小数计算极慢</a:t>
            </a:r>
          </a:p>
          <a:p>
            <a:pPr indent="0" algn="just" fontAlgn="auto">
              <a:lnSpc>
                <a:spcPct val="120000"/>
              </a:lnSpc>
              <a:spcAft>
                <a:spcPts val="500"/>
              </a:spcAft>
              <a:buClrTx/>
              <a:buSzTx/>
              <a:buFont typeface="Arial" panose="020B0604020202020204" pitchFamily="34" charset="0"/>
              <a:buNone/>
            </a:pPr>
            <a:r>
              <a:rPr lang="zh-CN" altLang="en-US" sz="1600">
                <a:solidFill>
                  <a:schemeClr val="tx1"/>
                </a:solidFill>
                <a:uFillTx/>
                <a:latin typeface="微软雅黑" panose="020B0503020204020204" pitchFamily="34" charset="-122"/>
                <a:ea typeface="微软雅黑" panose="020B0503020204020204" pitchFamily="34" charset="-122"/>
                <a:sym typeface="思源宋体 CN Heavy" panose="02020900000000000000" pitchFamily="18" charset="-122"/>
              </a:rPr>
              <a:t>线性回归需要大量乘法，十进制小数开销较大速度较慢</a:t>
            </a:r>
            <a:endParaRPr b="1">
              <a:solidFill>
                <a:schemeClr val="tx1"/>
              </a:solidFill>
              <a:uFillTx/>
              <a:latin typeface="Times New Roman" panose="02020603050405020304" charset="0"/>
              <a:ea typeface="微软雅黑" panose="020B0503020204020204" pitchFamily="34" charset="-122"/>
            </a:endParaRPr>
          </a:p>
          <a:p>
            <a:pPr marL="285750" indent="-285750" algn="just" fontAlgn="auto">
              <a:lnSpc>
                <a:spcPct val="120000"/>
              </a:lnSpc>
              <a:spcAft>
                <a:spcPts val="500"/>
              </a:spcAft>
              <a:buClrTx/>
              <a:buSzTx/>
              <a:buFont typeface="Arial" panose="020B0604020202020204" pitchFamily="34" charset="0"/>
              <a:buChar char="•"/>
            </a:pPr>
            <a:r>
              <a:rPr b="1">
                <a:solidFill>
                  <a:schemeClr val="tx1"/>
                </a:solidFill>
                <a:uFillTx/>
                <a:latin typeface="Times New Roman" panose="02020603050405020304" charset="0"/>
                <a:ea typeface="微软雅黑" panose="020B0503020204020204" pitchFamily="34" charset="-122"/>
                <a:sym typeface="+mn-ea"/>
              </a:rPr>
              <a:t>创新：本地截断 (Local Truncation)</a:t>
            </a:r>
            <a:endParaRPr b="1">
              <a:solidFill>
                <a:schemeClr val="tx1"/>
              </a:solidFill>
              <a:uFillTx/>
              <a:latin typeface="Times New Roman" panose="02020603050405020304" charset="0"/>
              <a:ea typeface="微软雅黑" panose="020B0503020204020204" pitchFamily="34" charset="-122"/>
            </a:endParaRPr>
          </a:p>
          <a:p>
            <a:pPr indent="0" algn="just" fontAlgn="auto">
              <a:lnSpc>
                <a:spcPct val="120000"/>
              </a:lnSpc>
              <a:spcAft>
                <a:spcPts val="500"/>
              </a:spcAft>
              <a:buClrTx/>
              <a:buSzTx/>
              <a:buFont typeface="Arial" panose="020B0604020202020204" pitchFamily="34" charset="0"/>
              <a:buNone/>
            </a:pPr>
            <a:r>
              <a:rPr lang="zh-CN" altLang="en-US" sz="1600">
                <a:solidFill>
                  <a:schemeClr val="tx1"/>
                </a:solidFill>
                <a:uFillTx/>
                <a:latin typeface="微软雅黑" panose="020B0503020204020204" pitchFamily="34" charset="-122"/>
                <a:ea typeface="微软雅黑" panose="020B0503020204020204" pitchFamily="34" charset="-122"/>
                <a:sym typeface="+mn-ea"/>
              </a:rPr>
              <a:t>各服务器本地截断小数，无需通信</a:t>
            </a:r>
            <a:endParaRPr lang="zh-CN" altLang="en-US" sz="1600">
              <a:solidFill>
                <a:schemeClr val="tx1"/>
              </a:solidFill>
              <a:uFillTx/>
              <a:latin typeface="微软雅黑" panose="020B0503020204020204" pitchFamily="34" charset="-122"/>
              <a:ea typeface="微软雅黑" panose="020B0503020204020204" pitchFamily="34" charset="-122"/>
            </a:endParaRPr>
          </a:p>
          <a:p>
            <a:pPr marL="285750" indent="-285750" algn="just" fontAlgn="auto">
              <a:lnSpc>
                <a:spcPct val="120000"/>
              </a:lnSpc>
              <a:spcAft>
                <a:spcPts val="500"/>
              </a:spcAft>
              <a:buClrTx/>
              <a:buSzTx/>
              <a:buFont typeface="Arial" panose="020B0604020202020204" pitchFamily="34" charset="0"/>
              <a:buChar char="•"/>
            </a:pPr>
            <a:r>
              <a:rPr b="1">
                <a:solidFill>
                  <a:schemeClr val="tx1"/>
                </a:solidFill>
                <a:uFillTx/>
                <a:latin typeface="Times New Roman" panose="02020603050405020304" charset="0"/>
                <a:ea typeface="微软雅黑" panose="020B0503020204020204" pitchFamily="34" charset="-122"/>
                <a:sym typeface="+mn-ea"/>
              </a:rPr>
              <a:t>误差≤1bit，性能接近明文</a:t>
            </a:r>
          </a:p>
          <a:p>
            <a:pPr marL="285750" indent="-285750" algn="just" fontAlgn="auto">
              <a:lnSpc>
                <a:spcPct val="120000"/>
              </a:lnSpc>
              <a:spcAft>
                <a:spcPts val="500"/>
              </a:spcAft>
              <a:buClrTx/>
              <a:buSzTx/>
              <a:buFont typeface="Arial" panose="020B0604020202020204" pitchFamily="34" charset="0"/>
              <a:buChar char="•"/>
            </a:pPr>
            <a:r>
              <a:rPr lang="zh-CN" altLang="en-US" sz="1600" b="1" dirty="0">
                <a:solidFill>
                  <a:schemeClr val="tx1"/>
                </a:solidFill>
                <a:uFillTx/>
                <a:latin typeface="Times New Roman" panose="02020603050405020304" charset="0"/>
                <a:ea typeface="微软雅黑" panose="020B0503020204020204" pitchFamily="34" charset="-122"/>
                <a:cs typeface="Times New Roman" panose="02020603050405020304" charset="0"/>
                <a:sym typeface="+mn-ea"/>
              </a:rPr>
              <a:t>技术优势：</a:t>
            </a:r>
          </a:p>
          <a:p>
            <a:pPr indent="0" fontAlgn="auto">
              <a:spcAft>
                <a:spcPts val="500"/>
              </a:spcAft>
            </a:pPr>
            <a:r>
              <a:rPr lang="zh-CN" altLang="en-US" sz="1600">
                <a:uFillTx/>
                <a:latin typeface="微软雅黑" panose="020B0503020204020204" pitchFamily="34" charset="-122"/>
                <a:ea typeface="微软雅黑" panose="020B0503020204020204" pitchFamily="34" charset="-122"/>
                <a:sym typeface="思源宋体 CN Heavy" panose="02020900000000000000" pitchFamily="18" charset="-122"/>
              </a:rPr>
              <a:t>在线阶段无需密码学操作</a:t>
            </a:r>
          </a:p>
          <a:p>
            <a:pPr indent="0" fontAlgn="auto">
              <a:spcAft>
                <a:spcPts val="500"/>
              </a:spcAft>
            </a:pPr>
            <a:r>
              <a:rPr lang="zh-CN" altLang="en-US" sz="1600">
                <a:uFillTx/>
                <a:latin typeface="微软雅黑" panose="020B0503020204020204" pitchFamily="34" charset="-122"/>
                <a:ea typeface="微软雅黑" panose="020B0503020204020204" pitchFamily="34" charset="-122"/>
                <a:sym typeface="思源宋体 CN Heavy" panose="02020900000000000000" pitchFamily="18" charset="-122"/>
              </a:rPr>
              <a:t>误差可控，精度无损</a:t>
            </a:r>
            <a:endParaRPr lang="zh-CN" altLang="en-US" sz="1600">
              <a:solidFill>
                <a:schemeClr val="tx1"/>
              </a:solidFill>
              <a:uFillTx/>
              <a:latin typeface="微软雅黑" panose="020B0503020204020204" pitchFamily="34" charset="-122"/>
              <a:ea typeface="微软雅黑" panose="020B0503020204020204" pitchFamily="34" charset="-122"/>
              <a:sym typeface="+mn-ea"/>
            </a:endParaRPr>
          </a:p>
        </p:txBody>
      </p:sp>
      <p:pic>
        <p:nvPicPr>
          <p:cNvPr id="7" name="图片 6"/>
          <p:cNvPicPr>
            <a:picLocks noChangeAspect="1"/>
          </p:cNvPicPr>
          <p:nvPr/>
        </p:nvPicPr>
        <p:blipFill>
          <a:blip r:embed="rId3"/>
          <a:stretch>
            <a:fillRect/>
          </a:stretch>
        </p:blipFill>
        <p:spPr>
          <a:xfrm>
            <a:off x="6923124" y="1402315"/>
            <a:ext cx="4323321" cy="3502341"/>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文本框 19"/>
          <p:cNvSpPr txBox="1"/>
          <p:nvPr/>
        </p:nvSpPr>
        <p:spPr>
          <a:xfrm>
            <a:off x="629331" y="295379"/>
            <a:ext cx="3426179" cy="583565"/>
          </a:xfrm>
          <a:prstGeom prst="rect">
            <a:avLst/>
          </a:prstGeom>
          <a:noFill/>
        </p:spPr>
        <p:txBody>
          <a:bodyPr wrap="square" rtlCol="0">
            <a:spAutoFit/>
          </a:bodyPr>
          <a:lstStyle/>
          <a:p>
            <a:pPr lvl="0">
              <a:defRPr/>
            </a:pPr>
            <a:r>
              <a:rPr lang="zh-CN" altLang="en-US" sz="3200" b="1" dirty="0">
                <a:solidFill>
                  <a:schemeClr val="tx1"/>
                </a:solidFill>
                <a:latin typeface="微软雅黑" panose="020B0503020204020204" pitchFamily="34" charset="-122"/>
                <a:ea typeface="微软雅黑" panose="020B0503020204020204" pitchFamily="34" charset="-122"/>
              </a:rPr>
              <a:t>核心创新</a:t>
            </a:r>
          </a:p>
        </p:txBody>
      </p:sp>
      <p:sp>
        <p:nvSpPr>
          <p:cNvPr id="22" name="矩形: 圆角 21"/>
          <p:cNvSpPr/>
          <p:nvPr/>
        </p:nvSpPr>
        <p:spPr>
          <a:xfrm flipH="1">
            <a:off x="-218450" y="224311"/>
            <a:ext cx="739545" cy="724771"/>
          </a:xfrm>
          <a:prstGeom prst="roundRect">
            <a:avLst>
              <a:gd name="adj" fmla="val 1461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lumMod val="75000"/>
                  <a:lumOff val="25000"/>
                </a:schemeClr>
              </a:solidFill>
            </a:endParaRPr>
          </a:p>
        </p:txBody>
      </p:sp>
      <p:sp>
        <p:nvSpPr>
          <p:cNvPr id="5" name="文本框 4"/>
          <p:cNvSpPr txBox="1"/>
          <p:nvPr/>
        </p:nvSpPr>
        <p:spPr>
          <a:xfrm>
            <a:off x="659765" y="1284605"/>
            <a:ext cx="9721215" cy="706755"/>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altLang="zh-CN" sz="2000" b="1" dirty="0">
                <a:solidFill>
                  <a:schemeClr val="tx1"/>
                </a:solidFill>
                <a:uFillTx/>
                <a:latin typeface="Times New Roman" panose="02020603050405020304" charset="0"/>
                <a:ea typeface="微软雅黑" panose="020B0503020204020204" pitchFamily="34" charset="-122"/>
                <a:cs typeface="Times New Roman" panose="02020603050405020304" charset="0"/>
              </a:rPr>
              <a:t>2.</a:t>
            </a:r>
            <a:r>
              <a:rPr lang="zh-CN" altLang="en-US" sz="2000" b="1" dirty="0">
                <a:uFillTx/>
                <a:latin typeface="Times New Roman" panose="02020603050405020304" charset="0"/>
                <a:ea typeface="微软雅黑" panose="020B0503020204020204" pitchFamily="34" charset="-122"/>
                <a:cs typeface="Times New Roman" panose="02020603050405020304" charset="0"/>
                <a:sym typeface="+mn-ea"/>
              </a:rPr>
              <a:t>MPC友好激活函数</a:t>
            </a:r>
            <a:endParaRPr lang="zh-CN" altLang="en-US" sz="2000"/>
          </a:p>
          <a:p>
            <a:pPr algn="l"/>
            <a:endParaRPr lang="zh-CN" altLang="en-US" sz="2000" b="1" dirty="0">
              <a:solidFill>
                <a:schemeClr val="tx1"/>
              </a:solidFill>
              <a:uFillTx/>
              <a:latin typeface="Times New Roman" panose="02020603050405020304" charset="0"/>
              <a:ea typeface="微软雅黑" panose="020B0503020204020204" pitchFamily="34" charset="-122"/>
              <a:cs typeface="Times New Roman" panose="02020603050405020304" charset="0"/>
            </a:endParaRPr>
          </a:p>
        </p:txBody>
      </p:sp>
      <p:sp>
        <p:nvSpPr>
          <p:cNvPr id="2" name="文本框 1"/>
          <p:cNvSpPr txBox="1"/>
          <p:nvPr/>
        </p:nvSpPr>
        <p:spPr>
          <a:xfrm>
            <a:off x="659765" y="1967230"/>
            <a:ext cx="6096000" cy="2830195"/>
          </a:xfrm>
          <a:prstGeom prst="rect">
            <a:avLst/>
          </a:prstGeom>
          <a:noFill/>
        </p:spPr>
        <p:txBody>
          <a:bodyPr wrap="square" rtlCol="0" anchor="t">
            <a:spAutoFit/>
          </a:bodyPr>
          <a:lstStyle/>
          <a:p>
            <a:pPr indent="-215900">
              <a:spcAft>
                <a:spcPts val="1200"/>
              </a:spcAft>
              <a:buFont typeface="Arial" panose="020B0604020202020204" pitchFamily="34" charset="0"/>
              <a:buChar char="•"/>
            </a:pPr>
            <a:r>
              <a:rPr sz="1800" b="1">
                <a:solidFill>
                  <a:schemeClr val="tx1"/>
                </a:solidFill>
                <a:uFillTx/>
                <a:latin typeface="Times New Roman" panose="02020603050405020304" charset="0"/>
                <a:ea typeface="微软雅黑" panose="020B0503020204020204" pitchFamily="34" charset="-122"/>
                <a:sym typeface="思源宋体 CN Heavy" panose="02020900000000000000" pitchFamily="18" charset="-122"/>
              </a:rPr>
              <a:t>解决的挑战</a:t>
            </a:r>
          </a:p>
          <a:p>
            <a:pPr>
              <a:spcAft>
                <a:spcPts val="1200"/>
              </a:spcAft>
            </a:pPr>
            <a:r>
              <a:rPr sz="1600">
                <a:solidFill>
                  <a:schemeClr val="tx1"/>
                </a:solidFill>
                <a:uFillTx/>
                <a:latin typeface="Times New Roman" panose="02020603050405020304" charset="0"/>
                <a:ea typeface="微软雅黑" panose="020B0503020204020204" pitchFamily="34" charset="-122"/>
                <a:sym typeface="思源宋体 CN Heavy" panose="02020900000000000000" pitchFamily="18" charset="-122"/>
              </a:rPr>
              <a:t>计算非线性函数通过SS+三元组的方式无法高效计算</a:t>
            </a:r>
          </a:p>
          <a:p>
            <a:pPr indent="-215900">
              <a:spcAft>
                <a:spcPts val="1200"/>
              </a:spcAft>
              <a:buFont typeface="Arial" panose="020B0604020202020204" pitchFamily="34" charset="0"/>
              <a:buChar char="•"/>
            </a:pPr>
            <a:r>
              <a:rPr sz="1800" b="1">
                <a:solidFill>
                  <a:schemeClr val="tx1"/>
                </a:solidFill>
                <a:uFillTx/>
                <a:latin typeface="Times New Roman" panose="02020603050405020304" charset="0"/>
                <a:ea typeface="微软雅黑" panose="020B0503020204020204" pitchFamily="34" charset="-122"/>
                <a:sym typeface="思源宋体 CN Heavy" panose="02020900000000000000" pitchFamily="18" charset="-122"/>
              </a:rPr>
              <a:t>实现方案</a:t>
            </a:r>
          </a:p>
          <a:p>
            <a:pPr>
              <a:spcAft>
                <a:spcPts val="1200"/>
              </a:spcAft>
            </a:pPr>
            <a:r>
              <a:rPr sz="1600">
                <a:solidFill>
                  <a:schemeClr val="tx1"/>
                </a:solidFill>
                <a:uFillTx/>
                <a:latin typeface="Times New Roman" panose="02020603050405020304" charset="0"/>
                <a:ea typeface="微软雅黑" panose="020B0503020204020204" pitchFamily="34" charset="-122"/>
                <a:sym typeface="思源宋体 CN Heavy" panose="02020900000000000000" pitchFamily="18" charset="-122"/>
              </a:rPr>
              <a:t>Sigmoid -&gt; 提出一种分段线性函数</a:t>
            </a:r>
          </a:p>
          <a:p>
            <a:pPr>
              <a:spcAft>
                <a:spcPts val="1200"/>
              </a:spcAft>
            </a:pPr>
            <a:r>
              <a:rPr sz="1600">
                <a:solidFill>
                  <a:schemeClr val="tx1"/>
                </a:solidFill>
                <a:uFillTx/>
                <a:latin typeface="Times New Roman" panose="02020603050405020304" charset="0"/>
                <a:ea typeface="微软雅黑" panose="020B0503020204020204" pitchFamily="34" charset="-122"/>
                <a:sym typeface="思源宋体 CN Heavy" panose="02020900000000000000" pitchFamily="18" charset="-122"/>
              </a:rPr>
              <a:t>Softmax -&gt; 基于ReLU和一次安全除法组合</a:t>
            </a:r>
          </a:p>
          <a:p>
            <a:pPr indent="-215900">
              <a:spcAft>
                <a:spcPts val="1200"/>
              </a:spcAft>
              <a:buFont typeface="Arial" panose="020B0604020202020204" pitchFamily="34" charset="0"/>
              <a:buChar char="•"/>
            </a:pPr>
            <a:r>
              <a:rPr sz="1800" b="1">
                <a:solidFill>
                  <a:schemeClr val="tx1"/>
                </a:solidFill>
                <a:uFillTx/>
                <a:latin typeface="Times New Roman" panose="02020603050405020304" charset="0"/>
                <a:ea typeface="微软雅黑" panose="020B0503020204020204" pitchFamily="34" charset="-122"/>
                <a:sym typeface="思源宋体 CN Heavy" panose="02020900000000000000" pitchFamily="18" charset="-122"/>
              </a:rPr>
              <a:t>技术优势</a:t>
            </a:r>
          </a:p>
          <a:p>
            <a:pPr>
              <a:spcAft>
                <a:spcPts val="1200"/>
              </a:spcAft>
            </a:pPr>
            <a:r>
              <a:rPr sz="1600">
                <a:solidFill>
                  <a:schemeClr val="tx1"/>
                </a:solidFill>
                <a:uFillTx/>
                <a:latin typeface="Times New Roman" panose="02020603050405020304" charset="0"/>
                <a:ea typeface="微软雅黑" panose="020B0503020204020204" pitchFamily="34" charset="-122"/>
                <a:sym typeface="思源宋体 CN Heavy" panose="02020900000000000000" pitchFamily="18" charset="-122"/>
              </a:rPr>
              <a:t>精度非常相近计算开销较小</a:t>
            </a:r>
          </a:p>
        </p:txBody>
      </p:sp>
      <p:pic>
        <p:nvPicPr>
          <p:cNvPr id="6" name="图片 5"/>
          <p:cNvPicPr>
            <a:picLocks noChangeAspect="1"/>
          </p:cNvPicPr>
          <p:nvPr/>
        </p:nvPicPr>
        <p:blipFill>
          <a:blip r:embed="rId3"/>
          <a:stretch>
            <a:fillRect/>
          </a:stretch>
        </p:blipFill>
        <p:spPr>
          <a:xfrm>
            <a:off x="6078836" y="3844925"/>
            <a:ext cx="5276850" cy="952500"/>
          </a:xfrm>
          <a:prstGeom prst="rect">
            <a:avLst/>
          </a:prstGeom>
        </p:spPr>
      </p:pic>
      <p:pic>
        <p:nvPicPr>
          <p:cNvPr id="4" name="图片 3">
            <a:extLst>
              <a:ext uri="{FF2B5EF4-FFF2-40B4-BE49-F238E27FC236}">
                <a16:creationId xmlns:a16="http://schemas.microsoft.com/office/drawing/2014/main" id="{65A9E713-5D43-CD26-93ED-1D58CC9B0C2E}"/>
              </a:ext>
            </a:extLst>
          </p:cNvPr>
          <p:cNvPicPr>
            <a:picLocks noChangeAspect="1"/>
          </p:cNvPicPr>
          <p:nvPr/>
        </p:nvPicPr>
        <p:blipFill>
          <a:blip r:embed="rId4"/>
          <a:stretch>
            <a:fillRect/>
          </a:stretch>
        </p:blipFill>
        <p:spPr>
          <a:xfrm>
            <a:off x="7269461" y="1428750"/>
            <a:ext cx="2895600" cy="200025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文本框 19"/>
          <p:cNvSpPr txBox="1"/>
          <p:nvPr/>
        </p:nvSpPr>
        <p:spPr>
          <a:xfrm>
            <a:off x="629331" y="295379"/>
            <a:ext cx="3426179" cy="583565"/>
          </a:xfrm>
          <a:prstGeom prst="rect">
            <a:avLst/>
          </a:prstGeom>
          <a:noFill/>
        </p:spPr>
        <p:txBody>
          <a:bodyPr wrap="square" rtlCol="0">
            <a:spAutoFit/>
          </a:bodyPr>
          <a:lstStyle/>
          <a:p>
            <a:pPr lvl="0">
              <a:defRPr/>
            </a:pPr>
            <a:r>
              <a:rPr lang="zh-CN" altLang="en-US" sz="3200" b="1" dirty="0">
                <a:solidFill>
                  <a:schemeClr val="tx1"/>
                </a:solidFill>
                <a:latin typeface="微软雅黑" panose="020B0503020204020204" pitchFamily="34" charset="-122"/>
                <a:ea typeface="微软雅黑" panose="020B0503020204020204" pitchFamily="34" charset="-122"/>
              </a:rPr>
              <a:t>核心创新</a:t>
            </a:r>
          </a:p>
        </p:txBody>
      </p:sp>
      <p:sp>
        <p:nvSpPr>
          <p:cNvPr id="22" name="矩形: 圆角 21"/>
          <p:cNvSpPr/>
          <p:nvPr/>
        </p:nvSpPr>
        <p:spPr>
          <a:xfrm flipH="1">
            <a:off x="-218450" y="224311"/>
            <a:ext cx="739545" cy="724771"/>
          </a:xfrm>
          <a:prstGeom prst="roundRect">
            <a:avLst>
              <a:gd name="adj" fmla="val 1461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lumMod val="75000"/>
                  <a:lumOff val="25000"/>
                </a:schemeClr>
              </a:solidFill>
            </a:endParaRPr>
          </a:p>
        </p:txBody>
      </p:sp>
      <p:sp>
        <p:nvSpPr>
          <p:cNvPr id="5" name="文本框 4"/>
          <p:cNvSpPr txBox="1"/>
          <p:nvPr/>
        </p:nvSpPr>
        <p:spPr>
          <a:xfrm>
            <a:off x="659765" y="1284605"/>
            <a:ext cx="9721215" cy="1014730"/>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altLang="zh-CN" sz="2000" b="1" dirty="0">
                <a:solidFill>
                  <a:schemeClr val="tx1"/>
                </a:solidFill>
                <a:uFillTx/>
                <a:latin typeface="Times New Roman" panose="02020603050405020304" charset="0"/>
                <a:ea typeface="微软雅黑" panose="020B0503020204020204" pitchFamily="34" charset="-122"/>
                <a:cs typeface="Times New Roman" panose="02020603050405020304" charset="0"/>
              </a:rPr>
              <a:t>3.</a:t>
            </a:r>
            <a:r>
              <a:rPr lang="zh-CN" altLang="en-US" sz="2000" b="1" dirty="0">
                <a:uFillTx/>
                <a:latin typeface="Times New Roman" panose="02020603050405020304" charset="0"/>
                <a:ea typeface="微软雅黑" panose="020B0503020204020204" pitchFamily="34" charset="-122"/>
                <a:cs typeface="Times New Roman" panose="02020603050405020304" charset="0"/>
                <a:sym typeface="+mn-ea"/>
              </a:rPr>
              <a:t>协议向量化优化</a:t>
            </a:r>
            <a:endParaRPr lang="zh-CN" altLang="en-US" sz="2000"/>
          </a:p>
          <a:p>
            <a:pPr algn="l"/>
            <a:endParaRPr lang="zh-CN" altLang="en-US" sz="2000"/>
          </a:p>
          <a:p>
            <a:pPr algn="l"/>
            <a:endParaRPr lang="zh-CN" altLang="en-US" sz="2000" b="1" dirty="0">
              <a:solidFill>
                <a:schemeClr val="tx1"/>
              </a:solidFill>
              <a:uFillTx/>
              <a:latin typeface="Times New Roman" panose="02020603050405020304" charset="0"/>
              <a:ea typeface="微软雅黑" panose="020B0503020204020204" pitchFamily="34" charset="-122"/>
              <a:cs typeface="Times New Roman" panose="02020603050405020304" charset="0"/>
            </a:endParaRPr>
          </a:p>
        </p:txBody>
      </p:sp>
      <mc:AlternateContent xmlns:mc="http://schemas.openxmlformats.org/markup-compatibility/2006">
        <mc:Choice xmlns:a14="http://schemas.microsoft.com/office/drawing/2010/main" Requires="a14">
          <p:sp>
            <p:nvSpPr>
              <p:cNvPr id="2" name="文本框 1"/>
              <p:cNvSpPr txBox="1"/>
              <p:nvPr/>
            </p:nvSpPr>
            <p:spPr>
              <a:xfrm>
                <a:off x="659765" y="1967230"/>
                <a:ext cx="6096000" cy="2900794"/>
              </a:xfrm>
              <a:prstGeom prst="rect">
                <a:avLst/>
              </a:prstGeom>
              <a:noFill/>
            </p:spPr>
            <p:txBody>
              <a:bodyPr wrap="square" rtlCol="0" anchor="t">
                <a:spAutoFit/>
              </a:bodyPr>
              <a:lstStyle/>
              <a:p>
                <a:pPr indent="-215900" fontAlgn="auto">
                  <a:spcAft>
                    <a:spcPts val="1500"/>
                  </a:spcAft>
                  <a:buFont typeface="Arial" panose="020B0604020202020204" pitchFamily="34" charset="0"/>
                  <a:buChar char="•"/>
                </a:pPr>
                <a:r>
                  <a:rPr b="1">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mn-ea"/>
                  </a:rPr>
                  <a:t>批量生成矩阵三元组</a:t>
                </a:r>
                <a:endParaRPr lang="en-US" b="1">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fontAlgn="auto">
                  <a:spcAft>
                    <a:spcPts val="1200"/>
                  </a:spcAft>
                </a:pPr>
                <a:r>
                  <a:rPr lang="zh-CN" altLang="en-US" sz="1600">
                    <a:latin typeface="Times New Roman" panose="02020603050405020304" charset="0"/>
                    <a:ea typeface="微软雅黑" panose="020B0503020204020204" pitchFamily="34" charset="-122"/>
                  </a:rPr>
                  <a:t>在离线阶段利用 </a:t>
                </a:r>
                <a:r>
                  <a:rPr lang="en-US" altLang="zh-CN" sz="1600">
                    <a:latin typeface="Times New Roman" panose="02020603050405020304" charset="0"/>
                    <a:ea typeface="微软雅黑" panose="020B0503020204020204" pitchFamily="34" charset="-122"/>
                  </a:rPr>
                  <a:t>LHE</a:t>
                </a:r>
                <a:r>
                  <a:rPr lang="zh-CN" altLang="en-US" sz="1600">
                    <a:latin typeface="Times New Roman" panose="02020603050405020304" charset="0"/>
                    <a:ea typeface="微软雅黑" panose="020B0503020204020204" pitchFamily="34" charset="-122"/>
                  </a:rPr>
                  <a:t>或</a:t>
                </a:r>
                <a:r>
                  <a:rPr lang="en-US" altLang="zh-CN" sz="1600">
                    <a:latin typeface="Times New Roman" panose="02020603050405020304" charset="0"/>
                    <a:ea typeface="微软雅黑" panose="020B0503020204020204" pitchFamily="34" charset="-122"/>
                  </a:rPr>
                  <a:t>OT</a:t>
                </a:r>
                <a:r>
                  <a:rPr lang="zh-CN" altLang="en-US" sz="1600">
                    <a:latin typeface="Times New Roman" panose="02020603050405020304" charset="0"/>
                    <a:ea typeface="微软雅黑" panose="020B0503020204020204" pitchFamily="34" charset="-122"/>
                  </a:rPr>
                  <a:t>协议，一次性批量生成用于矩阵乘法的随机矩阵</a:t>
                </a:r>
                <a14:m>
                  <m:oMath xmlns:m="http://schemas.openxmlformats.org/officeDocument/2006/math">
                    <m:r>
                      <a:rPr lang="en-US" altLang="zh-CN" sz="1600" i="1" smtClean="0">
                        <a:latin typeface="Cambria Math" panose="02040503050406030204" pitchFamily="18" charset="0"/>
                        <a:ea typeface="微软雅黑" panose="020B0503020204020204" pitchFamily="34" charset="-122"/>
                      </a:rPr>
                      <m:t>	</m:t>
                    </m:r>
                    <m:r>
                      <m:rPr>
                        <m:sty m:val="p"/>
                      </m:rPr>
                      <a:rPr lang="en-US" altLang="zh-CN" sz="1600" b="0" i="1" smtClean="0">
                        <a:latin typeface="Cambria Math" panose="02040503050406030204" pitchFamily="18" charset="0"/>
                        <a:ea typeface="微软雅黑" panose="020B0503020204020204" pitchFamily="34" charset="-122"/>
                      </a:rPr>
                      <m:t>U</m:t>
                    </m:r>
                    <m:r>
                      <a:rPr lang="en-US" altLang="zh-CN" sz="1600" b="0" i="1" smtClean="0">
                        <a:latin typeface="Cambria Math" panose="02040503050406030204" pitchFamily="18" charset="0"/>
                        <a:ea typeface="微软雅黑" panose="020B0503020204020204" pitchFamily="34" charset="-122"/>
                      </a:rPr>
                      <m:t>,</m:t>
                    </m:r>
                    <m:r>
                      <m:rPr>
                        <m:sty m:val="p"/>
                      </m:rPr>
                      <a:rPr lang="en-US" altLang="zh-CN" sz="1600" b="0" i="1" smtClean="0">
                        <a:latin typeface="Cambria Math" panose="02040503050406030204" pitchFamily="18" charset="0"/>
                        <a:ea typeface="微软雅黑" panose="020B0503020204020204" pitchFamily="34" charset="-122"/>
                      </a:rPr>
                      <m:t>V</m:t>
                    </m:r>
                    <m:r>
                      <a:rPr lang="en-US" altLang="zh-CN" sz="1600" b="0" i="1" smtClean="0">
                        <a:latin typeface="Cambria Math" panose="02040503050406030204" pitchFamily="18" charset="0"/>
                        <a:ea typeface="微软雅黑" panose="020B0503020204020204" pitchFamily="34" charset="-122"/>
                      </a:rPr>
                      <m:t>,</m:t>
                    </m:r>
                    <m:r>
                      <m:rPr>
                        <m:sty m:val="p"/>
                      </m:rPr>
                      <a:rPr lang="en-US" altLang="zh-CN" sz="1600" b="0" i="1" smtClean="0">
                        <a:latin typeface="Cambria Math" panose="02040503050406030204" pitchFamily="18" charset="0"/>
                        <a:ea typeface="微软雅黑" panose="020B0503020204020204" pitchFamily="34" charset="-122"/>
                      </a:rPr>
                      <m:t>Z</m:t>
                    </m:r>
                  </m:oMath>
                </a14:m>
                <a:r>
                  <a:rPr lang="zh-CN" altLang="en-US" sz="1600">
                    <a:latin typeface="Times New Roman" panose="02020603050405020304" charset="0"/>
                    <a:ea typeface="微软雅黑" panose="020B0503020204020204" pitchFamily="34" charset="-122"/>
                  </a:rPr>
                  <a:t>，并确保 </a:t>
                </a:r>
                <a14:m>
                  <m:oMath xmlns:m="http://schemas.openxmlformats.org/officeDocument/2006/math">
                    <m:r>
                      <m:rPr>
                        <m:sty m:val="p"/>
                      </m:rPr>
                      <a:rPr lang="en-US" altLang="zh-CN" sz="1600" b="0" i="1" smtClean="0">
                        <a:latin typeface="Cambria Math" panose="02040503050406030204" pitchFamily="18" charset="0"/>
                        <a:ea typeface="微软雅黑" panose="020B0503020204020204" pitchFamily="34" charset="-122"/>
                      </a:rPr>
                      <m:t>Z</m:t>
                    </m:r>
                    <m:r>
                      <a:rPr lang="en-US" altLang="zh-CN" sz="1600" b="0" i="1" smtClean="0">
                        <a:latin typeface="Cambria Math" panose="02040503050406030204" pitchFamily="18" charset="0"/>
                        <a:ea typeface="微软雅黑" panose="020B0503020204020204" pitchFamily="34" charset="-122"/>
                      </a:rPr>
                      <m:t>=</m:t>
                    </m:r>
                    <m:r>
                      <m:rPr>
                        <m:sty m:val="p"/>
                      </m:rPr>
                      <a:rPr lang="en-US" altLang="zh-CN" sz="1600" b="0" i="1" smtClean="0">
                        <a:latin typeface="Cambria Math" panose="02040503050406030204" pitchFamily="18" charset="0"/>
                        <a:ea typeface="微软雅黑" panose="020B0503020204020204" pitchFamily="34" charset="-122"/>
                      </a:rPr>
                      <m:t>U</m:t>
                    </m:r>
                    <m:r>
                      <a:rPr lang="en-US" altLang="zh-CN" sz="1600" b="0" i="1" smtClean="0">
                        <a:latin typeface="Cambria Math" panose="02040503050406030204" pitchFamily="18" charset="0"/>
                        <a:ea typeface="Cambria Math" panose="02040503050406030204" pitchFamily="18" charset="0"/>
                      </a:rPr>
                      <m:t>×</m:t>
                    </m:r>
                    <m:r>
                      <m:rPr>
                        <m:sty m:val="p"/>
                      </m:rPr>
                      <a:rPr lang="en-US" altLang="zh-CN" sz="1600" b="0" i="1" smtClean="0">
                        <a:latin typeface="Cambria Math" panose="02040503050406030204" pitchFamily="18" charset="0"/>
                        <a:ea typeface="Cambria Math" panose="02040503050406030204" pitchFamily="18" charset="0"/>
                      </a:rPr>
                      <m:t>V</m:t>
                    </m:r>
                  </m:oMath>
                </a14:m>
                <a:r>
                  <a:rPr lang="zh-CN" altLang="en-US" sz="1600">
                    <a:latin typeface="Times New Roman" panose="02020603050405020304" charset="0"/>
                    <a:ea typeface="微软雅黑" panose="020B0503020204020204" pitchFamily="34" charset="-122"/>
                  </a:rPr>
                  <a:t> </a:t>
                </a:r>
                <a:endParaRPr sz="1600">
                  <a:latin typeface="Times New Roman" panose="02020603050405020304" charset="0"/>
                  <a:ea typeface="微软雅黑" panose="020B0503020204020204" pitchFamily="34" charset="-122"/>
                </a:endParaRPr>
              </a:p>
              <a:p>
                <a:pPr indent="-215900" fontAlgn="auto">
                  <a:spcAft>
                    <a:spcPts val="1500"/>
                  </a:spcAft>
                  <a:buFont typeface="Arial" panose="020B0604020202020204" pitchFamily="34" charset="0"/>
                  <a:buChar char="•"/>
                </a:pPr>
                <a:r>
                  <a:rPr b="1">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mn-ea"/>
                  </a:rPr>
                  <a:t>离线阶段预处理整块数据</a:t>
                </a:r>
                <a:endParaRPr b="1">
                  <a:solidFill>
                    <a:schemeClr val="tx1"/>
                  </a:solidFill>
                  <a:latin typeface="微软雅黑" panose="020B0503020204020204" pitchFamily="34" charset="-122"/>
                  <a:ea typeface="微软雅黑" panose="020B0503020204020204" pitchFamily="34" charset="-122"/>
                  <a:cs typeface="微软雅黑" panose="020B0503020204020204" pitchFamily="34" charset="-122"/>
                </a:endParaRPr>
              </a:p>
              <a:p>
                <a:pPr indent="-215900" fontAlgn="auto">
                  <a:spcAft>
                    <a:spcPts val="1500"/>
                  </a:spcAft>
                  <a:buFont typeface="Arial" panose="020B0604020202020204" pitchFamily="34" charset="0"/>
                  <a:buChar char="•"/>
                </a:pPr>
                <a:r>
                  <a:rPr b="1">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mn-ea"/>
                  </a:rPr>
                  <a:t>在线阶段矩阵乘法+并行</a:t>
                </a:r>
                <a:endParaRPr lang="en-US" b="1">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fontAlgn="auto">
                  <a:spcAft>
                    <a:spcPts val="1500"/>
                  </a:spcAft>
                </a:pPr>
                <a:r>
                  <a:rPr lang="zh-CN" altLang="en-US" sz="1600">
                    <a:latin typeface="Times New Roman" panose="02020603050405020304" pitchFamily="18" charset="0"/>
                    <a:ea typeface="微软雅黑" panose="020B0503020204020204" pitchFamily="34" charset="-122"/>
                    <a:sym typeface="+mn-ea"/>
                  </a:rPr>
                  <a:t>直接调用</a:t>
                </a:r>
                <a:r>
                  <a:rPr lang="en-US" altLang="zh-CN" sz="1600">
                    <a:latin typeface="Times New Roman" panose="02020603050405020304" pitchFamily="18" charset="0"/>
                    <a:ea typeface="微软雅黑" panose="020B0503020204020204" pitchFamily="34" charset="-122"/>
                    <a:sym typeface="+mn-ea"/>
                  </a:rPr>
                  <a:t>Eigen</a:t>
                </a:r>
                <a:r>
                  <a:rPr lang="zh-CN" altLang="en-US" sz="1600">
                    <a:latin typeface="Times New Roman" panose="02020603050405020304" pitchFamily="18" charset="0"/>
                    <a:ea typeface="微软雅黑" panose="020B0503020204020204" pitchFamily="34" charset="-122"/>
                    <a:sym typeface="+mn-ea"/>
                  </a:rPr>
                  <a:t>执行计算</a:t>
                </a:r>
                <a:endParaRPr sz="1600">
                  <a:latin typeface="Times New Roman" panose="02020603050405020304" pitchFamily="18" charset="0"/>
                  <a:ea typeface="微软雅黑" panose="020B0503020204020204" pitchFamily="34" charset="-122"/>
                </a:endParaRPr>
              </a:p>
              <a:p>
                <a:pPr indent="-215900" fontAlgn="auto">
                  <a:spcAft>
                    <a:spcPts val="1500"/>
                  </a:spcAft>
                  <a:buFont typeface="Arial" panose="020B0604020202020204" pitchFamily="34" charset="0"/>
                  <a:buChar char="•"/>
                </a:pPr>
                <a:r>
                  <a:rPr b="1">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mn-ea"/>
                  </a:rPr>
                  <a:t>通信量</a:t>
                </a:r>
                <a:r>
                  <a:rPr lang="en-US" b="1">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mn-ea"/>
                  </a:rPr>
                  <a:t> </a:t>
                </a:r>
                <a:r>
                  <a:rPr lang="zh-CN" altLang="en-US" b="1">
                    <a:latin typeface="微软雅黑" panose="020B0503020204020204" pitchFamily="34" charset="-122"/>
                    <a:ea typeface="微软雅黑" panose="020B0503020204020204" pitchFamily="34" charset="-122"/>
                    <a:cs typeface="微软雅黑" panose="020B0503020204020204" pitchFamily="34" charset="-122"/>
                    <a:sym typeface="+mn-ea"/>
                  </a:rPr>
                  <a:t>减少约</a:t>
                </a:r>
                <a:r>
                  <a:rPr b="1">
                    <a:solidFill>
                      <a:schemeClr val="tx1"/>
                    </a:solidFill>
                    <a:latin typeface="微软雅黑" panose="020B0503020204020204" pitchFamily="34" charset="-122"/>
                    <a:ea typeface="微软雅黑" panose="020B0503020204020204" pitchFamily="34" charset="-122"/>
                    <a:cs typeface="微软雅黑" panose="020B0503020204020204" pitchFamily="34" charset="-122"/>
                    <a:sym typeface="+mn-ea"/>
                  </a:rPr>
                  <a:t>4倍，离线加速40–60倍</a:t>
                </a:r>
                <a:endParaRPr sz="1600" b="1">
                  <a:solidFill>
                    <a:schemeClr val="tx1"/>
                  </a:solidFill>
                  <a:uFillTx/>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mc:Choice>
        <mc:Fallback>
          <p:sp>
            <p:nvSpPr>
              <p:cNvPr id="2" name="文本框 1"/>
              <p:cNvSpPr txBox="1">
                <a:spLocks noRot="1" noChangeAspect="1" noMove="1" noResize="1" noEditPoints="1" noAdjustHandles="1" noChangeArrowheads="1" noChangeShapeType="1" noTextEdit="1"/>
              </p:cNvSpPr>
              <p:nvPr/>
            </p:nvSpPr>
            <p:spPr>
              <a:xfrm>
                <a:off x="659765" y="1967230"/>
                <a:ext cx="6096000" cy="2900794"/>
              </a:xfrm>
              <a:prstGeom prst="rect">
                <a:avLst/>
              </a:prstGeom>
              <a:blipFill>
                <a:blip r:embed="rId3"/>
                <a:stretch>
                  <a:fillRect l="-600" t="-1261" b="-1050"/>
                </a:stretch>
              </a:blipFill>
            </p:spPr>
            <p:txBody>
              <a:bodyPr/>
              <a:lstStyle/>
              <a:p>
                <a:r>
                  <a:rPr lang="zh-CN" altLang="en-US">
                    <a:noFill/>
                  </a:rPr>
                  <a:t> </a:t>
                </a:r>
              </a:p>
            </p:txBody>
          </p:sp>
        </mc:Fallback>
      </mc:AlternateContent>
      <p:pic>
        <p:nvPicPr>
          <p:cNvPr id="4" name="图片 3"/>
          <p:cNvPicPr>
            <a:picLocks noChangeAspect="1"/>
          </p:cNvPicPr>
          <p:nvPr/>
        </p:nvPicPr>
        <p:blipFill>
          <a:blip r:embed="rId4"/>
          <a:stretch>
            <a:fillRect/>
          </a:stretch>
        </p:blipFill>
        <p:spPr>
          <a:xfrm>
            <a:off x="6188710" y="3105899"/>
            <a:ext cx="5343525" cy="176212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文本框 19"/>
          <p:cNvSpPr txBox="1"/>
          <p:nvPr/>
        </p:nvSpPr>
        <p:spPr>
          <a:xfrm>
            <a:off x="629331" y="295379"/>
            <a:ext cx="3426179" cy="583565"/>
          </a:xfrm>
          <a:prstGeom prst="rect">
            <a:avLst/>
          </a:prstGeom>
          <a:noFill/>
        </p:spPr>
        <p:txBody>
          <a:bodyPr wrap="square" rtlCol="0">
            <a:spAutoFit/>
          </a:bodyPr>
          <a:lstStyle/>
          <a:p>
            <a:pPr lvl="0">
              <a:defRPr/>
            </a:pPr>
            <a:r>
              <a:rPr lang="zh-CN" altLang="en-US" sz="3200" b="1" dirty="0">
                <a:solidFill>
                  <a:schemeClr val="tx1"/>
                </a:solidFill>
                <a:latin typeface="微软雅黑" panose="020B0503020204020204" pitchFamily="34" charset="-122"/>
                <a:ea typeface="微软雅黑" panose="020B0503020204020204" pitchFamily="34" charset="-122"/>
              </a:rPr>
              <a:t>实验结果</a:t>
            </a:r>
          </a:p>
        </p:txBody>
      </p:sp>
      <p:sp>
        <p:nvSpPr>
          <p:cNvPr id="22" name="矩形: 圆角 21"/>
          <p:cNvSpPr/>
          <p:nvPr/>
        </p:nvSpPr>
        <p:spPr>
          <a:xfrm flipH="1">
            <a:off x="-218450" y="224311"/>
            <a:ext cx="739545" cy="724771"/>
          </a:xfrm>
          <a:prstGeom prst="roundRect">
            <a:avLst>
              <a:gd name="adj" fmla="val 1461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lumMod val="75000"/>
                  <a:lumOff val="25000"/>
                </a:schemeClr>
              </a:solidFill>
            </a:endParaRPr>
          </a:p>
        </p:txBody>
      </p:sp>
      <p:sp>
        <p:nvSpPr>
          <p:cNvPr id="2" name="文本框 1"/>
          <p:cNvSpPr txBox="1"/>
          <p:nvPr/>
        </p:nvSpPr>
        <p:spPr>
          <a:xfrm>
            <a:off x="659765" y="1794510"/>
            <a:ext cx="6096000" cy="1478280"/>
          </a:xfrm>
          <a:prstGeom prst="rect">
            <a:avLst/>
          </a:prstGeom>
          <a:noFill/>
        </p:spPr>
        <p:txBody>
          <a:bodyPr wrap="square" rtlCol="0" anchor="t">
            <a:spAutoFit/>
          </a:bodyPr>
          <a:lstStyle/>
          <a:p>
            <a:pPr indent="-215900">
              <a:lnSpc>
                <a:spcPct val="130000"/>
              </a:lnSpc>
              <a:spcAft>
                <a:spcPts val="1200"/>
              </a:spcAft>
              <a:buFont typeface="Arial" panose="020B0604020202020204" pitchFamily="34" charset="0"/>
              <a:buChar char="•"/>
              <a:defRPr sz="2200">
                <a:solidFill>
                  <a:srgbClr val="282828"/>
                </a:solidFill>
                <a:latin typeface="微软雅黑" panose="020B0503020204020204" pitchFamily="34" charset="-122"/>
              </a:defRPr>
            </a:pPr>
            <a:r>
              <a:rPr lang="en-US" altLang="zh-CN" sz="1800">
                <a:latin typeface="Times New Roman" panose="02020603050405020304" charset="0"/>
                <a:ea typeface="微软雅黑" panose="020B0503020204020204" pitchFamily="34" charset="-122"/>
                <a:sym typeface="+mn-ea"/>
              </a:rPr>
              <a:t> </a:t>
            </a:r>
            <a:r>
              <a:rPr lang="en-US" altLang="zh-CN" sz="1800" b="1">
                <a:solidFill>
                  <a:schemeClr val="tx1">
                    <a:lumMod val="85000"/>
                    <a:lumOff val="15000"/>
                  </a:schemeClr>
                </a:solidFill>
                <a:latin typeface="Times New Roman" panose="02020603050405020304" charset="0"/>
                <a:ea typeface="微软雅黑" panose="020B0503020204020204" pitchFamily="34" charset="-122"/>
                <a:sym typeface="+mn-ea"/>
              </a:rPr>
              <a:t>Linear Regression: MNIST</a:t>
            </a:r>
            <a:r>
              <a:rPr lang="zh-CN" altLang="en-US" sz="1800" b="1">
                <a:solidFill>
                  <a:schemeClr val="tx1">
                    <a:lumMod val="85000"/>
                    <a:lumOff val="15000"/>
                  </a:schemeClr>
                </a:solidFill>
                <a:latin typeface="Times New Roman" panose="02020603050405020304" charset="0"/>
                <a:ea typeface="微软雅黑" panose="020B0503020204020204" pitchFamily="34" charset="-122"/>
                <a:sym typeface="+mn-ea"/>
              </a:rPr>
              <a:t>上与明文训练精度相同</a:t>
            </a:r>
            <a:endParaRPr lang="zh-CN" altLang="en-US" sz="1800" b="1">
              <a:solidFill>
                <a:schemeClr val="tx1">
                  <a:lumMod val="85000"/>
                  <a:lumOff val="15000"/>
                </a:schemeClr>
              </a:solidFill>
              <a:latin typeface="Times New Roman" panose="02020603050405020304" charset="0"/>
              <a:ea typeface="微软雅黑" panose="020B0503020204020204" pitchFamily="34" charset="-122"/>
            </a:endParaRPr>
          </a:p>
          <a:p>
            <a:pPr indent="-215900">
              <a:lnSpc>
                <a:spcPct val="130000"/>
              </a:lnSpc>
              <a:spcAft>
                <a:spcPts val="1200"/>
              </a:spcAft>
              <a:buFont typeface="Arial" panose="020B0604020202020204" pitchFamily="34" charset="0"/>
              <a:buChar char="•"/>
              <a:defRPr sz="2200">
                <a:solidFill>
                  <a:srgbClr val="282828"/>
                </a:solidFill>
                <a:latin typeface="微软雅黑" panose="020B0503020204020204" pitchFamily="34" charset="-122"/>
              </a:defRPr>
            </a:pPr>
            <a:r>
              <a:rPr lang="en-US" altLang="zh-CN" sz="1800" b="1">
                <a:solidFill>
                  <a:schemeClr val="tx1">
                    <a:lumMod val="85000"/>
                    <a:lumOff val="15000"/>
                  </a:schemeClr>
                </a:solidFill>
                <a:latin typeface="Times New Roman" panose="02020603050405020304" charset="0"/>
                <a:ea typeface="微软雅黑" panose="020B0503020204020204" pitchFamily="34" charset="-122"/>
                <a:sym typeface="+mn-ea"/>
              </a:rPr>
              <a:t> Logistic Regression: 60k</a:t>
            </a:r>
            <a:r>
              <a:rPr lang="zh-CN" altLang="en-US" sz="1800" b="1">
                <a:solidFill>
                  <a:schemeClr val="tx1">
                    <a:lumMod val="85000"/>
                    <a:lumOff val="15000"/>
                  </a:schemeClr>
                </a:solidFill>
                <a:latin typeface="Times New Roman" panose="02020603050405020304" charset="0"/>
                <a:ea typeface="微软雅黑" panose="020B0503020204020204" pitchFamily="34" charset="-122"/>
                <a:sym typeface="+mn-ea"/>
              </a:rPr>
              <a:t>样本仅需</a:t>
            </a:r>
            <a:r>
              <a:rPr lang="en-US" altLang="zh-CN" sz="1800" b="1">
                <a:solidFill>
                  <a:schemeClr val="tx1">
                    <a:lumMod val="85000"/>
                    <a:lumOff val="15000"/>
                  </a:schemeClr>
                </a:solidFill>
                <a:latin typeface="Times New Roman" panose="02020603050405020304" charset="0"/>
                <a:ea typeface="微软雅黑" panose="020B0503020204020204" pitchFamily="34" charset="-122"/>
                <a:sym typeface="+mn-ea"/>
              </a:rPr>
              <a:t>29</a:t>
            </a:r>
            <a:r>
              <a:rPr lang="zh-CN" altLang="en-US" sz="1800" b="1">
                <a:solidFill>
                  <a:schemeClr val="tx1">
                    <a:lumMod val="85000"/>
                    <a:lumOff val="15000"/>
                  </a:schemeClr>
                </a:solidFill>
                <a:latin typeface="Times New Roman" panose="02020603050405020304" charset="0"/>
                <a:ea typeface="微软雅黑" panose="020B0503020204020204" pitchFamily="34" charset="-122"/>
                <a:sym typeface="+mn-ea"/>
              </a:rPr>
              <a:t>秒</a:t>
            </a:r>
            <a:endParaRPr lang="zh-CN" altLang="en-US" sz="1800" b="1">
              <a:solidFill>
                <a:schemeClr val="tx1">
                  <a:lumMod val="85000"/>
                  <a:lumOff val="15000"/>
                </a:schemeClr>
              </a:solidFill>
              <a:latin typeface="Times New Roman" panose="02020603050405020304" charset="0"/>
              <a:ea typeface="微软雅黑" panose="020B0503020204020204" pitchFamily="34" charset="-122"/>
            </a:endParaRPr>
          </a:p>
          <a:p>
            <a:pPr indent="-215900">
              <a:lnSpc>
                <a:spcPct val="130000"/>
              </a:lnSpc>
              <a:spcAft>
                <a:spcPts val="1200"/>
              </a:spcAft>
              <a:buFont typeface="Arial" panose="020B0604020202020204" pitchFamily="34" charset="0"/>
              <a:buChar char="•"/>
              <a:defRPr sz="2200">
                <a:solidFill>
                  <a:srgbClr val="282828"/>
                </a:solidFill>
                <a:latin typeface="微软雅黑" panose="020B0503020204020204" pitchFamily="34" charset="-122"/>
              </a:defRPr>
            </a:pPr>
            <a:r>
              <a:rPr lang="en-US" altLang="zh-CN" sz="1800" b="1">
                <a:solidFill>
                  <a:schemeClr val="tx1">
                    <a:lumMod val="85000"/>
                    <a:lumOff val="15000"/>
                  </a:schemeClr>
                </a:solidFill>
                <a:latin typeface="Times New Roman" panose="02020603050405020304" charset="0"/>
                <a:ea typeface="微软雅黑" panose="020B0503020204020204" pitchFamily="34" charset="-122"/>
                <a:sym typeface="+mn-ea"/>
              </a:rPr>
              <a:t> Neural Network: MNIST</a:t>
            </a:r>
            <a:r>
              <a:rPr lang="zh-CN" altLang="en-US" sz="1800" b="1">
                <a:solidFill>
                  <a:schemeClr val="tx1">
                    <a:lumMod val="85000"/>
                    <a:lumOff val="15000"/>
                  </a:schemeClr>
                </a:solidFill>
                <a:latin typeface="Times New Roman" panose="02020603050405020304" charset="0"/>
                <a:ea typeface="微软雅黑" panose="020B0503020204020204" pitchFamily="34" charset="-122"/>
                <a:sym typeface="+mn-ea"/>
              </a:rPr>
              <a:t>上</a:t>
            </a:r>
            <a:r>
              <a:rPr lang="en-US" altLang="zh-CN" sz="1800" b="1">
                <a:solidFill>
                  <a:schemeClr val="tx1">
                    <a:lumMod val="85000"/>
                    <a:lumOff val="15000"/>
                  </a:schemeClr>
                </a:solidFill>
                <a:latin typeface="Times New Roman" panose="02020603050405020304" charset="0"/>
                <a:ea typeface="微软雅黑" panose="020B0503020204020204" pitchFamily="34" charset="-122"/>
                <a:sym typeface="+mn-ea"/>
              </a:rPr>
              <a:t>93.4%</a:t>
            </a:r>
            <a:r>
              <a:rPr lang="zh-CN" altLang="en-US" sz="1800" b="1">
                <a:solidFill>
                  <a:schemeClr val="tx1">
                    <a:lumMod val="85000"/>
                    <a:lumOff val="15000"/>
                  </a:schemeClr>
                </a:solidFill>
                <a:latin typeface="Times New Roman" panose="02020603050405020304" charset="0"/>
                <a:ea typeface="微软雅黑" panose="020B0503020204020204" pitchFamily="34" charset="-122"/>
                <a:sym typeface="+mn-ea"/>
              </a:rPr>
              <a:t>精度（明文</a:t>
            </a:r>
            <a:r>
              <a:rPr lang="en-US" altLang="zh-CN" sz="1800" b="1">
                <a:solidFill>
                  <a:schemeClr val="tx1">
                    <a:lumMod val="85000"/>
                    <a:lumOff val="15000"/>
                  </a:schemeClr>
                </a:solidFill>
                <a:latin typeface="Times New Roman" panose="02020603050405020304" charset="0"/>
                <a:ea typeface="微软雅黑" panose="020B0503020204020204" pitchFamily="34" charset="-122"/>
                <a:sym typeface="+mn-ea"/>
              </a:rPr>
              <a:t>94.5%</a:t>
            </a:r>
            <a:r>
              <a:rPr lang="zh-CN" altLang="en-US" sz="1800" b="1">
                <a:solidFill>
                  <a:schemeClr val="tx1">
                    <a:lumMod val="85000"/>
                    <a:lumOff val="15000"/>
                  </a:schemeClr>
                </a:solidFill>
                <a:latin typeface="Times New Roman" panose="02020603050405020304" charset="0"/>
                <a:ea typeface="微软雅黑" panose="020B0503020204020204" pitchFamily="34" charset="-122"/>
                <a:sym typeface="+mn-ea"/>
              </a:rPr>
              <a:t>）</a:t>
            </a:r>
            <a:endParaRPr sz="1600" b="1">
              <a:solidFill>
                <a:schemeClr val="tx1"/>
              </a:solidFill>
              <a:uFillTx/>
              <a:latin typeface="Times New Roman" panose="02020603050405020304" charset="0"/>
              <a:ea typeface="微软雅黑" panose="020B0503020204020204" pitchFamily="34" charset="-122"/>
              <a:cs typeface="微软雅黑" panose="020B0503020204020204" pitchFamily="34" charset="-122"/>
              <a:sym typeface="+mn-ea"/>
            </a:endParaRPr>
          </a:p>
        </p:txBody>
      </p:sp>
      <p:pic>
        <p:nvPicPr>
          <p:cNvPr id="3" name="图片 2"/>
          <p:cNvPicPr>
            <a:picLocks noChangeAspect="1"/>
          </p:cNvPicPr>
          <p:nvPr/>
        </p:nvPicPr>
        <p:blipFill>
          <a:blip r:embed="rId3"/>
          <a:stretch>
            <a:fillRect/>
          </a:stretch>
        </p:blipFill>
        <p:spPr>
          <a:xfrm>
            <a:off x="6981825" y="1330568"/>
            <a:ext cx="4371975" cy="2476500"/>
          </a:xfrm>
          <a:prstGeom prst="rect">
            <a:avLst/>
          </a:prstGeom>
        </p:spPr>
      </p:pic>
      <p:sp>
        <p:nvSpPr>
          <p:cNvPr id="7" name="文本框 6"/>
          <p:cNvSpPr txBox="1"/>
          <p:nvPr/>
        </p:nvSpPr>
        <p:spPr>
          <a:xfrm>
            <a:off x="521095" y="1251585"/>
            <a:ext cx="9721215" cy="1014730"/>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altLang="zh-CN" sz="2000" b="1" dirty="0">
                <a:solidFill>
                  <a:schemeClr val="tx1"/>
                </a:solidFill>
                <a:uFillTx/>
                <a:latin typeface="Times New Roman" panose="02020603050405020304" charset="0"/>
                <a:ea typeface="微软雅黑" panose="020B0503020204020204" pitchFamily="34" charset="-122"/>
                <a:cs typeface="Times New Roman" panose="02020603050405020304" charset="0"/>
              </a:rPr>
              <a:t>1.</a:t>
            </a:r>
            <a:r>
              <a:rPr lang="zh-CN" altLang="en-US" sz="2000" b="1" dirty="0">
                <a:uFillTx/>
                <a:latin typeface="Times New Roman" panose="02020603050405020304" charset="0"/>
                <a:ea typeface="微软雅黑" panose="020B0503020204020204" pitchFamily="34" charset="-122"/>
                <a:cs typeface="Times New Roman" panose="02020603050405020304" charset="0"/>
                <a:sym typeface="+mn-ea"/>
              </a:rPr>
              <a:t>性能优化</a:t>
            </a:r>
            <a:endParaRPr lang="zh-CN" altLang="en-US" sz="2000"/>
          </a:p>
          <a:p>
            <a:pPr algn="l"/>
            <a:endParaRPr lang="zh-CN" altLang="en-US" sz="2000"/>
          </a:p>
          <a:p>
            <a:pPr algn="l"/>
            <a:endParaRPr lang="zh-CN" altLang="en-US" sz="2000" b="1" dirty="0">
              <a:solidFill>
                <a:schemeClr val="tx1"/>
              </a:solidFill>
              <a:uFillTx/>
              <a:latin typeface="Times New Roman" panose="02020603050405020304" charset="0"/>
              <a:ea typeface="微软雅黑" panose="020B0503020204020204" pitchFamily="34" charset="-122"/>
              <a:cs typeface="Times New Roman" panose="02020603050405020304" charset="0"/>
            </a:endParaRPr>
          </a:p>
        </p:txBody>
      </p:sp>
      <p:graphicFrame>
        <p:nvGraphicFramePr>
          <p:cNvPr id="5" name="表格 4">
            <a:extLst>
              <a:ext uri="{FF2B5EF4-FFF2-40B4-BE49-F238E27FC236}">
                <a16:creationId xmlns:a16="http://schemas.microsoft.com/office/drawing/2014/main" id="{AA50B977-0764-8F37-0AF8-F48317F2B5D8}"/>
              </a:ext>
            </a:extLst>
          </p:cNvPr>
          <p:cNvGraphicFramePr>
            <a:graphicFrameLocks noGrp="1"/>
          </p:cNvGraphicFramePr>
          <p:nvPr>
            <p:extLst>
              <p:ext uri="{D42A27DB-BD31-4B8C-83A1-F6EECF244321}">
                <p14:modId xmlns:p14="http://schemas.microsoft.com/office/powerpoint/2010/main" val="3066259173"/>
              </p:ext>
            </p:extLst>
          </p:nvPr>
        </p:nvGraphicFramePr>
        <p:xfrm>
          <a:off x="838200" y="4344559"/>
          <a:ext cx="10515600" cy="1463040"/>
        </p:xfrm>
        <a:graphic>
          <a:graphicData uri="http://schemas.openxmlformats.org/drawingml/2006/table">
            <a:tbl>
              <a:tblPr/>
              <a:tblGrid>
                <a:gridCol w="2103120">
                  <a:extLst>
                    <a:ext uri="{9D8B030D-6E8A-4147-A177-3AD203B41FA5}">
                      <a16:colId xmlns:a16="http://schemas.microsoft.com/office/drawing/2014/main" val="1819188779"/>
                    </a:ext>
                  </a:extLst>
                </a:gridCol>
                <a:gridCol w="2103120">
                  <a:extLst>
                    <a:ext uri="{9D8B030D-6E8A-4147-A177-3AD203B41FA5}">
                      <a16:colId xmlns:a16="http://schemas.microsoft.com/office/drawing/2014/main" val="3320975552"/>
                    </a:ext>
                  </a:extLst>
                </a:gridCol>
                <a:gridCol w="2103120">
                  <a:extLst>
                    <a:ext uri="{9D8B030D-6E8A-4147-A177-3AD203B41FA5}">
                      <a16:colId xmlns:a16="http://schemas.microsoft.com/office/drawing/2014/main" val="1046531406"/>
                    </a:ext>
                  </a:extLst>
                </a:gridCol>
                <a:gridCol w="2103120">
                  <a:extLst>
                    <a:ext uri="{9D8B030D-6E8A-4147-A177-3AD203B41FA5}">
                      <a16:colId xmlns:a16="http://schemas.microsoft.com/office/drawing/2014/main" val="3198084879"/>
                    </a:ext>
                  </a:extLst>
                </a:gridCol>
                <a:gridCol w="2103120">
                  <a:extLst>
                    <a:ext uri="{9D8B030D-6E8A-4147-A177-3AD203B41FA5}">
                      <a16:colId xmlns:a16="http://schemas.microsoft.com/office/drawing/2014/main" val="153191084"/>
                    </a:ext>
                  </a:extLst>
                </a:gridCol>
              </a:tblGrid>
              <a:tr h="0">
                <a:tc>
                  <a:txBody>
                    <a:bodyPr/>
                    <a:lstStyle/>
                    <a:p>
                      <a:pPr>
                        <a:buNone/>
                      </a:pPr>
                      <a:r>
                        <a:rPr lang="en-US" b="1" baseline="0">
                          <a:latin typeface="Times New Roman" panose="02020603050405020304" pitchFamily="18" charset="0"/>
                        </a:rPr>
                        <a:t>Model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b="1" baseline="0">
                          <a:latin typeface="Times New Roman" panose="02020603050405020304" pitchFamily="18" charset="0"/>
                        </a:rPr>
                        <a:t>Dataset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b="1" baseline="0">
                          <a:latin typeface="Times New Roman" panose="02020603050405020304" pitchFamily="18" charset="0"/>
                        </a:rPr>
                        <a:t>Training Time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b="1" baseline="0">
                          <a:latin typeface="Times New Roman" panose="02020603050405020304" pitchFamily="18" charset="0"/>
                        </a:rPr>
                        <a:t>Accuracy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b="1" baseline="0">
                          <a:latin typeface="Times New Roman" panose="02020603050405020304" pitchFamily="18" charset="0"/>
                        </a:rPr>
                        <a:t>Relative Speed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40640664"/>
                  </a:ext>
                </a:extLst>
              </a:tr>
              <a:tr h="0">
                <a:tc>
                  <a:txBody>
                    <a:bodyPr/>
                    <a:lstStyle/>
                    <a:p>
                      <a:pPr>
                        <a:buNone/>
                      </a:pPr>
                      <a:r>
                        <a:rPr lang="en-US" b="1" baseline="0">
                          <a:latin typeface="Times New Roman" panose="02020603050405020304" pitchFamily="18" charset="0"/>
                        </a:rPr>
                        <a:t>Linear Regression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b="1" baseline="0">
                          <a:latin typeface="Times New Roman" panose="02020603050405020304" pitchFamily="18" charset="0"/>
                        </a:rPr>
                        <a:t>MNIST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b="1" baseline="0">
                          <a:latin typeface="Times New Roman" panose="02020603050405020304" pitchFamily="18" charset="0"/>
                        </a:rPr>
                        <a:t>1.4s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b="1" baseline="0">
                          <a:latin typeface="Times New Roman" panose="02020603050405020304" pitchFamily="18" charset="0"/>
                        </a:rPr>
                        <a:t>100%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b="1" baseline="0">
                          <a:latin typeface="Times New Roman" panose="02020603050405020304" pitchFamily="18" charset="0"/>
                        </a:rPr>
                        <a:t>+1300×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05467189"/>
                  </a:ext>
                </a:extLst>
              </a:tr>
              <a:tr h="0">
                <a:tc>
                  <a:txBody>
                    <a:bodyPr/>
                    <a:lstStyle/>
                    <a:p>
                      <a:pPr>
                        <a:buNone/>
                      </a:pPr>
                      <a:r>
                        <a:rPr lang="en-US" b="1" baseline="0">
                          <a:latin typeface="Times New Roman" panose="02020603050405020304" pitchFamily="18" charset="0"/>
                        </a:rPr>
                        <a:t>Logistic Regression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b="1" baseline="0">
                          <a:latin typeface="Times New Roman" panose="02020603050405020304" pitchFamily="18" charset="0"/>
                        </a:rPr>
                        <a:t>MNIST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b="1" baseline="0">
                          <a:latin typeface="Times New Roman" panose="02020603050405020304" pitchFamily="18" charset="0"/>
                        </a:rPr>
                        <a:t>29s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b="1" baseline="0">
                          <a:latin typeface="Times New Roman" panose="02020603050405020304" pitchFamily="18" charset="0"/>
                        </a:rPr>
                        <a:t>≈ Plaintext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b="1" baseline="0">
                          <a:latin typeface="Times New Roman" panose="02020603050405020304" pitchFamily="18" charset="0"/>
                        </a:rPr>
                        <a:t>+1000×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88220965"/>
                  </a:ext>
                </a:extLst>
              </a:tr>
              <a:tr h="0">
                <a:tc>
                  <a:txBody>
                    <a:bodyPr/>
                    <a:lstStyle/>
                    <a:p>
                      <a:pPr>
                        <a:buNone/>
                      </a:pPr>
                      <a:r>
                        <a:rPr lang="en-US" b="1" baseline="0">
                          <a:latin typeface="Times New Roman" panose="02020603050405020304" pitchFamily="18" charset="0"/>
                        </a:rPr>
                        <a:t>Neural Network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b="1" baseline="0">
                          <a:latin typeface="Times New Roman" panose="02020603050405020304" pitchFamily="18" charset="0"/>
                        </a:rPr>
                        <a:t>MNIST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b="1" baseline="0">
                          <a:latin typeface="Times New Roman" panose="02020603050405020304" pitchFamily="18" charset="0"/>
                        </a:rPr>
                        <a:t>21000s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b="1" baseline="0">
                          <a:latin typeface="Times New Roman" panose="02020603050405020304" pitchFamily="18" charset="0"/>
                        </a:rPr>
                        <a:t>93.4%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b="1" baseline="0">
                          <a:latin typeface="Times New Roman" panose="02020603050405020304" pitchFamily="18" charset="0"/>
                        </a:rPr>
                        <a:t>+500×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9124513"/>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文本框 19"/>
          <p:cNvSpPr txBox="1"/>
          <p:nvPr/>
        </p:nvSpPr>
        <p:spPr>
          <a:xfrm>
            <a:off x="629331" y="295379"/>
            <a:ext cx="3426179" cy="583565"/>
          </a:xfrm>
          <a:prstGeom prst="rect">
            <a:avLst/>
          </a:prstGeom>
          <a:noFill/>
        </p:spPr>
        <p:txBody>
          <a:bodyPr wrap="square" rtlCol="0">
            <a:spAutoFit/>
          </a:bodyPr>
          <a:lstStyle/>
          <a:p>
            <a:pPr lvl="0">
              <a:defRPr/>
            </a:pPr>
            <a:r>
              <a:rPr lang="zh-CN" altLang="en-US" sz="3200" b="1" dirty="0">
                <a:solidFill>
                  <a:schemeClr val="tx1"/>
                </a:solidFill>
                <a:latin typeface="微软雅黑" panose="020B0503020204020204" pitchFamily="34" charset="-122"/>
                <a:ea typeface="微软雅黑" panose="020B0503020204020204" pitchFamily="34" charset="-122"/>
              </a:rPr>
              <a:t>实验结果</a:t>
            </a:r>
          </a:p>
        </p:txBody>
      </p:sp>
      <p:sp>
        <p:nvSpPr>
          <p:cNvPr id="22" name="矩形: 圆角 21"/>
          <p:cNvSpPr/>
          <p:nvPr/>
        </p:nvSpPr>
        <p:spPr>
          <a:xfrm flipH="1">
            <a:off x="-218450" y="224311"/>
            <a:ext cx="739545" cy="724771"/>
          </a:xfrm>
          <a:prstGeom prst="roundRect">
            <a:avLst>
              <a:gd name="adj" fmla="val 1461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lumMod val="75000"/>
                  <a:lumOff val="25000"/>
                </a:schemeClr>
              </a:solidFill>
            </a:endParaRPr>
          </a:p>
        </p:txBody>
      </p:sp>
      <p:sp>
        <p:nvSpPr>
          <p:cNvPr id="7" name="文本框 6"/>
          <p:cNvSpPr txBox="1"/>
          <p:nvPr/>
        </p:nvSpPr>
        <p:spPr>
          <a:xfrm>
            <a:off x="659765" y="1251585"/>
            <a:ext cx="9721215" cy="1014730"/>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altLang="zh-CN" sz="2000" b="1" dirty="0">
                <a:solidFill>
                  <a:schemeClr val="tx1"/>
                </a:solidFill>
                <a:uFillTx/>
                <a:latin typeface="Times New Roman" panose="02020603050405020304" charset="0"/>
                <a:ea typeface="微软雅黑" panose="020B0503020204020204" pitchFamily="34" charset="-122"/>
                <a:cs typeface="Times New Roman" panose="02020603050405020304" charset="0"/>
              </a:rPr>
              <a:t>2.</a:t>
            </a:r>
            <a:r>
              <a:rPr lang="zh-CN" altLang="en-US" sz="2000" b="1" dirty="0">
                <a:solidFill>
                  <a:schemeClr val="tx1"/>
                </a:solidFill>
                <a:uFillTx/>
                <a:latin typeface="Times New Roman" panose="02020603050405020304" charset="0"/>
                <a:ea typeface="微软雅黑" panose="020B0503020204020204" pitchFamily="34" charset="-122"/>
                <a:cs typeface="Times New Roman" panose="02020603050405020304" charset="0"/>
              </a:rPr>
              <a:t>可扩展性分析</a:t>
            </a:r>
            <a:endParaRPr lang="zh-CN" altLang="en-US" sz="2000"/>
          </a:p>
          <a:p>
            <a:pPr algn="l"/>
            <a:endParaRPr lang="zh-CN" altLang="en-US" sz="2000"/>
          </a:p>
          <a:p>
            <a:pPr algn="l"/>
            <a:endParaRPr lang="zh-CN" altLang="en-US" sz="2000" b="1" dirty="0">
              <a:solidFill>
                <a:schemeClr val="tx1"/>
              </a:solidFill>
              <a:uFillTx/>
              <a:latin typeface="Times New Roman" panose="02020603050405020304" charset="0"/>
              <a:ea typeface="微软雅黑" panose="020B0503020204020204" pitchFamily="34" charset="-122"/>
              <a:cs typeface="Times New Roman" panose="02020603050405020304" charset="0"/>
            </a:endParaRPr>
          </a:p>
        </p:txBody>
      </p:sp>
      <p:sp>
        <p:nvSpPr>
          <p:cNvPr id="11" name="文本框 10">
            <a:extLst>
              <a:ext uri="{FF2B5EF4-FFF2-40B4-BE49-F238E27FC236}">
                <a16:creationId xmlns:a16="http://schemas.microsoft.com/office/drawing/2014/main" id="{2B7A866F-FB36-3183-CC0D-3A676753831A}"/>
              </a:ext>
            </a:extLst>
          </p:cNvPr>
          <p:cNvSpPr txBox="1"/>
          <p:nvPr/>
        </p:nvSpPr>
        <p:spPr>
          <a:xfrm>
            <a:off x="659765" y="1794510"/>
            <a:ext cx="5228971" cy="3187411"/>
          </a:xfrm>
          <a:prstGeom prst="rect">
            <a:avLst/>
          </a:prstGeom>
          <a:noFill/>
        </p:spPr>
        <p:txBody>
          <a:bodyPr wrap="square" rtlCol="0" anchor="t">
            <a:spAutoFit/>
          </a:bodyPr>
          <a:lstStyle/>
          <a:p>
            <a:pPr marL="285750" indent="-285750">
              <a:lnSpc>
                <a:spcPct val="150000"/>
              </a:lnSpc>
              <a:buFont typeface="Arial" panose="020B0604020202020204" pitchFamily="34" charset="0"/>
              <a:buChar char="•"/>
            </a:pPr>
            <a:r>
              <a:rPr lang="zh-CN" altLang="en-US" b="1">
                <a:latin typeface="Times New Roman" panose="02020603050405020304" pitchFamily="18" charset="0"/>
                <a:ea typeface="微软雅黑" panose="020B0503020204020204" pitchFamily="34" charset="-122"/>
              </a:rPr>
              <a:t>明文与</a:t>
            </a:r>
            <a:r>
              <a:rPr lang="en-US" altLang="zh-CN" b="1">
                <a:latin typeface="Times New Roman" panose="02020603050405020304" pitchFamily="18" charset="0"/>
                <a:ea typeface="微软雅黑" panose="020B0503020204020204" pitchFamily="34" charset="-122"/>
              </a:rPr>
              <a:t>SecureML</a:t>
            </a:r>
            <a:r>
              <a:rPr lang="zh-CN" altLang="en-US" b="1">
                <a:latin typeface="Times New Roman" panose="02020603050405020304" pitchFamily="18" charset="0"/>
                <a:ea typeface="微软雅黑" panose="020B0503020204020204" pitchFamily="34" charset="-122"/>
              </a:rPr>
              <a:t>趋势几乎一致</a:t>
            </a:r>
          </a:p>
          <a:p>
            <a:pPr marL="285750" indent="-285750">
              <a:lnSpc>
                <a:spcPct val="150000"/>
              </a:lnSpc>
              <a:buFont typeface="Arial" panose="020B0604020202020204" pitchFamily="34" charset="0"/>
              <a:buChar char="•"/>
            </a:pPr>
            <a:r>
              <a:rPr lang="zh-CN" altLang="en-US" b="1">
                <a:latin typeface="Times New Roman" panose="02020603050405020304" pitchFamily="18" charset="0"/>
                <a:ea typeface="微软雅黑" panose="020B0503020204020204" pitchFamily="34" charset="-122"/>
              </a:rPr>
              <a:t>可扩展至百万样本</a:t>
            </a:r>
            <a:endParaRPr lang="en-US" altLang="zh-CN" b="1">
              <a:latin typeface="Times New Roman" panose="02020603050405020304" pitchFamily="18" charset="0"/>
              <a:ea typeface="微软雅黑" panose="020B0503020204020204" pitchFamily="34" charset="-122"/>
            </a:endParaRPr>
          </a:p>
          <a:p>
            <a:pPr>
              <a:lnSpc>
                <a:spcPct val="150000"/>
              </a:lnSpc>
            </a:pPr>
            <a:r>
              <a:rPr lang="zh-CN" altLang="en-US" sz="1600">
                <a:latin typeface="Times New Roman" panose="02020603050405020304" charset="0"/>
                <a:ea typeface="微软雅黑" panose="020B0503020204020204" pitchFamily="34" charset="-122"/>
              </a:rPr>
              <a:t>在局域网 </a:t>
            </a:r>
            <a:r>
              <a:rPr lang="en-US" altLang="zh-CN" sz="1600">
                <a:latin typeface="Times New Roman" panose="02020603050405020304" charset="0"/>
                <a:ea typeface="微软雅黑" panose="020B0503020204020204" pitchFamily="34" charset="-122"/>
              </a:rPr>
              <a:t>(LAN) </a:t>
            </a:r>
            <a:r>
              <a:rPr lang="zh-CN" altLang="en-US" sz="1600">
                <a:latin typeface="Times New Roman" panose="02020603050405020304" charset="0"/>
                <a:ea typeface="微软雅黑" panose="020B0503020204020204" pitchFamily="34" charset="-122"/>
              </a:rPr>
              <a:t>环境下，即便是 </a:t>
            </a:r>
            <a:r>
              <a:rPr lang="en-US" altLang="zh-CN" sz="1600">
                <a:latin typeface="Times New Roman" panose="02020603050405020304" charset="0"/>
                <a:ea typeface="微软雅黑" panose="020B0503020204020204" pitchFamily="34" charset="-122"/>
              </a:rPr>
              <a:t>100 </a:t>
            </a:r>
            <a:r>
              <a:rPr lang="zh-CN" altLang="en-US" sz="1600">
                <a:latin typeface="Times New Roman" panose="02020603050405020304" charset="0"/>
                <a:ea typeface="微软雅黑" panose="020B0503020204020204" pitchFamily="34" charset="-122"/>
              </a:rPr>
              <a:t>万 </a:t>
            </a:r>
            <a:r>
              <a:rPr lang="en-US" altLang="zh-CN" sz="1600">
                <a:latin typeface="Times New Roman" panose="02020603050405020304" charset="0"/>
                <a:ea typeface="微软雅黑" panose="020B0503020204020204" pitchFamily="34" charset="-122"/>
              </a:rPr>
              <a:t>(1,000,000)</a:t>
            </a:r>
            <a:r>
              <a:rPr lang="zh-CN" altLang="en-US" sz="1600">
                <a:latin typeface="Times New Roman" panose="02020603050405020304" charset="0"/>
                <a:ea typeface="微软雅黑" panose="020B0503020204020204" pitchFamily="34" charset="-122"/>
              </a:rPr>
              <a:t> 样本的线性回归，在线时间也仅需 </a:t>
            </a:r>
            <a:r>
              <a:rPr lang="en-US" altLang="zh-CN" sz="1600">
                <a:latin typeface="Times New Roman" panose="02020603050405020304" charset="0"/>
                <a:ea typeface="微软雅黑" panose="020B0503020204020204" pitchFamily="34" charset="-122"/>
              </a:rPr>
              <a:t>22.3 </a:t>
            </a:r>
            <a:r>
              <a:rPr lang="zh-CN" altLang="en-US" sz="1600">
                <a:latin typeface="Times New Roman" panose="02020603050405020304" charset="0"/>
                <a:ea typeface="微软雅黑" panose="020B0503020204020204" pitchFamily="34" charset="-122"/>
              </a:rPr>
              <a:t>秒</a:t>
            </a:r>
            <a:endParaRPr lang="en-US" altLang="zh-CN" sz="1600">
              <a:latin typeface="Times New Roman" panose="02020603050405020304" charset="0"/>
              <a:ea typeface="微软雅黑" panose="020B0503020204020204" pitchFamily="34" charset="-122"/>
            </a:endParaRPr>
          </a:p>
          <a:p>
            <a:pPr marL="285750" indent="-285750">
              <a:lnSpc>
                <a:spcPct val="150000"/>
              </a:lnSpc>
              <a:buFont typeface="Arial" panose="020B0604020202020204" pitchFamily="34" charset="0"/>
              <a:buChar char="•"/>
            </a:pPr>
            <a:r>
              <a:rPr lang="zh-CN" altLang="en-US" sz="1600" b="1">
                <a:latin typeface="Times New Roman" panose="02020603050405020304" pitchFamily="18" charset="0"/>
                <a:ea typeface="微软雅黑" panose="020B0503020204020204" pitchFamily="34" charset="-122"/>
              </a:rPr>
              <a:t>样本规模与训练时间线性增长</a:t>
            </a:r>
            <a:endParaRPr lang="en-US" altLang="zh-CN" sz="1600" b="1">
              <a:latin typeface="Times New Roman" panose="02020603050405020304" pitchFamily="18" charset="0"/>
              <a:ea typeface="微软雅黑" panose="020B0503020204020204" pitchFamily="34" charset="-122"/>
            </a:endParaRPr>
          </a:p>
          <a:p>
            <a:pPr>
              <a:lnSpc>
                <a:spcPct val="150000"/>
              </a:lnSpc>
            </a:pPr>
            <a:r>
              <a:rPr lang="zh-CN" altLang="en-US" sz="1600">
                <a:latin typeface="Times New Roman" panose="02020603050405020304" charset="0"/>
                <a:ea typeface="微软雅黑" panose="020B0503020204020204" pitchFamily="34" charset="-122"/>
              </a:rPr>
              <a:t>随着样本数量 </a:t>
            </a:r>
            <a:r>
              <a:rPr lang="en-US" altLang="zh-CN" sz="1600">
                <a:latin typeface="Times New Roman" panose="02020603050405020304" charset="0"/>
                <a:ea typeface="微软雅黑" panose="020B0503020204020204" pitchFamily="34" charset="-122"/>
              </a:rPr>
              <a:t>n </a:t>
            </a:r>
            <a:r>
              <a:rPr lang="zh-CN" altLang="en-US" sz="1600">
                <a:latin typeface="Times New Roman" panose="02020603050405020304" charset="0"/>
                <a:ea typeface="微软雅黑" panose="020B0503020204020204" pitchFamily="34" charset="-122"/>
              </a:rPr>
              <a:t>从 </a:t>
            </a:r>
            <a:r>
              <a:rPr lang="en-US" altLang="zh-CN" sz="1600">
                <a:latin typeface="Times New Roman" panose="02020603050405020304" charset="0"/>
                <a:ea typeface="微软雅黑" panose="020B0503020204020204" pitchFamily="34" charset="-122"/>
              </a:rPr>
              <a:t>1000 </a:t>
            </a:r>
            <a:r>
              <a:rPr lang="zh-CN" altLang="en-US" sz="1600">
                <a:latin typeface="Times New Roman" panose="02020603050405020304" charset="0"/>
                <a:ea typeface="微软雅黑" panose="020B0503020204020204" pitchFamily="34" charset="-122"/>
              </a:rPr>
              <a:t>增长到 </a:t>
            </a:r>
            <a:r>
              <a:rPr lang="en-US" altLang="zh-CN" sz="1600">
                <a:latin typeface="Times New Roman" panose="02020603050405020304" charset="0"/>
                <a:ea typeface="微软雅黑" panose="020B0503020204020204" pitchFamily="34" charset="-122"/>
              </a:rPr>
              <a:t>100 </a:t>
            </a:r>
            <a:r>
              <a:rPr lang="zh-CN" altLang="en-US" sz="1600">
                <a:latin typeface="Times New Roman" panose="02020603050405020304" charset="0"/>
                <a:ea typeface="微软雅黑" panose="020B0503020204020204" pitchFamily="34" charset="-122"/>
              </a:rPr>
              <a:t>万，训练时间是严格线性增长的</a:t>
            </a:r>
          </a:p>
          <a:p>
            <a:pPr>
              <a:lnSpc>
                <a:spcPct val="150000"/>
              </a:lnSpc>
            </a:pPr>
            <a:endParaRPr lang="zh-CN" altLang="en-US" sz="1600">
              <a:latin typeface="Times New Roman" panose="02020603050405020304" charset="0"/>
              <a:ea typeface="微软雅黑" panose="020B0503020204020204" pitchFamily="34" charset="-122"/>
            </a:endParaRPr>
          </a:p>
        </p:txBody>
      </p:sp>
      <p:pic>
        <p:nvPicPr>
          <p:cNvPr id="14" name="图片 13">
            <a:extLst>
              <a:ext uri="{FF2B5EF4-FFF2-40B4-BE49-F238E27FC236}">
                <a16:creationId xmlns:a16="http://schemas.microsoft.com/office/drawing/2014/main" id="{353BFCA3-2903-064B-40FB-E51BFBB5EA76}"/>
              </a:ext>
            </a:extLst>
          </p:cNvPr>
          <p:cNvPicPr>
            <a:picLocks noChangeAspect="1"/>
          </p:cNvPicPr>
          <p:nvPr/>
        </p:nvPicPr>
        <p:blipFill>
          <a:blip r:embed="rId3"/>
          <a:stretch>
            <a:fillRect/>
          </a:stretch>
        </p:blipFill>
        <p:spPr>
          <a:xfrm>
            <a:off x="7215015" y="4073848"/>
            <a:ext cx="3424455" cy="2024457"/>
          </a:xfrm>
          <a:prstGeom prst="rect">
            <a:avLst/>
          </a:prstGeom>
        </p:spPr>
      </p:pic>
      <p:pic>
        <p:nvPicPr>
          <p:cNvPr id="18" name="图片 17">
            <a:extLst>
              <a:ext uri="{FF2B5EF4-FFF2-40B4-BE49-F238E27FC236}">
                <a16:creationId xmlns:a16="http://schemas.microsoft.com/office/drawing/2014/main" id="{F7351063-E793-4CB2-3377-9B4A84004659}"/>
              </a:ext>
            </a:extLst>
          </p:cNvPr>
          <p:cNvPicPr>
            <a:picLocks noChangeAspect="1"/>
          </p:cNvPicPr>
          <p:nvPr/>
        </p:nvPicPr>
        <p:blipFill>
          <a:blip r:embed="rId4"/>
          <a:stretch>
            <a:fillRect/>
          </a:stretch>
        </p:blipFill>
        <p:spPr>
          <a:xfrm>
            <a:off x="6048629" y="1660768"/>
            <a:ext cx="5757228" cy="200389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FA9D0-4929-8895-C7B3-2E7B8C6EFFAE}"/>
            </a:ext>
          </a:extLst>
        </p:cNvPr>
        <p:cNvGrpSpPr/>
        <p:nvPr/>
      </p:nvGrpSpPr>
      <p:grpSpPr>
        <a:xfrm>
          <a:off x="0" y="0"/>
          <a:ext cx="0" cy="0"/>
          <a:chOff x="0" y="0"/>
          <a:chExt cx="0" cy="0"/>
        </a:xfrm>
      </p:grpSpPr>
      <p:sp>
        <p:nvSpPr>
          <p:cNvPr id="20" name="文本框 19">
            <a:extLst>
              <a:ext uri="{FF2B5EF4-FFF2-40B4-BE49-F238E27FC236}">
                <a16:creationId xmlns:a16="http://schemas.microsoft.com/office/drawing/2014/main" id="{41CF16D9-8D37-E9A2-BEAA-F26B8D318198}"/>
              </a:ext>
            </a:extLst>
          </p:cNvPr>
          <p:cNvSpPr txBox="1"/>
          <p:nvPr/>
        </p:nvSpPr>
        <p:spPr>
          <a:xfrm>
            <a:off x="629331" y="295379"/>
            <a:ext cx="3426179" cy="583565"/>
          </a:xfrm>
          <a:prstGeom prst="rect">
            <a:avLst/>
          </a:prstGeom>
          <a:noFill/>
        </p:spPr>
        <p:txBody>
          <a:bodyPr wrap="square" rtlCol="0">
            <a:spAutoFit/>
          </a:bodyPr>
          <a:lstStyle/>
          <a:p>
            <a:pPr lvl="0">
              <a:defRPr/>
            </a:pPr>
            <a:r>
              <a:rPr lang="zh-CN" altLang="en-US" sz="3200" b="1">
                <a:solidFill>
                  <a:schemeClr val="tx1"/>
                </a:solidFill>
                <a:latin typeface="微软雅黑" panose="020B0503020204020204" pitchFamily="34" charset="-122"/>
                <a:ea typeface="微软雅黑" panose="020B0503020204020204" pitchFamily="34" charset="-122"/>
              </a:rPr>
              <a:t>不足与局限</a:t>
            </a:r>
            <a:endParaRPr lang="zh-CN" altLang="en-US" sz="3200" b="1" dirty="0">
              <a:solidFill>
                <a:schemeClr val="tx1"/>
              </a:solidFill>
              <a:latin typeface="微软雅黑" panose="020B0503020204020204" pitchFamily="34" charset="-122"/>
              <a:ea typeface="微软雅黑" panose="020B0503020204020204" pitchFamily="34" charset="-122"/>
            </a:endParaRPr>
          </a:p>
        </p:txBody>
      </p:sp>
      <p:sp>
        <p:nvSpPr>
          <p:cNvPr id="22" name="矩形: 圆角 21">
            <a:extLst>
              <a:ext uri="{FF2B5EF4-FFF2-40B4-BE49-F238E27FC236}">
                <a16:creationId xmlns:a16="http://schemas.microsoft.com/office/drawing/2014/main" id="{BBEE9397-2A6E-E15F-51F2-4DFD41D0DFAE}"/>
              </a:ext>
            </a:extLst>
          </p:cNvPr>
          <p:cNvSpPr/>
          <p:nvPr/>
        </p:nvSpPr>
        <p:spPr>
          <a:xfrm flipH="1">
            <a:off x="-218450" y="224311"/>
            <a:ext cx="739545" cy="724771"/>
          </a:xfrm>
          <a:prstGeom prst="roundRect">
            <a:avLst>
              <a:gd name="adj" fmla="val 1461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lumMod val="75000"/>
                  <a:lumOff val="25000"/>
                </a:schemeClr>
              </a:solidFill>
            </a:endParaRPr>
          </a:p>
        </p:txBody>
      </p:sp>
      <p:sp>
        <p:nvSpPr>
          <p:cNvPr id="2" name="文本框 1">
            <a:extLst>
              <a:ext uri="{FF2B5EF4-FFF2-40B4-BE49-F238E27FC236}">
                <a16:creationId xmlns:a16="http://schemas.microsoft.com/office/drawing/2014/main" id="{7ECE8E64-6065-79AA-A12F-51752D27744F}"/>
              </a:ext>
            </a:extLst>
          </p:cNvPr>
          <p:cNvSpPr txBox="1"/>
          <p:nvPr/>
        </p:nvSpPr>
        <p:spPr>
          <a:xfrm>
            <a:off x="659765" y="1794510"/>
            <a:ext cx="7118422" cy="3557384"/>
          </a:xfrm>
          <a:prstGeom prst="rect">
            <a:avLst/>
          </a:prstGeom>
          <a:noFill/>
        </p:spPr>
        <p:txBody>
          <a:bodyPr wrap="square" rtlCol="0" anchor="t">
            <a:spAutoFit/>
          </a:bodyPr>
          <a:lstStyle/>
          <a:p>
            <a:pPr marL="285750" indent="-285750">
              <a:lnSpc>
                <a:spcPct val="150000"/>
              </a:lnSpc>
              <a:buFont typeface="Arial" panose="020B0604020202020204" pitchFamily="34" charset="0"/>
              <a:buChar char="•"/>
            </a:pPr>
            <a:r>
              <a:rPr lang="zh-CN" altLang="en-US" b="1">
                <a:latin typeface="微软雅黑" panose="020B0503020204020204" pitchFamily="34" charset="-122"/>
                <a:ea typeface="微软雅黑" panose="020B0503020204020204" pitchFamily="34" charset="-122"/>
              </a:rPr>
              <a:t>仅支持浅层模型</a:t>
            </a:r>
            <a:endParaRPr lang="en-US" altLang="zh-CN" b="1">
              <a:latin typeface="微软雅黑" panose="020B0503020204020204" pitchFamily="34" charset="-122"/>
              <a:ea typeface="微软雅黑" panose="020B0503020204020204" pitchFamily="34" charset="-122"/>
            </a:endParaRPr>
          </a:p>
          <a:p>
            <a:pPr>
              <a:lnSpc>
                <a:spcPct val="150000"/>
              </a:lnSpc>
            </a:pPr>
            <a:r>
              <a:rPr lang="zh-CN" altLang="en-US" sz="1600">
                <a:latin typeface="Times New Roman" panose="02020603050405020304" pitchFamily="18" charset="0"/>
                <a:ea typeface="微软雅黑" panose="020B0503020204020204" pitchFamily="34" charset="-122"/>
              </a:rPr>
              <a:t>它只支持线性、逻辑回归和浅层神经网络。对于深度模型，如 </a:t>
            </a:r>
            <a:r>
              <a:rPr lang="en-US" altLang="zh-CN" sz="1600">
                <a:latin typeface="Times New Roman" panose="02020603050405020304" pitchFamily="18" charset="0"/>
                <a:ea typeface="微软雅黑" panose="020B0503020204020204" pitchFamily="34" charset="-122"/>
              </a:rPr>
              <a:t>ResNet </a:t>
            </a:r>
            <a:r>
              <a:rPr lang="zh-CN" altLang="en-US" sz="1600">
                <a:latin typeface="Times New Roman" panose="02020603050405020304" pitchFamily="18" charset="0"/>
                <a:ea typeface="微软雅黑" panose="020B0503020204020204" pitchFamily="34" charset="-122"/>
              </a:rPr>
              <a:t>或 </a:t>
            </a:r>
            <a:r>
              <a:rPr lang="en-US" altLang="zh-CN" sz="1600">
                <a:latin typeface="Times New Roman" panose="02020603050405020304" pitchFamily="18" charset="0"/>
                <a:ea typeface="微软雅黑" panose="020B0503020204020204" pitchFamily="34" charset="-122"/>
              </a:rPr>
              <a:t>Transformer</a:t>
            </a:r>
            <a:r>
              <a:rPr lang="zh-CN" altLang="en-US" sz="1600">
                <a:latin typeface="Times New Roman" panose="02020603050405020304" pitchFamily="18" charset="0"/>
                <a:ea typeface="微软雅黑" panose="020B0503020204020204" pitchFamily="34" charset="-122"/>
              </a:rPr>
              <a:t>，开销仍然过大。</a:t>
            </a:r>
          </a:p>
          <a:p>
            <a:pPr marL="285750" indent="-285750">
              <a:lnSpc>
                <a:spcPct val="150000"/>
              </a:lnSpc>
              <a:buFont typeface="Arial" panose="020B0604020202020204" pitchFamily="34" charset="0"/>
              <a:buChar char="•"/>
            </a:pPr>
            <a:r>
              <a:rPr lang="zh-CN" altLang="en-US" b="1">
                <a:latin typeface="微软雅黑" panose="020B0503020204020204" pitchFamily="34" charset="-122"/>
                <a:ea typeface="微软雅黑" panose="020B0503020204020204" pitchFamily="34" charset="-122"/>
              </a:rPr>
              <a:t>半诚实假设强</a:t>
            </a:r>
            <a:endParaRPr lang="en-US" altLang="zh-CN" b="1">
              <a:latin typeface="微软雅黑" panose="020B0503020204020204" pitchFamily="34" charset="-122"/>
              <a:ea typeface="微软雅黑" panose="020B0503020204020204" pitchFamily="34" charset="-122"/>
            </a:endParaRPr>
          </a:p>
          <a:p>
            <a:pPr>
              <a:lnSpc>
                <a:spcPct val="150000"/>
              </a:lnSpc>
            </a:pPr>
            <a:r>
              <a:rPr lang="zh-CN" altLang="en-US" sz="1600">
                <a:latin typeface="Times New Roman" panose="02020603050405020304" pitchFamily="18" charset="0"/>
                <a:ea typeface="微软雅黑" panose="020B0503020204020204" pitchFamily="34" charset="-122"/>
              </a:rPr>
              <a:t>只在半诚实模型下安全，对恶意攻击者还不具备防御力。</a:t>
            </a:r>
          </a:p>
          <a:p>
            <a:pPr marL="285750" indent="-285750">
              <a:lnSpc>
                <a:spcPct val="150000"/>
              </a:lnSpc>
              <a:buFont typeface="Arial" panose="020B0604020202020204" pitchFamily="34" charset="0"/>
              <a:buChar char="•"/>
            </a:pPr>
            <a:r>
              <a:rPr lang="zh-CN" altLang="en-US" b="1">
                <a:latin typeface="微软雅黑" panose="020B0503020204020204" pitchFamily="34" charset="-122"/>
                <a:ea typeface="微软雅黑" panose="020B0503020204020204" pitchFamily="34" charset="-122"/>
              </a:rPr>
              <a:t>两服务器不串通要求高</a:t>
            </a:r>
            <a:endParaRPr lang="en-US" altLang="zh-CN" b="1">
              <a:latin typeface="微软雅黑" panose="020B0503020204020204" pitchFamily="34" charset="-122"/>
              <a:ea typeface="微软雅黑" panose="020B0503020204020204" pitchFamily="34" charset="-122"/>
            </a:endParaRPr>
          </a:p>
          <a:p>
            <a:pPr>
              <a:lnSpc>
                <a:spcPct val="150000"/>
              </a:lnSpc>
            </a:pPr>
            <a:r>
              <a:rPr lang="zh-CN" altLang="en-US" sz="1600">
                <a:latin typeface="Times New Roman" panose="02020603050405020304" pitchFamily="18" charset="0"/>
                <a:ea typeface="微软雅黑" panose="020B0503020204020204" pitchFamily="34" charset="-122"/>
              </a:rPr>
              <a:t>要求两台服务器绝对不串通，这在现实环境中较难保证。</a:t>
            </a:r>
          </a:p>
          <a:p>
            <a:pPr marL="285750" indent="-285750">
              <a:lnSpc>
                <a:spcPct val="150000"/>
              </a:lnSpc>
              <a:buFont typeface="Arial" panose="020B0604020202020204" pitchFamily="34" charset="0"/>
              <a:buChar char="•"/>
            </a:pPr>
            <a:r>
              <a:rPr lang="zh-CN" altLang="en-US" b="1">
                <a:latin typeface="微软雅黑" panose="020B0503020204020204" pitchFamily="34" charset="-122"/>
                <a:ea typeface="微软雅黑" panose="020B0503020204020204" pitchFamily="34" charset="-122"/>
              </a:rPr>
              <a:t>激活函数仍近似</a:t>
            </a:r>
            <a:endParaRPr lang="en-US" altLang="zh-CN" b="1">
              <a:latin typeface="微软雅黑" panose="020B0503020204020204" pitchFamily="34" charset="-122"/>
              <a:ea typeface="微软雅黑" panose="020B0503020204020204" pitchFamily="34" charset="-122"/>
            </a:endParaRPr>
          </a:p>
          <a:p>
            <a:pPr>
              <a:lnSpc>
                <a:spcPct val="150000"/>
              </a:lnSpc>
            </a:pPr>
            <a:r>
              <a:rPr lang="zh-CN" altLang="en-US" sz="1600">
                <a:latin typeface="Times New Roman" panose="02020603050405020304" pitchFamily="18" charset="0"/>
                <a:ea typeface="微软雅黑" panose="020B0503020204020204" pitchFamily="34" charset="-122"/>
              </a:rPr>
              <a:t>激活函数依然是近似实现，虽然提升了效率，但在精度上仍存在一定损失。</a:t>
            </a:r>
          </a:p>
        </p:txBody>
      </p:sp>
    </p:spTree>
    <p:extLst>
      <p:ext uri="{BB962C8B-B14F-4D97-AF65-F5344CB8AC3E}">
        <p14:creationId xmlns:p14="http://schemas.microsoft.com/office/powerpoint/2010/main" val="39697475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55670E-AA33-C0C9-E28B-7C1228E4A382}"/>
            </a:ext>
          </a:extLst>
        </p:cNvPr>
        <p:cNvGrpSpPr/>
        <p:nvPr/>
      </p:nvGrpSpPr>
      <p:grpSpPr>
        <a:xfrm>
          <a:off x="0" y="0"/>
          <a:ext cx="0" cy="0"/>
          <a:chOff x="0" y="0"/>
          <a:chExt cx="0" cy="0"/>
        </a:xfrm>
      </p:grpSpPr>
      <p:sp>
        <p:nvSpPr>
          <p:cNvPr id="20" name="文本框 19">
            <a:extLst>
              <a:ext uri="{FF2B5EF4-FFF2-40B4-BE49-F238E27FC236}">
                <a16:creationId xmlns:a16="http://schemas.microsoft.com/office/drawing/2014/main" id="{F023DFFB-B3A0-7C73-5596-DAAD8A764294}"/>
              </a:ext>
            </a:extLst>
          </p:cNvPr>
          <p:cNvSpPr txBox="1"/>
          <p:nvPr/>
        </p:nvSpPr>
        <p:spPr>
          <a:xfrm>
            <a:off x="629331" y="295379"/>
            <a:ext cx="3426179" cy="583565"/>
          </a:xfrm>
          <a:prstGeom prst="rect">
            <a:avLst/>
          </a:prstGeom>
          <a:noFill/>
        </p:spPr>
        <p:txBody>
          <a:bodyPr wrap="square" rtlCol="0">
            <a:spAutoFit/>
          </a:bodyPr>
          <a:lstStyle/>
          <a:p>
            <a:pPr lvl="0">
              <a:defRPr/>
            </a:pPr>
            <a:r>
              <a:rPr lang="zh-CN" altLang="en-US" sz="3200" b="1">
                <a:latin typeface="微软雅黑" panose="020B0503020204020204" pitchFamily="34" charset="-122"/>
                <a:ea typeface="微软雅黑" panose="020B0503020204020204" pitchFamily="34" charset="-122"/>
              </a:rPr>
              <a:t>未来展望与总结</a:t>
            </a:r>
            <a:endParaRPr lang="zh-CN" altLang="en-US" sz="3200" b="1" dirty="0">
              <a:solidFill>
                <a:schemeClr val="tx1"/>
              </a:solidFill>
              <a:latin typeface="微软雅黑" panose="020B0503020204020204" pitchFamily="34" charset="-122"/>
              <a:ea typeface="微软雅黑" panose="020B0503020204020204" pitchFamily="34" charset="-122"/>
            </a:endParaRPr>
          </a:p>
        </p:txBody>
      </p:sp>
      <p:sp>
        <p:nvSpPr>
          <p:cNvPr id="22" name="矩形: 圆角 21">
            <a:extLst>
              <a:ext uri="{FF2B5EF4-FFF2-40B4-BE49-F238E27FC236}">
                <a16:creationId xmlns:a16="http://schemas.microsoft.com/office/drawing/2014/main" id="{5FD5860F-3B72-32B4-5271-D8684C237E2E}"/>
              </a:ext>
            </a:extLst>
          </p:cNvPr>
          <p:cNvSpPr/>
          <p:nvPr/>
        </p:nvSpPr>
        <p:spPr>
          <a:xfrm flipH="1">
            <a:off x="-218450" y="224311"/>
            <a:ext cx="739545" cy="724771"/>
          </a:xfrm>
          <a:prstGeom prst="roundRect">
            <a:avLst>
              <a:gd name="adj" fmla="val 1461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lumMod val="75000"/>
                  <a:lumOff val="25000"/>
                </a:schemeClr>
              </a:solidFill>
            </a:endParaRPr>
          </a:p>
        </p:txBody>
      </p:sp>
      <p:sp>
        <p:nvSpPr>
          <p:cNvPr id="2" name="文本框 1">
            <a:extLst>
              <a:ext uri="{FF2B5EF4-FFF2-40B4-BE49-F238E27FC236}">
                <a16:creationId xmlns:a16="http://schemas.microsoft.com/office/drawing/2014/main" id="{C52ACCD3-2855-0934-7241-85F2C936D42D}"/>
              </a:ext>
            </a:extLst>
          </p:cNvPr>
          <p:cNvSpPr txBox="1"/>
          <p:nvPr/>
        </p:nvSpPr>
        <p:spPr>
          <a:xfrm>
            <a:off x="659765" y="1794510"/>
            <a:ext cx="7118422" cy="3597395"/>
          </a:xfrm>
          <a:prstGeom prst="rect">
            <a:avLst/>
          </a:prstGeom>
          <a:noFill/>
        </p:spPr>
        <p:txBody>
          <a:bodyPr wrap="square" rtlCol="0" anchor="t">
            <a:spAutoFit/>
          </a:bodyPr>
          <a:lstStyle/>
          <a:p>
            <a:pPr marL="285750" indent="-285750">
              <a:lnSpc>
                <a:spcPct val="150000"/>
              </a:lnSpc>
              <a:buFont typeface="Arial" panose="020B0604020202020204" pitchFamily="34" charset="0"/>
              <a:buChar char="•"/>
            </a:pPr>
            <a:r>
              <a:rPr lang="zh-CN" altLang="en-US" b="1">
                <a:latin typeface="Times New Roman" panose="02020603050405020304" pitchFamily="18" charset="0"/>
                <a:ea typeface="微软雅黑" panose="020B0503020204020204" pitchFamily="34" charset="-122"/>
              </a:rPr>
              <a:t>结合差分隐私与</a:t>
            </a:r>
            <a:r>
              <a:rPr lang="en-US" altLang="zh-CN" b="1">
                <a:latin typeface="Times New Roman" panose="02020603050405020304" pitchFamily="18" charset="0"/>
                <a:ea typeface="微软雅黑" panose="020B0503020204020204" pitchFamily="34" charset="-122"/>
              </a:rPr>
              <a:t>TEE</a:t>
            </a:r>
            <a:r>
              <a:rPr lang="zh-CN" altLang="en-US" b="1">
                <a:latin typeface="Times New Roman" panose="02020603050405020304" pitchFamily="18" charset="0"/>
                <a:ea typeface="微软雅黑" panose="020B0503020204020204" pitchFamily="34" charset="-122"/>
              </a:rPr>
              <a:t>增强安全</a:t>
            </a:r>
            <a:endParaRPr lang="en-US" altLang="zh-CN" b="1">
              <a:latin typeface="Times New Roman" panose="02020603050405020304" pitchFamily="18" charset="0"/>
              <a:ea typeface="微软雅黑" panose="020B0503020204020204" pitchFamily="34" charset="-122"/>
            </a:endParaRPr>
          </a:p>
          <a:p>
            <a:pPr>
              <a:lnSpc>
                <a:spcPct val="150000"/>
              </a:lnSpc>
            </a:pPr>
            <a:r>
              <a:rPr lang="zh-CN" altLang="en-US" sz="1600">
                <a:latin typeface="Times New Roman" panose="02020603050405020304" pitchFamily="18" charset="0"/>
                <a:ea typeface="微软雅黑" panose="020B0503020204020204" pitchFamily="34" charset="-122"/>
              </a:rPr>
              <a:t>结合</a:t>
            </a:r>
            <a:r>
              <a:rPr lang="en-US" altLang="zh-CN" sz="1600">
                <a:latin typeface="Times New Roman" panose="02020603050405020304" pitchFamily="18" charset="0"/>
                <a:ea typeface="微软雅黑" panose="020B0503020204020204" pitchFamily="34" charset="-122"/>
              </a:rPr>
              <a:t>DP</a:t>
            </a:r>
            <a:r>
              <a:rPr lang="zh-CN" altLang="en-US" sz="1600">
                <a:latin typeface="Times New Roman" panose="02020603050405020304" pitchFamily="18" charset="0"/>
                <a:ea typeface="微软雅黑" panose="020B0503020204020204" pitchFamily="34" charset="-122"/>
              </a:rPr>
              <a:t>在模型参数层面进一步防止数据反推</a:t>
            </a:r>
            <a:endParaRPr lang="en-US" altLang="zh-CN" sz="1600">
              <a:latin typeface="Times New Roman" panose="02020603050405020304" pitchFamily="18" charset="0"/>
              <a:ea typeface="微软雅黑" panose="020B0503020204020204" pitchFamily="34" charset="-122"/>
            </a:endParaRPr>
          </a:p>
          <a:p>
            <a:pPr>
              <a:lnSpc>
                <a:spcPct val="150000"/>
              </a:lnSpc>
            </a:pPr>
            <a:r>
              <a:rPr lang="zh-CN" altLang="en-US" sz="1600">
                <a:latin typeface="Times New Roman" panose="02020603050405020304" pitchFamily="18" charset="0"/>
                <a:ea typeface="微软雅黑" panose="020B0503020204020204" pitchFamily="34" charset="-122"/>
              </a:rPr>
              <a:t>利用 </a:t>
            </a:r>
            <a:r>
              <a:rPr lang="en-US" altLang="zh-CN" sz="1600">
                <a:latin typeface="Times New Roman" panose="02020603050405020304" pitchFamily="18" charset="0"/>
                <a:ea typeface="微软雅黑" panose="020B0503020204020204" pitchFamily="34" charset="-122"/>
              </a:rPr>
              <a:t>Intel SGX </a:t>
            </a:r>
            <a:r>
              <a:rPr lang="zh-CN" altLang="en-US" sz="1600">
                <a:latin typeface="Times New Roman" panose="02020603050405020304" pitchFamily="18" charset="0"/>
                <a:ea typeface="微软雅黑" panose="020B0503020204020204" pitchFamily="34" charset="-122"/>
              </a:rPr>
              <a:t>等硬件提升安全性与速度</a:t>
            </a:r>
          </a:p>
          <a:p>
            <a:pPr marL="285750" indent="-285750">
              <a:lnSpc>
                <a:spcPct val="150000"/>
              </a:lnSpc>
              <a:buFont typeface="Arial" panose="020B0604020202020204" pitchFamily="34" charset="0"/>
              <a:buChar char="•"/>
            </a:pPr>
            <a:r>
              <a:rPr lang="zh-CN" altLang="en-US" b="1">
                <a:latin typeface="Times New Roman" panose="02020603050405020304" pitchFamily="18" charset="0"/>
                <a:ea typeface="微软雅黑" panose="020B0503020204020204" pitchFamily="34" charset="-122"/>
              </a:rPr>
              <a:t>扩展至</a:t>
            </a:r>
            <a:r>
              <a:rPr lang="en-US" altLang="zh-CN" b="1">
                <a:latin typeface="Times New Roman" panose="02020603050405020304" pitchFamily="18" charset="0"/>
                <a:ea typeface="微软雅黑" panose="020B0503020204020204" pitchFamily="34" charset="-122"/>
              </a:rPr>
              <a:t>SecureNN</a:t>
            </a:r>
            <a:r>
              <a:rPr lang="zh-CN" altLang="en-US" b="1">
                <a:latin typeface="Times New Roman" panose="02020603050405020304" pitchFamily="18" charset="0"/>
                <a:ea typeface="微软雅黑" panose="020B0503020204020204" pitchFamily="34" charset="-122"/>
              </a:rPr>
              <a:t>、</a:t>
            </a:r>
            <a:r>
              <a:rPr lang="en-US" altLang="zh-CN" b="1">
                <a:latin typeface="Times New Roman" panose="02020603050405020304" pitchFamily="18" charset="0"/>
                <a:ea typeface="微软雅黑" panose="020B0503020204020204" pitchFamily="34" charset="-122"/>
              </a:rPr>
              <a:t>CryptGPU</a:t>
            </a:r>
            <a:r>
              <a:rPr lang="zh-CN" altLang="en-US" b="1">
                <a:latin typeface="Times New Roman" panose="02020603050405020304" pitchFamily="18" charset="0"/>
                <a:ea typeface="微软雅黑" panose="020B0503020204020204" pitchFamily="34" charset="-122"/>
              </a:rPr>
              <a:t>等</a:t>
            </a:r>
            <a:endParaRPr lang="en-US" altLang="zh-CN" b="1">
              <a:latin typeface="Times New Roman" panose="02020603050405020304" pitchFamily="18" charset="0"/>
              <a:ea typeface="微软雅黑" panose="020B0503020204020204" pitchFamily="34" charset="-122"/>
            </a:endParaRPr>
          </a:p>
          <a:p>
            <a:pPr>
              <a:lnSpc>
                <a:spcPct val="150000"/>
              </a:lnSpc>
            </a:pPr>
            <a:r>
              <a:rPr lang="zh-CN" altLang="en-US" sz="1600">
                <a:latin typeface="Times New Roman" panose="02020603050405020304" pitchFamily="18" charset="0"/>
                <a:ea typeface="微软雅黑" panose="020B0503020204020204" pitchFamily="34" charset="-122"/>
              </a:rPr>
              <a:t>多方与分布式扩展使其发展为</a:t>
            </a:r>
            <a:r>
              <a:rPr lang="en-US" altLang="zh-CN" sz="1600">
                <a:latin typeface="Times New Roman" panose="02020603050405020304" pitchFamily="18" charset="0"/>
                <a:ea typeface="微软雅黑" panose="020B0503020204020204" pitchFamily="34" charset="-122"/>
              </a:rPr>
              <a:t>SecureNN</a:t>
            </a:r>
            <a:r>
              <a:rPr lang="zh-CN" altLang="en-US" sz="1600">
                <a:latin typeface="Times New Roman" panose="02020603050405020304" pitchFamily="18" charset="0"/>
                <a:ea typeface="微软雅黑" panose="020B0503020204020204" pitchFamily="34" charset="-122"/>
              </a:rPr>
              <a:t>、</a:t>
            </a:r>
            <a:r>
              <a:rPr lang="en-US" altLang="zh-CN" sz="1600">
                <a:latin typeface="Times New Roman" panose="02020603050405020304" pitchFamily="18" charset="0"/>
                <a:ea typeface="微软雅黑" panose="020B0503020204020204" pitchFamily="34" charset="-122"/>
              </a:rPr>
              <a:t>CryptGPU</a:t>
            </a:r>
            <a:r>
              <a:rPr lang="zh-CN" altLang="en-US" sz="1600">
                <a:latin typeface="Times New Roman" panose="02020603050405020304" pitchFamily="18" charset="0"/>
                <a:ea typeface="微软雅黑" panose="020B0503020204020204" pitchFamily="34" charset="-122"/>
              </a:rPr>
              <a:t>、</a:t>
            </a:r>
            <a:r>
              <a:rPr lang="en-US" altLang="zh-CN" sz="1600">
                <a:latin typeface="Times New Roman" panose="02020603050405020304" pitchFamily="18" charset="0"/>
                <a:ea typeface="微软雅黑" panose="020B0503020204020204" pitchFamily="34" charset="-122"/>
              </a:rPr>
              <a:t>CrypTen </a:t>
            </a:r>
            <a:r>
              <a:rPr lang="zh-CN" altLang="en-US" sz="1600">
                <a:latin typeface="Times New Roman" panose="02020603050405020304" pitchFamily="18" charset="0"/>
                <a:ea typeface="微软雅黑" panose="020B0503020204020204" pitchFamily="34" charset="-122"/>
              </a:rPr>
              <a:t>等更通用框架，实现真正的隐私深度学习</a:t>
            </a:r>
          </a:p>
          <a:p>
            <a:pPr marL="285750" indent="-285750">
              <a:lnSpc>
                <a:spcPct val="150000"/>
              </a:lnSpc>
              <a:buFont typeface="Arial" panose="020B0604020202020204" pitchFamily="34" charset="0"/>
              <a:buChar char="•"/>
            </a:pPr>
            <a:r>
              <a:rPr lang="zh-CN" altLang="en-US" b="1">
                <a:latin typeface="Times New Roman" panose="02020603050405020304" pitchFamily="18" charset="0"/>
                <a:ea typeface="微软雅黑" panose="020B0503020204020204" pitchFamily="34" charset="-122"/>
              </a:rPr>
              <a:t>实现隐私与高效平衡</a:t>
            </a:r>
          </a:p>
          <a:p>
            <a:pPr marL="285750" indent="-285750">
              <a:lnSpc>
                <a:spcPct val="150000"/>
              </a:lnSpc>
              <a:buFont typeface="Arial" panose="020B0604020202020204" pitchFamily="34" charset="0"/>
              <a:buChar char="•"/>
            </a:pPr>
            <a:r>
              <a:rPr lang="zh-CN" altLang="en-US" b="1">
                <a:latin typeface="Times New Roman" panose="02020603050405020304" pitchFamily="18" charset="0"/>
                <a:ea typeface="微软雅黑" panose="020B0503020204020204" pitchFamily="34" charset="-122"/>
              </a:rPr>
              <a:t>奠定隐私深度学习基础</a:t>
            </a:r>
            <a:endParaRPr lang="en-US" altLang="zh-CN" b="1">
              <a:latin typeface="Times New Roman" panose="02020603050405020304" pitchFamily="18" charset="0"/>
              <a:ea typeface="微软雅黑" panose="020B0503020204020204" pitchFamily="34" charset="-122"/>
            </a:endParaRPr>
          </a:p>
          <a:p>
            <a:pPr>
              <a:lnSpc>
                <a:spcPct val="150000"/>
              </a:lnSpc>
            </a:pPr>
            <a:r>
              <a:rPr lang="zh-CN" altLang="en-US" sz="1600">
                <a:latin typeface="Times New Roman" panose="02020603050405020304" pitchFamily="18" charset="0"/>
                <a:ea typeface="微软雅黑" panose="020B0503020204020204" pitchFamily="34" charset="-122"/>
              </a:rPr>
              <a:t>例如腾讯 </a:t>
            </a:r>
            <a:r>
              <a:rPr lang="en-US" altLang="zh-CN" sz="1600">
                <a:latin typeface="Times New Roman" panose="02020603050405020304" pitchFamily="18" charset="0"/>
                <a:ea typeface="微软雅黑" panose="020B0503020204020204" pitchFamily="34" charset="-122"/>
              </a:rPr>
              <a:t>Federated AI</a:t>
            </a:r>
            <a:r>
              <a:rPr lang="zh-CN" altLang="en-US" sz="1600">
                <a:latin typeface="Times New Roman" panose="02020603050405020304" pitchFamily="18" charset="0"/>
                <a:ea typeface="微软雅黑" panose="020B0503020204020204" pitchFamily="34" charset="-122"/>
              </a:rPr>
              <a:t>、阿里隐语等系统</a:t>
            </a:r>
          </a:p>
        </p:txBody>
      </p:sp>
    </p:spTree>
    <p:extLst>
      <p:ext uri="{BB962C8B-B14F-4D97-AF65-F5344CB8AC3E}">
        <p14:creationId xmlns:p14="http://schemas.microsoft.com/office/powerpoint/2010/main" val="377881314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文本框 19"/>
          <p:cNvSpPr txBox="1"/>
          <p:nvPr/>
        </p:nvSpPr>
        <p:spPr>
          <a:xfrm>
            <a:off x="629331" y="295379"/>
            <a:ext cx="3426179" cy="583565"/>
          </a:xfrm>
          <a:prstGeom prst="rect">
            <a:avLst/>
          </a:prstGeom>
          <a:noFill/>
        </p:spPr>
        <p:txBody>
          <a:bodyPr wrap="square" rtlCol="0">
            <a:spAutoFit/>
          </a:bodyPr>
          <a:lstStyle/>
          <a:p>
            <a:pPr lvl="0">
              <a:defRPr/>
            </a:pPr>
            <a:r>
              <a:rPr lang="zh-CN" altLang="en-US" sz="3200" b="1" dirty="0">
                <a:solidFill>
                  <a:schemeClr val="tx1"/>
                </a:solidFill>
                <a:latin typeface="微软雅黑" panose="020B0503020204020204" pitchFamily="34" charset="-122"/>
                <a:ea typeface="微软雅黑" panose="020B0503020204020204" pitchFamily="34" charset="-122"/>
              </a:rPr>
              <a:t>核心创新</a:t>
            </a:r>
          </a:p>
        </p:txBody>
      </p:sp>
      <p:sp>
        <p:nvSpPr>
          <p:cNvPr id="22" name="矩形: 圆角 21"/>
          <p:cNvSpPr/>
          <p:nvPr/>
        </p:nvSpPr>
        <p:spPr>
          <a:xfrm flipH="1">
            <a:off x="-218450" y="224311"/>
            <a:ext cx="739545" cy="724771"/>
          </a:xfrm>
          <a:prstGeom prst="roundRect">
            <a:avLst>
              <a:gd name="adj" fmla="val 1461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lumMod val="75000"/>
                  <a:lumOff val="25000"/>
                </a:schemeClr>
              </a:solidFill>
            </a:endParaRPr>
          </a:p>
        </p:txBody>
      </p:sp>
      <p:sp>
        <p:nvSpPr>
          <p:cNvPr id="19" name="文本框 18"/>
          <p:cNvSpPr txBox="1"/>
          <p:nvPr/>
        </p:nvSpPr>
        <p:spPr>
          <a:xfrm>
            <a:off x="438150" y="1371600"/>
            <a:ext cx="9721215" cy="460375"/>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altLang="zh-CN" sz="2400" b="1" dirty="0">
                <a:solidFill>
                  <a:schemeClr val="tx1"/>
                </a:solidFill>
                <a:uFillTx/>
                <a:latin typeface="Times New Roman" panose="02020603050405020304" charset="0"/>
                <a:ea typeface="微软雅黑" panose="020B0503020204020204" pitchFamily="34" charset="-122"/>
                <a:cs typeface="Times New Roman" panose="02020603050405020304" charset="0"/>
              </a:rPr>
              <a:t>Lin Li</a:t>
            </a:r>
          </a:p>
        </p:txBody>
      </p:sp>
      <p:sp>
        <p:nvSpPr>
          <p:cNvPr id="2" name="文本框 1"/>
          <p:cNvSpPr txBox="1"/>
          <p:nvPr/>
        </p:nvSpPr>
        <p:spPr>
          <a:xfrm>
            <a:off x="438150" y="1832610"/>
            <a:ext cx="7956550" cy="1568450"/>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zh-CN" altLang="en-US" sz="1600" dirty="0">
                <a:solidFill>
                  <a:schemeClr val="tx1"/>
                </a:solidFill>
                <a:uFillTx/>
                <a:latin typeface="Times New Roman" panose="02020603050405020304" charset="0"/>
                <a:ea typeface="等线" panose="02010600030101010101" charset="-122"/>
                <a:cs typeface="+mn-lt"/>
              </a:rPr>
              <a:t>于2009年获得日本</a:t>
            </a:r>
            <a:r>
              <a:rPr lang="zh-CN" altLang="en-US" sz="1600" b="1" dirty="0">
                <a:solidFill>
                  <a:schemeClr val="tx1"/>
                </a:solidFill>
                <a:uFillTx/>
                <a:latin typeface="Times New Roman" panose="02020603050405020304" charset="0"/>
                <a:ea typeface="等线" panose="02010600030101010101" charset="-122"/>
                <a:cs typeface="+mn-lt"/>
              </a:rPr>
              <a:t>东京大学博士</a:t>
            </a:r>
            <a:r>
              <a:rPr lang="zh-CN" altLang="en-US" sz="1600" dirty="0">
                <a:solidFill>
                  <a:schemeClr val="tx1"/>
                </a:solidFill>
                <a:uFillTx/>
                <a:latin typeface="Times New Roman" panose="02020603050405020304" charset="0"/>
                <a:ea typeface="等线" panose="02010600030101010101" charset="-122"/>
                <a:cs typeface="+mn-lt"/>
              </a:rPr>
              <a:t>学位。她是</a:t>
            </a:r>
            <a:r>
              <a:rPr lang="zh-CN" altLang="en-US" sz="1600" b="1" dirty="0">
                <a:solidFill>
                  <a:schemeClr val="tx1"/>
                </a:solidFill>
                <a:uFillTx/>
                <a:latin typeface="Times New Roman" panose="02020603050405020304" charset="0"/>
                <a:ea typeface="等线" panose="02010600030101010101" charset="-122"/>
                <a:cs typeface="+mn-lt"/>
              </a:rPr>
              <a:t>武汉理工大学</a:t>
            </a:r>
            <a:r>
              <a:rPr lang="zh-CN" altLang="en-US" sz="1600" dirty="0">
                <a:solidFill>
                  <a:schemeClr val="tx1"/>
                </a:solidFill>
                <a:uFillTx/>
                <a:latin typeface="Times New Roman" panose="02020603050405020304" charset="0"/>
                <a:ea typeface="等线" panose="02010600030101010101" charset="-122"/>
                <a:cs typeface="+mn-lt"/>
              </a:rPr>
              <a:t>计算机与人工智能学院教授。她的研究兴趣涵盖信息检索、推荐系统、数据挖掘、多媒体计算和自然语言处理。她在IJCAI、AAAI、SIGIR、WWW、ICDM、ICMR、CIKM、DASFAA、《ACM Transactions on Information Systems》、《IEEE Transactions on Services Computing》和《ACM Transactions on Internet Technology》上发表了</a:t>
            </a:r>
            <a:r>
              <a:rPr lang="zh-CN" altLang="en-US" sz="1600" b="1" dirty="0">
                <a:solidFill>
                  <a:schemeClr val="tx1"/>
                </a:solidFill>
                <a:uFillTx/>
                <a:latin typeface="Times New Roman" panose="02020603050405020304" charset="0"/>
                <a:ea typeface="等线" panose="02010600030101010101" charset="-122"/>
                <a:cs typeface="+mn-lt"/>
              </a:rPr>
              <a:t>100多篇论文</a:t>
            </a:r>
            <a:r>
              <a:rPr lang="zh-CN" altLang="en-US" sz="1600" dirty="0">
                <a:solidFill>
                  <a:schemeClr val="tx1"/>
                </a:solidFill>
                <a:uFillTx/>
                <a:latin typeface="Times New Roman" panose="02020603050405020304" charset="0"/>
                <a:ea typeface="等线" panose="02010600030101010101" charset="-122"/>
                <a:cs typeface="+mn-lt"/>
              </a:rPr>
              <a:t>，这些论文在Google Scholar上被引用了</a:t>
            </a:r>
            <a:r>
              <a:rPr lang="zh-CN" altLang="en-US" sz="1600" b="1" dirty="0">
                <a:solidFill>
                  <a:schemeClr val="tx1"/>
                </a:solidFill>
                <a:uFillTx/>
                <a:latin typeface="Times New Roman" panose="02020603050405020304" charset="0"/>
                <a:ea typeface="等线" panose="02010600030101010101" charset="-122"/>
                <a:cs typeface="+mn-lt"/>
              </a:rPr>
              <a:t>3000多次</a:t>
            </a:r>
            <a:r>
              <a:rPr lang="zh-CN" altLang="en-US" sz="1600" dirty="0">
                <a:solidFill>
                  <a:schemeClr val="tx1"/>
                </a:solidFill>
                <a:uFillTx/>
                <a:latin typeface="Times New Roman" panose="02020603050405020304" charset="0"/>
                <a:ea typeface="等线" panose="02010600030101010101" charset="-122"/>
                <a:cs typeface="+mn-lt"/>
              </a:rPr>
              <a:t>。</a:t>
            </a:r>
          </a:p>
        </p:txBody>
      </p:sp>
      <p:pic>
        <p:nvPicPr>
          <p:cNvPr id="3" name="图片 2"/>
          <p:cNvPicPr>
            <a:picLocks noChangeAspect="1"/>
          </p:cNvPicPr>
          <p:nvPr/>
        </p:nvPicPr>
        <p:blipFill>
          <a:blip r:embed="rId3"/>
          <a:stretch>
            <a:fillRect/>
          </a:stretch>
        </p:blipFill>
        <p:spPr>
          <a:xfrm>
            <a:off x="9212580" y="1648460"/>
            <a:ext cx="1379220" cy="1866265"/>
          </a:xfrm>
          <a:prstGeom prst="rect">
            <a:avLst/>
          </a:prstGeom>
        </p:spPr>
      </p:pic>
      <p:sp>
        <p:nvSpPr>
          <p:cNvPr id="9" name="文本框 8"/>
          <p:cNvSpPr txBox="1"/>
          <p:nvPr/>
        </p:nvSpPr>
        <p:spPr>
          <a:xfrm>
            <a:off x="438150" y="4071620"/>
            <a:ext cx="9721215" cy="460375"/>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altLang="zh-CN" sz="2400" b="1" dirty="0">
                <a:solidFill>
                  <a:schemeClr val="tx1"/>
                </a:solidFill>
                <a:uFillTx/>
                <a:latin typeface="Times New Roman" panose="02020603050405020304" charset="0"/>
                <a:ea typeface="微软雅黑" panose="020B0503020204020204" pitchFamily="34" charset="-122"/>
                <a:cs typeface="Times New Roman" panose="02020603050405020304" charset="0"/>
              </a:rPr>
              <a:t>Xiaofeng Zhu</a:t>
            </a:r>
          </a:p>
        </p:txBody>
      </p:sp>
      <p:sp>
        <p:nvSpPr>
          <p:cNvPr id="10" name="文本框 9"/>
          <p:cNvSpPr txBox="1"/>
          <p:nvPr/>
        </p:nvSpPr>
        <p:spPr>
          <a:xfrm>
            <a:off x="438150" y="4532630"/>
            <a:ext cx="7956550" cy="583565"/>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zh-CN" altLang="en-US" sz="1600" dirty="0">
                <a:solidFill>
                  <a:schemeClr val="tx1"/>
                </a:solidFill>
                <a:uFillTx/>
                <a:latin typeface="Times New Roman" panose="02020603050405020304" charset="0"/>
                <a:ea typeface="等线" panose="02010600030101010101" charset="-122"/>
                <a:cs typeface="+mn-lt"/>
              </a:rPr>
              <a:t>于</a:t>
            </a:r>
            <a:r>
              <a:rPr lang="en-US" altLang="zh-CN" sz="1600" dirty="0">
                <a:solidFill>
                  <a:schemeClr val="tx1"/>
                </a:solidFill>
                <a:uFillTx/>
                <a:latin typeface="Times New Roman" panose="02020603050405020304" charset="0"/>
                <a:ea typeface="等线" panose="02010600030101010101" charset="-122"/>
                <a:cs typeface="+mn-lt"/>
              </a:rPr>
              <a:t>2013</a:t>
            </a:r>
            <a:r>
              <a:rPr lang="zh-CN" altLang="en-US" sz="1600" dirty="0">
                <a:solidFill>
                  <a:schemeClr val="tx1"/>
                </a:solidFill>
                <a:uFillTx/>
                <a:latin typeface="Times New Roman" panose="02020603050405020304" charset="0"/>
                <a:ea typeface="等线" panose="02010600030101010101" charset="-122"/>
                <a:cs typeface="+mn-lt"/>
              </a:rPr>
              <a:t>年获得澳大利亚昆士兰大学计算机科学博士学位。他现任</a:t>
            </a:r>
            <a:r>
              <a:rPr lang="zh-CN" altLang="en-US" sz="1600" b="1" dirty="0">
                <a:solidFill>
                  <a:schemeClr val="tx1"/>
                </a:solidFill>
                <a:uFillTx/>
                <a:latin typeface="Times New Roman" panose="02020603050405020304" charset="0"/>
                <a:ea typeface="等线" panose="02010600030101010101" charset="-122"/>
                <a:cs typeface="+mn-lt"/>
              </a:rPr>
              <a:t>电子科技大学</a:t>
            </a:r>
            <a:r>
              <a:rPr lang="zh-CN" altLang="en-US" sz="1600" dirty="0">
                <a:solidFill>
                  <a:schemeClr val="tx1"/>
                </a:solidFill>
                <a:uFillTx/>
                <a:latin typeface="Times New Roman" panose="02020603050405020304" charset="0"/>
                <a:ea typeface="等线" panose="02010600030101010101" charset="-122"/>
                <a:cs typeface="+mn-lt"/>
              </a:rPr>
              <a:t>计算机科学与工程学院</a:t>
            </a:r>
            <a:r>
              <a:rPr lang="zh-CN" altLang="en-US" sz="1600" b="1" dirty="0">
                <a:solidFill>
                  <a:schemeClr val="tx1"/>
                </a:solidFill>
                <a:uFillTx/>
                <a:latin typeface="Times New Roman" panose="02020603050405020304" charset="0"/>
                <a:ea typeface="等线" panose="02010600030101010101" charset="-122"/>
                <a:cs typeface="+mn-lt"/>
              </a:rPr>
              <a:t>教授</a:t>
            </a:r>
            <a:r>
              <a:rPr lang="zh-CN" altLang="en-US" sz="1600" dirty="0">
                <a:solidFill>
                  <a:schemeClr val="tx1"/>
                </a:solidFill>
                <a:uFillTx/>
                <a:latin typeface="Times New Roman" panose="02020603050405020304" charset="0"/>
                <a:ea typeface="等线" panose="02010600030101010101" charset="-122"/>
                <a:cs typeface="+mn-lt"/>
              </a:rPr>
              <a:t>。他的研究兴趣包括机器学习、图学习和医学影像分析。</a:t>
            </a:r>
          </a:p>
        </p:txBody>
      </p:sp>
      <p:pic>
        <p:nvPicPr>
          <p:cNvPr id="11" name="图片 10"/>
          <p:cNvPicPr>
            <a:picLocks noChangeAspect="1"/>
          </p:cNvPicPr>
          <p:nvPr/>
        </p:nvPicPr>
        <p:blipFill>
          <a:blip r:embed="rId4"/>
          <a:stretch>
            <a:fillRect/>
          </a:stretch>
        </p:blipFill>
        <p:spPr>
          <a:xfrm>
            <a:off x="9212580" y="4071620"/>
            <a:ext cx="1432560" cy="174498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矩形: 圆角 21"/>
          <p:cNvSpPr/>
          <p:nvPr/>
        </p:nvSpPr>
        <p:spPr>
          <a:xfrm flipH="1">
            <a:off x="-218450" y="224311"/>
            <a:ext cx="739545" cy="724771"/>
          </a:xfrm>
          <a:prstGeom prst="roundRect">
            <a:avLst>
              <a:gd name="adj" fmla="val 1461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lumMod val="75000"/>
                  <a:lumOff val="25000"/>
                </a:schemeClr>
              </a:solidFill>
            </a:endParaRPr>
          </a:p>
        </p:txBody>
      </p:sp>
      <p:sp>
        <p:nvSpPr>
          <p:cNvPr id="24" name="文本框 23"/>
          <p:cNvSpPr txBox="1"/>
          <p:nvPr/>
        </p:nvSpPr>
        <p:spPr>
          <a:xfrm>
            <a:off x="521335" y="4100195"/>
            <a:ext cx="9721215" cy="460375"/>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altLang="zh-CN" sz="2400" b="1" dirty="0">
                <a:solidFill>
                  <a:schemeClr val="tx1"/>
                </a:solidFill>
                <a:uFillTx/>
                <a:latin typeface="Times New Roman" panose="02020603050405020304" charset="0"/>
                <a:ea typeface="微软雅黑" panose="020B0503020204020204" pitchFamily="34" charset="-122"/>
                <a:cs typeface="Times New Roman" panose="02020603050405020304" charset="0"/>
              </a:rPr>
              <a:t>Qing Li </a:t>
            </a:r>
            <a:r>
              <a:rPr lang="en-US" altLang="zh-CN" b="1" dirty="0">
                <a:solidFill>
                  <a:schemeClr val="tx1"/>
                </a:solidFill>
                <a:uFillTx/>
                <a:latin typeface="Times New Roman" panose="02020603050405020304" charset="0"/>
                <a:ea typeface="微软雅黑" panose="020B0503020204020204" pitchFamily="34" charset="-122"/>
                <a:cs typeface="Times New Roman" panose="02020603050405020304" charset="0"/>
              </a:rPr>
              <a:t>(IEEE Fellow)</a:t>
            </a:r>
          </a:p>
        </p:txBody>
      </p:sp>
      <p:sp>
        <p:nvSpPr>
          <p:cNvPr id="25" name="文本框 24"/>
          <p:cNvSpPr txBox="1"/>
          <p:nvPr/>
        </p:nvSpPr>
        <p:spPr>
          <a:xfrm>
            <a:off x="521335" y="4561205"/>
            <a:ext cx="7956550" cy="829945"/>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buClrTx/>
              <a:buSzTx/>
              <a:buFontTx/>
            </a:pPr>
            <a:r>
              <a:rPr lang="zh-CN" altLang="en-US" sz="1600" dirty="0">
                <a:solidFill>
                  <a:schemeClr val="tx1"/>
                </a:solidFill>
                <a:uFillTx/>
                <a:latin typeface="Times New Roman" panose="02020603050405020304" charset="0"/>
                <a:ea typeface="等线" panose="02010600030101010101" charset="-122"/>
                <a:cs typeface="+mn-lt"/>
              </a:rPr>
              <a:t>现任</a:t>
            </a:r>
            <a:r>
              <a:rPr lang="zh-CN" altLang="en-US" sz="1600" b="1" dirty="0">
                <a:solidFill>
                  <a:schemeClr val="tx1"/>
                </a:solidFill>
                <a:uFillTx/>
                <a:latin typeface="Times New Roman" panose="02020603050405020304" charset="0"/>
                <a:ea typeface="等线" panose="02010600030101010101" charset="-122"/>
                <a:cs typeface="+mn-lt"/>
              </a:rPr>
              <a:t>香港理工大学</a:t>
            </a:r>
            <a:r>
              <a:rPr lang="zh-CN" altLang="en-US" sz="1600" dirty="0">
                <a:solidFill>
                  <a:schemeClr val="tx1"/>
                </a:solidFill>
                <a:uFillTx/>
                <a:latin typeface="Times New Roman" panose="02020603050405020304" charset="0"/>
                <a:ea typeface="等线" panose="02010600030101010101" charset="-122"/>
                <a:cs typeface="+mn-lt"/>
              </a:rPr>
              <a:t>计算学系数据科学讲座</a:t>
            </a:r>
            <a:r>
              <a:rPr lang="zh-CN" altLang="en-US" sz="1600" b="1" dirty="0">
                <a:solidFill>
                  <a:schemeClr val="tx1"/>
                </a:solidFill>
                <a:uFillTx/>
                <a:latin typeface="Times New Roman" panose="02020603050405020304" charset="0"/>
                <a:ea typeface="等线" panose="02010600030101010101" charset="-122"/>
                <a:cs typeface="+mn-lt"/>
              </a:rPr>
              <a:t>教授</a:t>
            </a:r>
            <a:r>
              <a:rPr lang="zh-CN" altLang="en-US" sz="1600" dirty="0">
                <a:solidFill>
                  <a:schemeClr val="tx1"/>
                </a:solidFill>
                <a:uFillTx/>
                <a:latin typeface="Times New Roman" panose="02020603050405020304" charset="0"/>
                <a:ea typeface="等线" panose="02010600030101010101" charset="-122"/>
                <a:cs typeface="+mn-lt"/>
              </a:rPr>
              <a:t>兼</a:t>
            </a:r>
            <a:r>
              <a:rPr lang="zh-CN" altLang="en-US" sz="1600" b="1" dirty="0">
                <a:solidFill>
                  <a:schemeClr val="tx1"/>
                </a:solidFill>
                <a:uFillTx/>
                <a:latin typeface="Times New Roman" panose="02020603050405020304" charset="0"/>
                <a:ea typeface="等线" panose="02010600030101010101" charset="-122"/>
                <a:cs typeface="+mn-lt"/>
              </a:rPr>
              <a:t>系主任</a:t>
            </a:r>
            <a:r>
              <a:rPr lang="zh-CN" altLang="en-US" sz="1600" dirty="0">
                <a:solidFill>
                  <a:schemeClr val="tx1"/>
                </a:solidFill>
                <a:uFillTx/>
                <a:latin typeface="Times New Roman" panose="02020603050405020304" charset="0"/>
                <a:ea typeface="等线" panose="02010600030101010101" charset="-122"/>
                <a:cs typeface="+mn-lt"/>
              </a:rPr>
              <a:t>。他目前是</a:t>
            </a:r>
            <a:r>
              <a:rPr lang="en-US" altLang="zh-CN" sz="1600" b="1" dirty="0">
                <a:solidFill>
                  <a:schemeClr val="tx1"/>
                </a:solidFill>
                <a:uFillTx/>
                <a:latin typeface="Times New Roman" panose="02020603050405020304" charset="0"/>
                <a:ea typeface="等线" panose="02010600030101010101" charset="-122"/>
                <a:cs typeface="+mn-lt"/>
              </a:rPr>
              <a:t>IET/IEE</a:t>
            </a:r>
            <a:r>
              <a:rPr lang="zh-CN" altLang="en-US" sz="1600" b="1" dirty="0">
                <a:solidFill>
                  <a:schemeClr val="tx1"/>
                </a:solidFill>
                <a:uFillTx/>
                <a:latin typeface="Times New Roman" panose="02020603050405020304" charset="0"/>
                <a:ea typeface="等线" panose="02010600030101010101" charset="-122"/>
                <a:cs typeface="+mn-lt"/>
              </a:rPr>
              <a:t>会士</a:t>
            </a:r>
            <a:r>
              <a:rPr lang="zh-CN" altLang="en-US" sz="1600" dirty="0">
                <a:solidFill>
                  <a:schemeClr val="tx1"/>
                </a:solidFill>
                <a:uFillTx/>
                <a:latin typeface="Times New Roman" panose="02020603050405020304" charset="0"/>
                <a:ea typeface="等线" panose="02010600030101010101" charset="-122"/>
                <a:cs typeface="+mn-lt"/>
              </a:rPr>
              <a:t>和</a:t>
            </a:r>
            <a:r>
              <a:rPr lang="en-US" altLang="zh-CN" sz="1600" dirty="0">
                <a:solidFill>
                  <a:schemeClr val="tx1"/>
                </a:solidFill>
                <a:uFillTx/>
                <a:latin typeface="Times New Roman" panose="02020603050405020304" charset="0"/>
                <a:ea typeface="等线" panose="02010600030101010101" charset="-122"/>
                <a:cs typeface="+mn-lt"/>
              </a:rPr>
              <a:t>CCF</a:t>
            </a:r>
            <a:r>
              <a:rPr lang="zh-CN" altLang="en-US" sz="1600" dirty="0">
                <a:solidFill>
                  <a:schemeClr val="tx1"/>
                </a:solidFill>
                <a:uFillTx/>
                <a:latin typeface="Times New Roman" panose="02020603050405020304" charset="0"/>
                <a:ea typeface="等线" panose="02010600030101010101" charset="-122"/>
                <a:cs typeface="+mn-lt"/>
              </a:rPr>
              <a:t>（中国计算机学会）杰出会员。他是香港</a:t>
            </a:r>
            <a:r>
              <a:rPr lang="en-US" altLang="zh-CN" sz="1600" b="1" dirty="0">
                <a:solidFill>
                  <a:schemeClr val="tx1"/>
                </a:solidFill>
                <a:uFillTx/>
                <a:latin typeface="Times New Roman" panose="02020603050405020304" charset="0"/>
                <a:ea typeface="等线" panose="02010600030101010101" charset="-122"/>
                <a:cs typeface="+mn-lt"/>
              </a:rPr>
              <a:t>Web Society</a:t>
            </a:r>
            <a:r>
              <a:rPr lang="zh-CN" altLang="en-US" sz="1600" dirty="0">
                <a:solidFill>
                  <a:schemeClr val="tx1"/>
                </a:solidFill>
                <a:uFillTx/>
                <a:latin typeface="Times New Roman" panose="02020603050405020304" charset="0"/>
                <a:ea typeface="等线" panose="02010600030101010101" charset="-122"/>
                <a:cs typeface="+mn-lt"/>
              </a:rPr>
              <a:t>的主席和</a:t>
            </a:r>
            <a:r>
              <a:rPr lang="en-US" altLang="zh-CN" sz="1600" b="1" dirty="0">
                <a:solidFill>
                  <a:schemeClr val="tx1"/>
                </a:solidFill>
                <a:uFillTx/>
                <a:latin typeface="Times New Roman" panose="02020603050405020304" charset="0"/>
                <a:ea typeface="等线" panose="02010600030101010101" charset="-122"/>
                <a:cs typeface="+mn-lt"/>
              </a:rPr>
              <a:t>CCF</a:t>
            </a:r>
            <a:r>
              <a:rPr lang="zh-CN" altLang="en-US" sz="1600" b="1" dirty="0">
                <a:solidFill>
                  <a:schemeClr val="tx1"/>
                </a:solidFill>
                <a:uFillTx/>
                <a:latin typeface="Times New Roman" panose="02020603050405020304" charset="0"/>
                <a:ea typeface="等线" panose="02010600030101010101" charset="-122"/>
                <a:cs typeface="+mn-lt"/>
              </a:rPr>
              <a:t>杰出会员</a:t>
            </a:r>
            <a:r>
              <a:rPr lang="zh-CN" altLang="en-US" sz="1600" dirty="0">
                <a:solidFill>
                  <a:schemeClr val="tx1"/>
                </a:solidFill>
                <a:uFillTx/>
                <a:latin typeface="Times New Roman" panose="02020603050405020304" charset="0"/>
                <a:ea typeface="等线" panose="02010600030101010101" charset="-122"/>
                <a:cs typeface="+mn-lt"/>
              </a:rPr>
              <a:t>。他曾担任</a:t>
            </a:r>
            <a:r>
              <a:rPr lang="en-US" altLang="zh-CN" sz="1600" dirty="0">
                <a:solidFill>
                  <a:schemeClr val="tx1"/>
                </a:solidFill>
                <a:uFillTx/>
                <a:latin typeface="Times New Roman" panose="02020603050405020304" charset="0"/>
                <a:ea typeface="等线" panose="02010600030101010101" charset="-122"/>
                <a:cs typeface="+mn-lt"/>
              </a:rPr>
              <a:t>DASFAA</a:t>
            </a:r>
            <a:r>
              <a:rPr lang="zh-CN" altLang="en-US" sz="1600" dirty="0">
                <a:solidFill>
                  <a:schemeClr val="tx1"/>
                </a:solidFill>
                <a:uFillTx/>
                <a:latin typeface="Times New Roman" panose="02020603050405020304" charset="0"/>
                <a:ea typeface="等线" panose="02010600030101010101" charset="-122"/>
                <a:cs typeface="+mn-lt"/>
              </a:rPr>
              <a:t>、</a:t>
            </a:r>
            <a:r>
              <a:rPr lang="en-US" altLang="zh-CN" sz="1600" dirty="0">
                <a:solidFill>
                  <a:schemeClr val="tx1"/>
                </a:solidFill>
                <a:uFillTx/>
                <a:latin typeface="Times New Roman" panose="02020603050405020304" charset="0"/>
                <a:ea typeface="等线" panose="02010600030101010101" charset="-122"/>
                <a:cs typeface="+mn-lt"/>
              </a:rPr>
              <a:t>ER</a:t>
            </a:r>
            <a:r>
              <a:rPr lang="zh-CN" altLang="en-US" sz="1600" dirty="0">
                <a:solidFill>
                  <a:schemeClr val="tx1"/>
                </a:solidFill>
                <a:uFillTx/>
                <a:latin typeface="Times New Roman" panose="02020603050405020304" charset="0"/>
                <a:ea typeface="等线" panose="02010600030101010101" charset="-122"/>
                <a:cs typeface="+mn-lt"/>
              </a:rPr>
              <a:t>、</a:t>
            </a:r>
            <a:r>
              <a:rPr lang="en-US" altLang="zh-CN" sz="1600" dirty="0">
                <a:solidFill>
                  <a:schemeClr val="tx1"/>
                </a:solidFill>
                <a:uFillTx/>
                <a:latin typeface="Times New Roman" panose="02020603050405020304" charset="0"/>
                <a:ea typeface="等线" panose="02010600030101010101" charset="-122"/>
                <a:cs typeface="+mn-lt"/>
              </a:rPr>
              <a:t>ICWL</a:t>
            </a:r>
            <a:r>
              <a:rPr lang="zh-CN" altLang="en-US" sz="1600" dirty="0">
                <a:solidFill>
                  <a:schemeClr val="tx1"/>
                </a:solidFill>
                <a:uFillTx/>
                <a:latin typeface="Times New Roman" panose="02020603050405020304" charset="0"/>
                <a:ea typeface="等线" panose="02010600030101010101" charset="-122"/>
                <a:cs typeface="+mn-lt"/>
              </a:rPr>
              <a:t>、</a:t>
            </a:r>
            <a:r>
              <a:rPr lang="en-US" altLang="zh-CN" sz="1600" dirty="0">
                <a:solidFill>
                  <a:schemeClr val="tx1"/>
                </a:solidFill>
                <a:uFillTx/>
                <a:latin typeface="Times New Roman" panose="02020603050405020304" charset="0"/>
                <a:ea typeface="等线" panose="02010600030101010101" charset="-122"/>
                <a:cs typeface="+mn-lt"/>
              </a:rPr>
              <a:t>UMEDIA</a:t>
            </a:r>
            <a:r>
              <a:rPr lang="zh-CN" altLang="en-US" sz="1600" dirty="0">
                <a:solidFill>
                  <a:schemeClr val="tx1"/>
                </a:solidFill>
                <a:uFillTx/>
                <a:latin typeface="Times New Roman" panose="02020603050405020304" charset="0"/>
                <a:ea typeface="等线" panose="02010600030101010101" charset="-122"/>
                <a:cs typeface="+mn-lt"/>
              </a:rPr>
              <a:t>和</a:t>
            </a:r>
            <a:r>
              <a:rPr lang="en-US" altLang="zh-CN" sz="1600" dirty="0">
                <a:solidFill>
                  <a:schemeClr val="tx1"/>
                </a:solidFill>
                <a:uFillTx/>
                <a:latin typeface="Times New Roman" panose="02020603050405020304" charset="0"/>
                <a:ea typeface="等线" panose="02010600030101010101" charset="-122"/>
                <a:cs typeface="+mn-lt"/>
              </a:rPr>
              <a:t>WISE Society</a:t>
            </a:r>
            <a:r>
              <a:rPr lang="zh-CN" altLang="en-US" sz="1600" dirty="0">
                <a:solidFill>
                  <a:schemeClr val="tx1"/>
                </a:solidFill>
                <a:uFillTx/>
                <a:latin typeface="Times New Roman" panose="02020603050405020304" charset="0"/>
                <a:ea typeface="等线" panose="02010600030101010101" charset="-122"/>
                <a:cs typeface="+mn-lt"/>
              </a:rPr>
              <a:t>的指导委员会成员。</a:t>
            </a:r>
          </a:p>
        </p:txBody>
      </p:sp>
      <p:pic>
        <p:nvPicPr>
          <p:cNvPr id="4" name="图片 3"/>
          <p:cNvPicPr>
            <a:picLocks noChangeAspect="1"/>
          </p:cNvPicPr>
          <p:nvPr/>
        </p:nvPicPr>
        <p:blipFill>
          <a:blip r:embed="rId3"/>
          <a:stretch>
            <a:fillRect/>
          </a:stretch>
        </p:blipFill>
        <p:spPr>
          <a:xfrm>
            <a:off x="9212580" y="4172585"/>
            <a:ext cx="1412875" cy="1765935"/>
          </a:xfrm>
          <a:prstGeom prst="rect">
            <a:avLst/>
          </a:prstGeom>
        </p:spPr>
      </p:pic>
      <p:sp>
        <p:nvSpPr>
          <p:cNvPr id="5" name="文本框 4"/>
          <p:cNvSpPr txBox="1"/>
          <p:nvPr/>
        </p:nvSpPr>
        <p:spPr>
          <a:xfrm>
            <a:off x="521335" y="1284605"/>
            <a:ext cx="9721215" cy="460375"/>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altLang="zh-CN" sz="2400" b="1" dirty="0">
                <a:solidFill>
                  <a:schemeClr val="tx1"/>
                </a:solidFill>
                <a:uFillTx/>
                <a:latin typeface="Times New Roman" panose="02020603050405020304" charset="0"/>
                <a:ea typeface="微软雅黑" panose="020B0503020204020204" pitchFamily="34" charset="-122"/>
                <a:cs typeface="Times New Roman" panose="02020603050405020304" charset="0"/>
              </a:rPr>
              <a:t>Haoran Xie </a:t>
            </a:r>
            <a:r>
              <a:rPr lang="en-US" altLang="zh-CN" b="1" dirty="0">
                <a:solidFill>
                  <a:schemeClr val="tx1"/>
                </a:solidFill>
                <a:uFillTx/>
                <a:latin typeface="Times New Roman" panose="02020603050405020304" charset="0"/>
                <a:ea typeface="微软雅黑" panose="020B0503020204020204" pitchFamily="34" charset="-122"/>
                <a:cs typeface="Times New Roman" panose="02020603050405020304" charset="0"/>
              </a:rPr>
              <a:t>(Senior Member, IEEE)</a:t>
            </a:r>
          </a:p>
        </p:txBody>
      </p:sp>
      <p:sp>
        <p:nvSpPr>
          <p:cNvPr id="6" name="文本框 5"/>
          <p:cNvSpPr txBox="1"/>
          <p:nvPr/>
        </p:nvSpPr>
        <p:spPr>
          <a:xfrm>
            <a:off x="521335" y="1744980"/>
            <a:ext cx="7956550" cy="2061210"/>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buClrTx/>
              <a:buSzTx/>
              <a:buFontTx/>
            </a:pPr>
            <a:r>
              <a:rPr lang="zh-CN" altLang="en-US" sz="1600" dirty="0">
                <a:solidFill>
                  <a:schemeClr val="tx1"/>
                </a:solidFill>
                <a:uFillTx/>
                <a:latin typeface="Times New Roman" panose="02020603050405020304" charset="0"/>
                <a:ea typeface="等线" panose="02010600030101010101" charset="-122"/>
                <a:cs typeface="+mn-lt"/>
              </a:rPr>
              <a:t>获得了</a:t>
            </a:r>
            <a:r>
              <a:rPr lang="zh-CN" altLang="en-US" sz="1600" b="1" dirty="0">
                <a:solidFill>
                  <a:schemeClr val="tx1"/>
                </a:solidFill>
                <a:uFillTx/>
                <a:latin typeface="Times New Roman" panose="02020603050405020304" charset="0"/>
                <a:ea typeface="等线" panose="02010600030101010101" charset="-122"/>
                <a:cs typeface="+mn-lt"/>
              </a:rPr>
              <a:t>香港城市大学</a:t>
            </a:r>
            <a:r>
              <a:rPr lang="zh-CN" altLang="en-US" sz="1600" dirty="0">
                <a:solidFill>
                  <a:schemeClr val="tx1"/>
                </a:solidFill>
                <a:uFillTx/>
                <a:latin typeface="Times New Roman" panose="02020603050405020304" charset="0"/>
                <a:ea typeface="等线" panose="02010600030101010101" charset="-122"/>
                <a:cs typeface="+mn-lt"/>
              </a:rPr>
              <a:t>计算机科学</a:t>
            </a:r>
            <a:r>
              <a:rPr lang="zh-CN" altLang="en-US" sz="1600" b="1" dirty="0">
                <a:solidFill>
                  <a:schemeClr val="tx1"/>
                </a:solidFill>
                <a:uFillTx/>
                <a:latin typeface="Times New Roman" panose="02020603050405020304" charset="0"/>
                <a:ea typeface="等线" panose="02010600030101010101" charset="-122"/>
                <a:cs typeface="+mn-lt"/>
              </a:rPr>
              <a:t>博士</a:t>
            </a:r>
            <a:r>
              <a:rPr lang="zh-CN" altLang="en-US" sz="1600" dirty="0">
                <a:solidFill>
                  <a:schemeClr val="tx1"/>
                </a:solidFill>
                <a:uFillTx/>
                <a:latin typeface="Times New Roman" panose="02020603050405020304" charset="0"/>
                <a:ea typeface="等线" panose="02010600030101010101" charset="-122"/>
                <a:cs typeface="+mn-lt"/>
              </a:rPr>
              <a:t>学位和布里斯托大学数字学习教育博士学位。他现任</a:t>
            </a:r>
            <a:r>
              <a:rPr lang="zh-CN" altLang="en-US" sz="1600" b="1" dirty="0">
                <a:solidFill>
                  <a:schemeClr val="tx1"/>
                </a:solidFill>
                <a:uFillTx/>
                <a:latin typeface="Times New Roman" panose="02020603050405020304" charset="0"/>
                <a:ea typeface="等线" panose="02010600030101010101" charset="-122"/>
                <a:cs typeface="+mn-lt"/>
              </a:rPr>
              <a:t>香港岭南大学</a:t>
            </a:r>
            <a:r>
              <a:rPr lang="zh-CN" altLang="en-US" sz="1600" dirty="0">
                <a:solidFill>
                  <a:schemeClr val="tx1"/>
                </a:solidFill>
                <a:uFillTx/>
                <a:latin typeface="Times New Roman" panose="02020603050405020304" charset="0"/>
                <a:ea typeface="等线" panose="02010600030101010101" charset="-122"/>
                <a:cs typeface="+mn-lt"/>
              </a:rPr>
              <a:t>计算与决策科学系</a:t>
            </a:r>
            <a:r>
              <a:rPr lang="zh-CN" altLang="en-US" sz="1600" b="1" dirty="0">
                <a:solidFill>
                  <a:schemeClr val="tx1"/>
                </a:solidFill>
                <a:uFillTx/>
                <a:latin typeface="Times New Roman" panose="02020603050405020304" charset="0"/>
                <a:ea typeface="等线" panose="02010600030101010101" charset="-122"/>
                <a:cs typeface="+mn-lt"/>
              </a:rPr>
              <a:t>系主任</a:t>
            </a:r>
            <a:r>
              <a:rPr lang="zh-CN" altLang="en-US" sz="1600" dirty="0">
                <a:solidFill>
                  <a:schemeClr val="tx1"/>
                </a:solidFill>
                <a:uFillTx/>
                <a:latin typeface="Times New Roman" panose="02020603050405020304" charset="0"/>
                <a:ea typeface="等线" panose="02010600030101010101" charset="-122"/>
                <a:cs typeface="+mn-lt"/>
              </a:rPr>
              <a:t>兼</a:t>
            </a:r>
            <a:r>
              <a:rPr lang="zh-CN" altLang="en-US" sz="1600" b="1" dirty="0">
                <a:solidFill>
                  <a:schemeClr val="tx1"/>
                </a:solidFill>
                <a:uFillTx/>
                <a:latin typeface="Times New Roman" panose="02020603050405020304" charset="0"/>
                <a:ea typeface="等线" panose="02010600030101010101" charset="-122"/>
                <a:cs typeface="+mn-lt"/>
              </a:rPr>
              <a:t>副教授</a:t>
            </a:r>
            <a:r>
              <a:rPr lang="zh-CN" altLang="en-US" sz="1600" dirty="0">
                <a:solidFill>
                  <a:schemeClr val="tx1"/>
                </a:solidFill>
                <a:uFillTx/>
                <a:latin typeface="Times New Roman" panose="02020603050405020304" charset="0"/>
                <a:ea typeface="等线" panose="02010600030101010101" charset="-122"/>
                <a:cs typeface="+mn-lt"/>
              </a:rPr>
              <a:t>。他的研究包括人工智能、大数据和教育技术。他发表了</a:t>
            </a:r>
            <a:r>
              <a:rPr lang="zh-CN" altLang="en-US" sz="1600" b="1" dirty="0">
                <a:solidFill>
                  <a:schemeClr val="tx1"/>
                </a:solidFill>
                <a:uFillTx/>
                <a:latin typeface="Times New Roman" panose="02020603050405020304" charset="0"/>
                <a:ea typeface="等线" panose="02010600030101010101" charset="-122"/>
                <a:cs typeface="+mn-lt"/>
              </a:rPr>
              <a:t>404篇</a:t>
            </a:r>
            <a:r>
              <a:rPr lang="zh-CN" altLang="en-US" sz="1600" dirty="0">
                <a:solidFill>
                  <a:schemeClr val="tx1"/>
                </a:solidFill>
                <a:uFillTx/>
                <a:latin typeface="Times New Roman" panose="02020603050405020304" charset="0"/>
                <a:ea typeface="等线" panose="02010600030101010101" charset="-122"/>
                <a:cs typeface="+mn-lt"/>
              </a:rPr>
              <a:t>研究出版物，包括</a:t>
            </a:r>
            <a:r>
              <a:rPr lang="zh-CN" altLang="en-US" sz="1600" b="1" dirty="0">
                <a:solidFill>
                  <a:schemeClr val="tx1"/>
                </a:solidFill>
                <a:uFillTx/>
                <a:latin typeface="Times New Roman" panose="02020603050405020304" charset="0"/>
                <a:ea typeface="等线" panose="02010600030101010101" charset="-122"/>
                <a:cs typeface="+mn-lt"/>
              </a:rPr>
              <a:t>227篇</a:t>
            </a:r>
            <a:r>
              <a:rPr lang="zh-CN" altLang="en-US" sz="1600" dirty="0">
                <a:solidFill>
                  <a:schemeClr val="tx1"/>
                </a:solidFill>
                <a:uFillTx/>
                <a:latin typeface="Times New Roman" panose="02020603050405020304" charset="0"/>
                <a:ea typeface="等线" panose="02010600030101010101" charset="-122"/>
                <a:cs typeface="+mn-lt"/>
              </a:rPr>
              <a:t>期刊文章，例如《IEEE Transactions on Pattern Analysis and Machine Intelligence》、《IEEE Transactions on Knowledge and Data Engineering》、《IEEE Transactions on Affective Computing》。他是《Natural Language Processing Journal》、《Computers &amp; Education: Artificial Intelligence》和《Computers &amp; Education: X Reality》的主编。他被斯坦福大学列为</a:t>
            </a:r>
            <a:r>
              <a:rPr lang="zh-CN" altLang="en-US" sz="1600" b="1" dirty="0">
                <a:solidFill>
                  <a:schemeClr val="tx1"/>
                </a:solidFill>
                <a:uFillTx/>
                <a:latin typeface="Times New Roman" panose="02020603050405020304" charset="0"/>
                <a:ea typeface="等线" panose="02010600030101010101" charset="-122"/>
                <a:cs typeface="+mn-lt"/>
              </a:rPr>
              <a:t>世界前2%</a:t>
            </a:r>
            <a:r>
              <a:rPr lang="zh-CN" altLang="en-US" sz="1600" dirty="0">
                <a:solidFill>
                  <a:schemeClr val="tx1"/>
                </a:solidFill>
                <a:uFillTx/>
                <a:latin typeface="Times New Roman" panose="02020603050405020304" charset="0"/>
                <a:ea typeface="等线" panose="02010600030101010101" charset="-122"/>
                <a:cs typeface="+mn-lt"/>
              </a:rPr>
              <a:t>的科学家之一。</a:t>
            </a:r>
          </a:p>
        </p:txBody>
      </p:sp>
      <p:pic>
        <p:nvPicPr>
          <p:cNvPr id="7" name="图片 6"/>
          <p:cNvPicPr>
            <a:picLocks noChangeAspect="1"/>
          </p:cNvPicPr>
          <p:nvPr/>
        </p:nvPicPr>
        <p:blipFill>
          <a:blip r:embed="rId4"/>
          <a:stretch>
            <a:fillRect/>
          </a:stretch>
        </p:blipFill>
        <p:spPr>
          <a:xfrm>
            <a:off x="9212580" y="1618615"/>
            <a:ext cx="1445895" cy="1799590"/>
          </a:xfrm>
          <a:prstGeom prst="rect">
            <a:avLst/>
          </a:prstGeom>
        </p:spPr>
      </p:pic>
      <p:sp>
        <p:nvSpPr>
          <p:cNvPr id="8" name="文本框 7"/>
          <p:cNvSpPr txBox="1"/>
          <p:nvPr/>
        </p:nvSpPr>
        <p:spPr>
          <a:xfrm>
            <a:off x="629331" y="295379"/>
            <a:ext cx="3426179" cy="583565"/>
          </a:xfrm>
          <a:prstGeom prst="rect">
            <a:avLst/>
          </a:prstGeom>
          <a:noFill/>
        </p:spPr>
        <p:txBody>
          <a:bodyPr wrap="square" rtlCol="0">
            <a:spAutoFit/>
          </a:bodyPr>
          <a:lstStyle/>
          <a:p>
            <a:pPr lvl="0">
              <a:defRPr/>
            </a:pPr>
            <a:r>
              <a:rPr lang="zh-CN" altLang="en-US" sz="3200" b="1" dirty="0">
                <a:solidFill>
                  <a:schemeClr val="tx1"/>
                </a:solidFill>
                <a:latin typeface="微软雅黑" panose="020B0503020204020204" pitchFamily="34" charset="-122"/>
                <a:ea typeface="微软雅黑" panose="020B0503020204020204" pitchFamily="34" charset="-122"/>
              </a:rPr>
              <a:t>作者介绍</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文本框 19"/>
          <p:cNvSpPr txBox="1"/>
          <p:nvPr/>
        </p:nvSpPr>
        <p:spPr>
          <a:xfrm>
            <a:off x="629331" y="148059"/>
            <a:ext cx="3426179" cy="829945"/>
          </a:xfrm>
          <a:prstGeom prst="rect">
            <a:avLst/>
          </a:prstGeom>
          <a:noFill/>
        </p:spPr>
        <p:txBody>
          <a:bodyPr wrap="square" rtlCol="0">
            <a:spAutoFit/>
          </a:bodyPr>
          <a:lstStyle/>
          <a:p>
            <a:pPr lvl="0">
              <a:defRPr/>
            </a:pPr>
            <a:r>
              <a:rPr lang="zh-CN" altLang="en-US" sz="3200" b="1" dirty="0">
                <a:solidFill>
                  <a:schemeClr val="tx1"/>
                </a:solidFill>
                <a:latin typeface="微软雅黑" panose="020B0503020204020204" pitchFamily="34" charset="-122"/>
                <a:ea typeface="微软雅黑" panose="020B0503020204020204" pitchFamily="34" charset="-122"/>
              </a:rPr>
              <a:t>引言</a:t>
            </a:r>
          </a:p>
          <a:p>
            <a:pPr lvl="0">
              <a:defRPr/>
            </a:pPr>
            <a:r>
              <a:rPr lang="zh-CN" altLang="en-US" sz="1600" b="1" dirty="0">
                <a:solidFill>
                  <a:schemeClr val="tx1"/>
                </a:solidFill>
                <a:latin typeface="微软雅黑" panose="020B0503020204020204" pitchFamily="34" charset="-122"/>
                <a:ea typeface="微软雅黑" panose="020B0503020204020204" pitchFamily="34" charset="-122"/>
              </a:rPr>
              <a:t>背景与目的</a:t>
            </a:r>
          </a:p>
        </p:txBody>
      </p:sp>
      <p:sp>
        <p:nvSpPr>
          <p:cNvPr id="22" name="矩形: 圆角 21"/>
          <p:cNvSpPr/>
          <p:nvPr/>
        </p:nvSpPr>
        <p:spPr>
          <a:xfrm flipH="1">
            <a:off x="-218450" y="224311"/>
            <a:ext cx="739545" cy="724771"/>
          </a:xfrm>
          <a:prstGeom prst="roundRect">
            <a:avLst>
              <a:gd name="adj" fmla="val 1461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lumMod val="75000"/>
                  <a:lumOff val="25000"/>
                </a:schemeClr>
              </a:solidFill>
            </a:endParaRPr>
          </a:p>
        </p:txBody>
      </p:sp>
      <p:sp>
        <p:nvSpPr>
          <p:cNvPr id="101" name="文本框 100"/>
          <p:cNvSpPr txBox="1"/>
          <p:nvPr>
            <p:custDataLst>
              <p:tags r:id="rId1"/>
            </p:custDataLst>
          </p:nvPr>
        </p:nvSpPr>
        <p:spPr>
          <a:xfrm>
            <a:off x="717550" y="1295400"/>
            <a:ext cx="8765540" cy="607695"/>
          </a:xfrm>
          <a:prstGeom prst="rect">
            <a:avLst/>
          </a:prstGeom>
          <a:noFill/>
        </p:spPr>
        <p:txBody>
          <a:bodyPr wrap="square" rtlCol="0">
            <a:spAutoFit/>
          </a:bodyPr>
          <a:lstStyle/>
          <a:p>
            <a:pPr>
              <a:lnSpc>
                <a:spcPct val="120000"/>
              </a:lnSpc>
            </a:pPr>
            <a:r>
              <a:rPr lang="zh-CN" altLang="en-US" sz="2800" b="1" dirty="0">
                <a:solidFill>
                  <a:schemeClr val="tx1">
                    <a:lumMod val="85000"/>
                    <a:lumOff val="15000"/>
                  </a:schemeClr>
                </a:solidFill>
                <a:uFillTx/>
                <a:latin typeface="Times New Roman" panose="02020603050405020304" charset="0"/>
                <a:ea typeface="等线" panose="02010600030101010101" charset="-122"/>
                <a:cs typeface="Times New Roman" panose="02020603050405020304" charset="0"/>
              </a:rPr>
              <a:t>什么是机器遗忘</a:t>
            </a:r>
            <a:r>
              <a:rPr lang="en-US" altLang="zh-CN" sz="2800" b="1" dirty="0">
                <a:solidFill>
                  <a:schemeClr val="tx1">
                    <a:lumMod val="85000"/>
                    <a:lumOff val="15000"/>
                  </a:schemeClr>
                </a:solidFill>
                <a:uFillTx/>
                <a:latin typeface="Times New Roman" panose="02020603050405020304" charset="0"/>
                <a:ea typeface="等线" panose="02010600030101010101" charset="-122"/>
                <a:cs typeface="Times New Roman" panose="02020603050405020304" charset="0"/>
              </a:rPr>
              <a:t> (Machine Unlearning)?</a:t>
            </a:r>
          </a:p>
        </p:txBody>
      </p:sp>
      <p:sp>
        <p:nvSpPr>
          <p:cNvPr id="6" name="文本框 5"/>
          <p:cNvSpPr txBox="1"/>
          <p:nvPr/>
        </p:nvSpPr>
        <p:spPr>
          <a:xfrm>
            <a:off x="717550" y="2275840"/>
            <a:ext cx="7248525" cy="2748280"/>
          </a:xfrm>
          <a:prstGeom prst="rect">
            <a:avLst/>
          </a:prstGeom>
        </p:spPr>
        <p:txBody>
          <a:bodyPr wrap="square">
            <a:spAutoFit/>
          </a:bodyPr>
          <a:lstStyle/>
          <a:p>
            <a:pPr marL="285750" indent="-285750" algn="just">
              <a:lnSpc>
                <a:spcPct val="120000"/>
              </a:lnSpc>
              <a:buClrTx/>
              <a:buSzTx/>
              <a:buFont typeface="Arial" panose="020B0604020202020204" pitchFamily="34" charset="0"/>
              <a:buChar char="•"/>
            </a:pPr>
            <a:r>
              <a:rPr lang="zh-CN" altLang="en-US" b="1" dirty="0">
                <a:solidFill>
                  <a:schemeClr val="tx1">
                    <a:lumMod val="85000"/>
                    <a:lumOff val="15000"/>
                  </a:schemeClr>
                </a:solidFill>
                <a:uFillTx/>
                <a:latin typeface="Times New Roman" panose="02020603050405020304" charset="0"/>
                <a:ea typeface="等线" panose="02010600030101010101" charset="-122"/>
                <a:cs typeface="Times New Roman" panose="02020603050405020304" charset="0"/>
              </a:rPr>
              <a:t>数据隐私法规要求 (如GDPR“被遗忘权”)</a:t>
            </a:r>
          </a:p>
          <a:p>
            <a:pPr marL="285750" indent="-285750" algn="just">
              <a:lnSpc>
                <a:spcPct val="120000"/>
              </a:lnSpc>
              <a:buClrTx/>
              <a:buSzTx/>
              <a:buFont typeface="Arial" panose="020B0604020202020204" pitchFamily="34" charset="0"/>
              <a:buChar char="•"/>
            </a:pPr>
            <a:r>
              <a:rPr lang="zh-CN" altLang="en-US" b="1" dirty="0">
                <a:solidFill>
                  <a:schemeClr val="tx1">
                    <a:lumMod val="85000"/>
                    <a:lumOff val="15000"/>
                  </a:schemeClr>
                </a:solidFill>
                <a:uFillTx/>
                <a:latin typeface="Times New Roman" panose="02020603050405020304" charset="0"/>
                <a:ea typeface="等线" panose="02010600030101010101" charset="-122"/>
                <a:cs typeface="Times New Roman" panose="02020603050405020304" charset="0"/>
              </a:rPr>
              <a:t>模型需适应动态环境 (移除过时/无关数据)</a:t>
            </a:r>
          </a:p>
          <a:p>
            <a:pPr indent="0" algn="just">
              <a:lnSpc>
                <a:spcPct val="120000"/>
              </a:lnSpc>
              <a:buClrTx/>
              <a:buSzTx/>
              <a:buFont typeface="Arial" panose="020B0604020202020204" pitchFamily="34" charset="0"/>
              <a:buNone/>
            </a:pPr>
            <a:r>
              <a:rPr lang="en-US" altLang="zh-CN" b="1" dirty="0">
                <a:solidFill>
                  <a:schemeClr val="tx1">
                    <a:lumMod val="85000"/>
                    <a:lumOff val="15000"/>
                  </a:schemeClr>
                </a:solidFill>
                <a:uFillTx/>
                <a:latin typeface="Times New Roman" panose="02020603050405020304" charset="0"/>
                <a:ea typeface="等线" panose="02010600030101010101" charset="-122"/>
                <a:cs typeface="Times New Roman" panose="02020603050405020304" charset="0"/>
              </a:rPr>
              <a:t>     </a:t>
            </a:r>
            <a:r>
              <a:rPr lang="zh-CN" altLang="en-US" b="1" dirty="0">
                <a:solidFill>
                  <a:schemeClr val="tx1">
                    <a:lumMod val="85000"/>
                    <a:lumOff val="15000"/>
                  </a:schemeClr>
                </a:solidFill>
                <a:uFillTx/>
                <a:latin typeface="Times New Roman" panose="02020603050405020304" charset="0"/>
                <a:ea typeface="等线" panose="02010600030101010101" charset="-122"/>
                <a:cs typeface="Times New Roman" panose="02020603050405020304" charset="0"/>
              </a:rPr>
              <a:t>传统遗忘方式: 从训练集删除数据 </a:t>
            </a:r>
            <a:r>
              <a:rPr lang="en-US" altLang="zh-CN" b="1" dirty="0">
                <a:solidFill>
                  <a:schemeClr val="tx1">
                    <a:lumMod val="85000"/>
                    <a:lumOff val="15000"/>
                  </a:schemeClr>
                </a:solidFill>
                <a:uFillTx/>
                <a:latin typeface="Times New Roman" panose="02020603050405020304" charset="0"/>
                <a:ea typeface="等线" panose="02010600030101010101" charset="-122"/>
                <a:cs typeface="Times New Roman" panose="02020603050405020304" charset="0"/>
              </a:rPr>
              <a:t>~</a:t>
            </a:r>
            <a:r>
              <a:rPr lang="zh-CN" altLang="en-US" b="1" dirty="0">
                <a:solidFill>
                  <a:schemeClr val="tx1">
                    <a:lumMod val="85000"/>
                    <a:lumOff val="15000"/>
                  </a:schemeClr>
                </a:solidFill>
                <a:uFillTx/>
                <a:latin typeface="Times New Roman" panose="02020603050405020304" charset="0"/>
                <a:ea typeface="等线" panose="02010600030101010101" charset="-122"/>
                <a:cs typeface="Times New Roman" panose="02020603050405020304" charset="0"/>
              </a:rPr>
              <a:t> 完全重新训练模型</a:t>
            </a:r>
          </a:p>
          <a:p>
            <a:pPr marL="285750" indent="-285750" algn="just">
              <a:lnSpc>
                <a:spcPct val="120000"/>
              </a:lnSpc>
              <a:buClrTx/>
              <a:buSzTx/>
              <a:buFont typeface="Arial" panose="020B0604020202020204" pitchFamily="34" charset="0"/>
              <a:buChar char="•"/>
            </a:pPr>
            <a:r>
              <a:rPr lang="zh-CN" altLang="en-US" b="1" dirty="0">
                <a:solidFill>
                  <a:schemeClr val="tx1">
                    <a:lumMod val="85000"/>
                    <a:lumOff val="15000"/>
                  </a:schemeClr>
                </a:solidFill>
                <a:uFillTx/>
                <a:latin typeface="Times New Roman" panose="02020603050405020304" charset="0"/>
                <a:ea typeface="等线" panose="02010600030101010101" charset="-122"/>
                <a:cs typeface="Times New Roman" panose="02020603050405020304" charset="0"/>
              </a:rPr>
              <a:t>缺点: 计算成本高、时间开销大 </a:t>
            </a:r>
          </a:p>
          <a:p>
            <a:pPr indent="0" algn="just">
              <a:lnSpc>
                <a:spcPct val="120000"/>
              </a:lnSpc>
              <a:buClrTx/>
              <a:buSzTx/>
              <a:buFont typeface="Arial" panose="020B0604020202020204" pitchFamily="34" charset="0"/>
              <a:buNone/>
            </a:pPr>
            <a:endParaRPr lang="zh-CN" altLang="en-US" b="1" dirty="0">
              <a:solidFill>
                <a:schemeClr val="tx1">
                  <a:lumMod val="85000"/>
                  <a:lumOff val="15000"/>
                </a:schemeClr>
              </a:solidFill>
              <a:uFillTx/>
              <a:latin typeface="Times New Roman" panose="02020603050405020304" charset="0"/>
              <a:ea typeface="等线" panose="02010600030101010101" charset="-122"/>
              <a:cs typeface="Times New Roman" panose="02020603050405020304" charset="0"/>
            </a:endParaRPr>
          </a:p>
          <a:p>
            <a:pPr marL="285750" indent="-285750" algn="just">
              <a:lnSpc>
                <a:spcPct val="120000"/>
              </a:lnSpc>
              <a:buClrTx/>
              <a:buSzTx/>
              <a:buFont typeface="Arial" panose="020B0604020202020204" pitchFamily="34" charset="0"/>
              <a:buChar char="•"/>
            </a:pPr>
            <a:r>
              <a:rPr lang="zh-CN" altLang="en-US" b="1" dirty="0">
                <a:solidFill>
                  <a:schemeClr val="tx1">
                    <a:lumMod val="85000"/>
                    <a:lumOff val="15000"/>
                  </a:schemeClr>
                </a:solidFill>
                <a:uFillTx/>
                <a:latin typeface="Times New Roman" panose="02020603050405020304" charset="0"/>
                <a:ea typeface="等线" panose="02010600030101010101" charset="-122"/>
                <a:cs typeface="Times New Roman" panose="02020603050405020304" charset="0"/>
              </a:rPr>
              <a:t>使模型表现从未见过该数据</a:t>
            </a:r>
          </a:p>
          <a:p>
            <a:pPr marL="285750" indent="-285750" algn="just">
              <a:lnSpc>
                <a:spcPct val="120000"/>
              </a:lnSpc>
              <a:buClrTx/>
              <a:buSzTx/>
              <a:buFont typeface="Arial" panose="020B0604020202020204" pitchFamily="34" charset="0"/>
              <a:buChar char="•"/>
            </a:pPr>
            <a:r>
              <a:rPr lang="zh-CN" altLang="en-US" b="1" dirty="0">
                <a:solidFill>
                  <a:schemeClr val="tx1">
                    <a:lumMod val="85000"/>
                    <a:lumOff val="15000"/>
                  </a:schemeClr>
                </a:solidFill>
                <a:uFillTx/>
                <a:latin typeface="Times New Roman" panose="02020603050405020304" charset="0"/>
                <a:ea typeface="等线" panose="02010600030101010101" charset="-122"/>
                <a:cs typeface="Times New Roman" panose="02020603050405020304" charset="0"/>
              </a:rPr>
              <a:t>保持模型在其余数据上的性能 </a:t>
            </a:r>
          </a:p>
          <a:p>
            <a:pPr marL="285750" indent="-285750" algn="just">
              <a:lnSpc>
                <a:spcPct val="120000"/>
              </a:lnSpc>
              <a:buClrTx/>
              <a:buSzTx/>
              <a:buFont typeface="Arial" panose="020B0604020202020204" pitchFamily="34" charset="0"/>
              <a:buChar char="•"/>
            </a:pPr>
            <a:r>
              <a:rPr lang="zh-CN" altLang="en-US" b="1" dirty="0">
                <a:solidFill>
                  <a:schemeClr val="tx1">
                    <a:lumMod val="85000"/>
                    <a:lumOff val="15000"/>
                  </a:schemeClr>
                </a:solidFill>
                <a:uFillTx/>
                <a:latin typeface="Times New Roman" panose="02020603050405020304" charset="0"/>
                <a:ea typeface="等线" panose="02010600030101010101" charset="-122"/>
                <a:cs typeface="Times New Roman" panose="02020603050405020304" charset="0"/>
              </a:rPr>
              <a:t>应用: 移除用户注销数据、撤回同意数据、错误数据、过期信息等。 </a:t>
            </a:r>
          </a:p>
        </p:txBody>
      </p:sp>
      <p:pic>
        <p:nvPicPr>
          <p:cNvPr id="8" name="图片 7"/>
          <p:cNvPicPr>
            <a:picLocks noChangeAspect="1"/>
          </p:cNvPicPr>
          <p:nvPr/>
        </p:nvPicPr>
        <p:blipFill>
          <a:blip r:embed="rId4"/>
          <a:stretch>
            <a:fillRect/>
          </a:stretch>
        </p:blipFill>
        <p:spPr>
          <a:xfrm>
            <a:off x="7163435" y="2275840"/>
            <a:ext cx="4419600" cy="176022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文本框 19"/>
          <p:cNvSpPr txBox="1"/>
          <p:nvPr/>
        </p:nvSpPr>
        <p:spPr>
          <a:xfrm>
            <a:off x="629331" y="148059"/>
            <a:ext cx="3426179" cy="829945"/>
          </a:xfrm>
          <a:prstGeom prst="rect">
            <a:avLst/>
          </a:prstGeom>
          <a:noFill/>
        </p:spPr>
        <p:txBody>
          <a:bodyPr wrap="square" rtlCol="0">
            <a:spAutoFit/>
          </a:bodyPr>
          <a:lstStyle/>
          <a:p>
            <a:pPr lvl="0">
              <a:defRPr/>
            </a:pPr>
            <a:r>
              <a:rPr lang="zh-CN" altLang="en-US" sz="3200" b="1" dirty="0">
                <a:solidFill>
                  <a:schemeClr val="tx1"/>
                </a:solidFill>
                <a:latin typeface="微软雅黑" panose="020B0503020204020204" pitchFamily="34" charset="-122"/>
                <a:ea typeface="微软雅黑" panose="020B0503020204020204" pitchFamily="34" charset="-122"/>
              </a:rPr>
              <a:t>相关工作</a:t>
            </a:r>
          </a:p>
          <a:p>
            <a:pPr lvl="0">
              <a:defRPr/>
            </a:pPr>
            <a:r>
              <a:rPr lang="zh-CN" altLang="en-US" sz="1600" b="1" dirty="0">
                <a:solidFill>
                  <a:schemeClr val="tx1"/>
                </a:solidFill>
                <a:latin typeface="微软雅黑" panose="020B0503020204020204" pitchFamily="34" charset="-122"/>
                <a:ea typeface="微软雅黑" panose="020B0503020204020204" pitchFamily="34" charset="-122"/>
              </a:rPr>
              <a:t>面临的挑战与现有不足</a:t>
            </a:r>
          </a:p>
        </p:txBody>
      </p:sp>
      <p:sp>
        <p:nvSpPr>
          <p:cNvPr id="22" name="矩形: 圆角 21"/>
          <p:cNvSpPr/>
          <p:nvPr/>
        </p:nvSpPr>
        <p:spPr>
          <a:xfrm flipH="1">
            <a:off x="-218450" y="224311"/>
            <a:ext cx="739545" cy="724771"/>
          </a:xfrm>
          <a:prstGeom prst="roundRect">
            <a:avLst>
              <a:gd name="adj" fmla="val 1461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lumMod val="75000"/>
                  <a:lumOff val="25000"/>
                </a:schemeClr>
              </a:solidFill>
            </a:endParaRPr>
          </a:p>
        </p:txBody>
      </p:sp>
      <p:sp>
        <p:nvSpPr>
          <p:cNvPr id="2" name="文本框 1"/>
          <p:cNvSpPr txBox="1"/>
          <p:nvPr/>
        </p:nvSpPr>
        <p:spPr>
          <a:xfrm>
            <a:off x="629285" y="1518920"/>
            <a:ext cx="8237855" cy="4076700"/>
          </a:xfrm>
          <a:prstGeom prst="rect">
            <a:avLst/>
          </a:prstGeom>
        </p:spPr>
        <p:txBody>
          <a:bodyPr wrap="square">
            <a:spAutoFit/>
          </a:bodyPr>
          <a:lstStyle/>
          <a:p>
            <a:pPr indent="0" algn="just">
              <a:lnSpc>
                <a:spcPct val="120000"/>
              </a:lnSpc>
              <a:buClrTx/>
              <a:buSzTx/>
              <a:buFont typeface="Arial" panose="020B0604020202020204" pitchFamily="34" charset="0"/>
              <a:buNone/>
            </a:pPr>
            <a:r>
              <a:rPr lang="zh-CN" altLang="en-US" b="1" dirty="0">
                <a:solidFill>
                  <a:schemeClr val="tx1">
                    <a:lumMod val="85000"/>
                    <a:lumOff val="15000"/>
                  </a:schemeClr>
                </a:solidFill>
                <a:uFillTx/>
                <a:latin typeface="Times New Roman" panose="02020603050405020304" charset="0"/>
                <a:ea typeface="等线" panose="02010600030101010101" charset="-122"/>
                <a:cs typeface="Times New Roman" panose="02020603050405020304" charset="0"/>
                <a:sym typeface="+mn-ea"/>
              </a:rPr>
              <a:t>挑战:</a:t>
            </a:r>
            <a:endParaRPr lang="zh-CN" altLang="en-US" b="1" dirty="0">
              <a:solidFill>
                <a:schemeClr val="tx1">
                  <a:lumMod val="85000"/>
                  <a:lumOff val="15000"/>
                </a:schemeClr>
              </a:solidFill>
              <a:uFillTx/>
              <a:latin typeface="Times New Roman" panose="02020603050405020304" charset="0"/>
              <a:ea typeface="等线" panose="02010600030101010101" charset="-122"/>
              <a:cs typeface="Times New Roman" panose="02020603050405020304" charset="0"/>
            </a:endParaRPr>
          </a:p>
          <a:p>
            <a:pPr marL="285750" indent="-285750" algn="just">
              <a:lnSpc>
                <a:spcPct val="120000"/>
              </a:lnSpc>
              <a:buClrTx/>
              <a:buSzTx/>
              <a:buFont typeface="Arial" panose="020B0604020202020204" pitchFamily="34" charset="0"/>
              <a:buChar char="•"/>
            </a:pPr>
            <a:r>
              <a:rPr lang="zh-CN" altLang="en-US" b="1" dirty="0">
                <a:solidFill>
                  <a:schemeClr val="tx1">
                    <a:lumMod val="85000"/>
                    <a:lumOff val="15000"/>
                  </a:schemeClr>
                </a:solidFill>
                <a:uFillTx/>
                <a:latin typeface="Times New Roman" panose="02020603050405020304" charset="0"/>
                <a:ea typeface="等线" panose="02010600030101010101" charset="-122"/>
                <a:cs typeface="Times New Roman" panose="02020603050405020304" charset="0"/>
              </a:rPr>
              <a:t>数据模态: 单模态 (如传感器) vs</a:t>
            </a:r>
            <a:r>
              <a:rPr lang="en-US" altLang="zh-CN" b="1" dirty="0">
                <a:solidFill>
                  <a:schemeClr val="tx1">
                    <a:lumMod val="85000"/>
                    <a:lumOff val="15000"/>
                  </a:schemeClr>
                </a:solidFill>
                <a:uFillTx/>
                <a:latin typeface="Times New Roman" panose="02020603050405020304" charset="0"/>
                <a:ea typeface="等线" panose="02010600030101010101" charset="-122"/>
                <a:cs typeface="Times New Roman" panose="02020603050405020304" charset="0"/>
              </a:rPr>
              <a:t> </a:t>
            </a:r>
            <a:r>
              <a:rPr lang="zh-CN" altLang="en-US" b="1" dirty="0">
                <a:solidFill>
                  <a:schemeClr val="tx1">
                    <a:lumMod val="85000"/>
                    <a:lumOff val="15000"/>
                  </a:schemeClr>
                </a:solidFill>
                <a:uFillTx/>
                <a:latin typeface="Times New Roman" panose="02020603050405020304" charset="0"/>
                <a:ea typeface="等线" panose="02010600030101010101" charset="-122"/>
                <a:cs typeface="Times New Roman" panose="02020603050405020304" charset="0"/>
              </a:rPr>
              <a:t>多模态 (图像+文本+)，遗忘复杂度不同。</a:t>
            </a:r>
          </a:p>
          <a:p>
            <a:pPr marL="285750" indent="-285750" algn="just">
              <a:lnSpc>
                <a:spcPct val="120000"/>
              </a:lnSpc>
              <a:buClrTx/>
              <a:buSzTx/>
              <a:buFont typeface="Arial" panose="020B0604020202020204" pitchFamily="34" charset="0"/>
              <a:buChar char="•"/>
            </a:pPr>
            <a:r>
              <a:rPr lang="zh-CN" altLang="en-US" b="1" dirty="0">
                <a:solidFill>
                  <a:schemeClr val="tx1">
                    <a:lumMod val="85000"/>
                    <a:lumOff val="15000"/>
                  </a:schemeClr>
                </a:solidFill>
                <a:uFillTx/>
                <a:latin typeface="Times New Roman" panose="02020603050405020304" charset="0"/>
                <a:ea typeface="等线" panose="02010600030101010101" charset="-122"/>
                <a:cs typeface="Times New Roman" panose="02020603050405020304" charset="0"/>
              </a:rPr>
              <a:t>联邦学习 (FL) 环境: 数据分布动态变化 (Non-IID)，参与者异构性。</a:t>
            </a:r>
          </a:p>
          <a:p>
            <a:pPr marL="285750" indent="-285750" algn="just">
              <a:lnSpc>
                <a:spcPct val="120000"/>
              </a:lnSpc>
              <a:buClrTx/>
              <a:buSzTx/>
              <a:buFont typeface="Arial" panose="020B0604020202020204" pitchFamily="34" charset="0"/>
              <a:buChar char="•"/>
            </a:pPr>
            <a:r>
              <a:rPr lang="zh-CN" altLang="en-US" b="1" dirty="0">
                <a:solidFill>
                  <a:schemeClr val="tx1">
                    <a:lumMod val="85000"/>
                    <a:lumOff val="15000"/>
                  </a:schemeClr>
                </a:solidFill>
                <a:uFillTx/>
                <a:latin typeface="Times New Roman" panose="02020603050405020304" charset="0"/>
                <a:ea typeface="等线" panose="02010600030101010101" charset="-122"/>
                <a:cs typeface="Times New Roman" panose="02020603050405020304" charset="0"/>
              </a:rPr>
              <a:t>权衡: 如何在遗忘效率、模型性能、隐私保护间取得平衡？</a:t>
            </a:r>
          </a:p>
          <a:p>
            <a:pPr marL="285750" indent="-285750" algn="just">
              <a:lnSpc>
                <a:spcPct val="120000"/>
              </a:lnSpc>
              <a:buClrTx/>
              <a:buSzTx/>
              <a:buFont typeface="Arial" panose="020B0604020202020204" pitchFamily="34" charset="0"/>
              <a:buChar char="•"/>
            </a:pPr>
            <a:endParaRPr lang="zh-CN" altLang="en-US" b="1" dirty="0">
              <a:solidFill>
                <a:schemeClr val="tx1">
                  <a:lumMod val="85000"/>
                  <a:lumOff val="15000"/>
                </a:schemeClr>
              </a:solidFill>
              <a:uFillTx/>
              <a:latin typeface="Times New Roman" panose="02020603050405020304" charset="0"/>
              <a:ea typeface="等线" panose="02010600030101010101" charset="-122"/>
              <a:cs typeface="Times New Roman" panose="02020603050405020304" charset="0"/>
            </a:endParaRPr>
          </a:p>
          <a:p>
            <a:pPr indent="0" algn="just">
              <a:lnSpc>
                <a:spcPct val="120000"/>
              </a:lnSpc>
              <a:buClrTx/>
              <a:buSzTx/>
              <a:buFont typeface="Arial" panose="020B0604020202020204" pitchFamily="34" charset="0"/>
              <a:buNone/>
            </a:pPr>
            <a:r>
              <a:rPr lang="zh-CN" altLang="en-US" b="1" dirty="0">
                <a:solidFill>
                  <a:schemeClr val="tx1">
                    <a:lumMod val="85000"/>
                    <a:lumOff val="15000"/>
                  </a:schemeClr>
                </a:solidFill>
                <a:uFillTx/>
                <a:latin typeface="Times New Roman" panose="02020603050405020304" charset="0"/>
                <a:ea typeface="等线" panose="02010600030101010101" charset="-122"/>
                <a:cs typeface="Times New Roman" panose="02020603050405020304" charset="0"/>
              </a:rPr>
              <a:t>现有工作局限:</a:t>
            </a:r>
          </a:p>
          <a:p>
            <a:pPr marL="285750" indent="-285750" algn="just">
              <a:lnSpc>
                <a:spcPct val="120000"/>
              </a:lnSpc>
              <a:buClrTx/>
              <a:buSzTx/>
              <a:buFont typeface="Arial" panose="020B0604020202020204" pitchFamily="34" charset="0"/>
              <a:buChar char="•"/>
            </a:pPr>
            <a:r>
              <a:rPr lang="zh-CN" altLang="en-US" b="1" dirty="0">
                <a:solidFill>
                  <a:schemeClr val="tx1">
                    <a:lumMod val="85000"/>
                    <a:lumOff val="15000"/>
                  </a:schemeClr>
                </a:solidFill>
                <a:uFillTx/>
                <a:latin typeface="Times New Roman" panose="02020603050405020304" charset="0"/>
                <a:ea typeface="等线" panose="02010600030101010101" charset="-122"/>
                <a:cs typeface="Times New Roman" panose="02020603050405020304" charset="0"/>
              </a:rPr>
              <a:t>FL+DP 方法: 主要保护训练过程，对选择性遗忘、动态适应性支持不足。</a:t>
            </a:r>
          </a:p>
          <a:p>
            <a:pPr marL="285750" indent="-285750" algn="just">
              <a:lnSpc>
                <a:spcPct val="120000"/>
              </a:lnSpc>
              <a:buClrTx/>
              <a:buSzTx/>
              <a:buFont typeface="Arial" panose="020B0604020202020204" pitchFamily="34" charset="0"/>
              <a:buChar char="•"/>
            </a:pPr>
            <a:r>
              <a:rPr lang="zh-CN" altLang="en-US" b="1" dirty="0">
                <a:solidFill>
                  <a:schemeClr val="tx1">
                    <a:lumMod val="85000"/>
                    <a:lumOff val="15000"/>
                  </a:schemeClr>
                </a:solidFill>
                <a:uFillTx/>
                <a:latin typeface="Times New Roman" panose="02020603050405020304" charset="0"/>
                <a:ea typeface="等线" panose="02010600030101010101" charset="-122"/>
                <a:cs typeface="Times New Roman" panose="02020603050405020304" charset="0"/>
              </a:rPr>
              <a:t>遗忘方法 (如SISA): 关注高效移除，但常忽略隐私保护机制。</a:t>
            </a:r>
          </a:p>
          <a:p>
            <a:pPr marL="285750" indent="-285750" algn="just">
              <a:lnSpc>
                <a:spcPct val="120000"/>
              </a:lnSpc>
              <a:buClrTx/>
              <a:buSzTx/>
              <a:buFont typeface="Arial" panose="020B0604020202020204" pitchFamily="34" charset="0"/>
              <a:buChar char="•"/>
            </a:pPr>
            <a:r>
              <a:rPr lang="zh-CN" altLang="en-US" b="1" dirty="0">
                <a:solidFill>
                  <a:schemeClr val="tx1">
                    <a:lumMod val="85000"/>
                    <a:lumOff val="15000"/>
                  </a:schemeClr>
                </a:solidFill>
                <a:uFillTx/>
                <a:latin typeface="Times New Roman" panose="02020603050405020304" charset="0"/>
                <a:ea typeface="等线" panose="02010600030101010101" charset="-122"/>
                <a:cs typeface="Times New Roman" panose="02020603050405020304" charset="0"/>
              </a:rPr>
              <a:t>RL 方法: 擅长适应动态环境，但缺乏明确的“遗忘”过时/无关信息机制。</a:t>
            </a:r>
          </a:p>
          <a:p>
            <a:pPr indent="0" algn="just">
              <a:lnSpc>
                <a:spcPct val="120000"/>
              </a:lnSpc>
              <a:buClrTx/>
              <a:buSzTx/>
              <a:buFont typeface="Arial" panose="020B0604020202020204" pitchFamily="34" charset="0"/>
              <a:buNone/>
            </a:pPr>
            <a:endParaRPr lang="zh-CN" altLang="en-US" b="1" dirty="0">
              <a:solidFill>
                <a:schemeClr val="tx1">
                  <a:lumMod val="85000"/>
                  <a:lumOff val="15000"/>
                </a:schemeClr>
              </a:solidFill>
              <a:uFillTx/>
              <a:latin typeface="Times New Roman" panose="02020603050405020304" charset="0"/>
              <a:ea typeface="等线" panose="02010600030101010101" charset="-122"/>
              <a:cs typeface="Times New Roman" panose="02020603050405020304" charset="0"/>
            </a:endParaRPr>
          </a:p>
          <a:p>
            <a:pPr indent="0" algn="just">
              <a:lnSpc>
                <a:spcPct val="120000"/>
              </a:lnSpc>
              <a:buClrTx/>
              <a:buSzTx/>
              <a:buFont typeface="Arial" panose="020B0604020202020204" pitchFamily="34" charset="0"/>
              <a:buNone/>
            </a:pPr>
            <a:r>
              <a:rPr lang="zh-CN" altLang="en-US" b="1" dirty="0">
                <a:solidFill>
                  <a:schemeClr val="tx1">
                    <a:lumMod val="85000"/>
                    <a:lumOff val="15000"/>
                  </a:schemeClr>
                </a:solidFill>
                <a:uFillTx/>
                <a:latin typeface="Times New Roman" panose="02020603050405020304" charset="0"/>
                <a:ea typeface="等线" panose="02010600030101010101" charset="-122"/>
                <a:cs typeface="Times New Roman" panose="02020603050405020304" charset="0"/>
              </a:rPr>
              <a:t>研究缺口: 缺少统一框架，能同时处理FL环境下的动态适应、隐私保护、高效选择性遗忘。</a:t>
            </a:r>
          </a:p>
        </p:txBody>
      </p:sp>
      <p:pic>
        <p:nvPicPr>
          <p:cNvPr id="4" name="图片 3"/>
          <p:cNvPicPr>
            <a:picLocks noChangeAspect="1"/>
          </p:cNvPicPr>
          <p:nvPr/>
        </p:nvPicPr>
        <p:blipFill>
          <a:blip r:embed="rId3"/>
          <a:stretch>
            <a:fillRect/>
          </a:stretch>
        </p:blipFill>
        <p:spPr>
          <a:xfrm>
            <a:off x="8796655" y="1145540"/>
            <a:ext cx="2750820" cy="1889760"/>
          </a:xfrm>
          <a:prstGeom prst="rect">
            <a:avLst/>
          </a:prstGeom>
        </p:spPr>
      </p:pic>
      <p:pic>
        <p:nvPicPr>
          <p:cNvPr id="7" name="图片 6"/>
          <p:cNvPicPr>
            <a:picLocks noChangeAspect="1"/>
          </p:cNvPicPr>
          <p:nvPr/>
        </p:nvPicPr>
        <p:blipFill>
          <a:blip r:embed="rId4"/>
          <a:stretch>
            <a:fillRect/>
          </a:stretch>
        </p:blipFill>
        <p:spPr>
          <a:xfrm>
            <a:off x="8866505" y="3514090"/>
            <a:ext cx="2767965" cy="157607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文本框 19"/>
          <p:cNvSpPr txBox="1"/>
          <p:nvPr/>
        </p:nvSpPr>
        <p:spPr>
          <a:xfrm>
            <a:off x="629331" y="148059"/>
            <a:ext cx="3426179" cy="830997"/>
          </a:xfrm>
          <a:prstGeom prst="rect">
            <a:avLst/>
          </a:prstGeom>
          <a:noFill/>
        </p:spPr>
        <p:txBody>
          <a:bodyPr wrap="square" rtlCol="0">
            <a:spAutoFit/>
          </a:bodyPr>
          <a:lstStyle/>
          <a:p>
            <a:pPr lvl="0">
              <a:defRPr/>
            </a:pPr>
            <a:r>
              <a:rPr lang="zh-CN" altLang="en-US" sz="3200" b="1">
                <a:solidFill>
                  <a:schemeClr val="tx1"/>
                </a:solidFill>
                <a:latin typeface="微软雅黑" panose="020B0503020204020204" pitchFamily="34" charset="-122"/>
                <a:ea typeface="微软雅黑" panose="020B0503020204020204" pitchFamily="34" charset="-122"/>
              </a:rPr>
              <a:t>本文方法</a:t>
            </a:r>
            <a:endParaRPr lang="en-US" altLang="zh-CN" sz="3200" b="1">
              <a:solidFill>
                <a:schemeClr val="tx1"/>
              </a:solidFill>
              <a:latin typeface="微软雅黑" panose="020B0503020204020204" pitchFamily="34" charset="-122"/>
              <a:ea typeface="微软雅黑" panose="020B0503020204020204" pitchFamily="34" charset="-122"/>
            </a:endParaRPr>
          </a:p>
          <a:p>
            <a:pPr lvl="0">
              <a:defRPr/>
            </a:pPr>
            <a:r>
              <a:rPr lang="en-US" altLang="zh-CN" sz="1600" b="1">
                <a:solidFill>
                  <a:schemeClr val="tx1"/>
                </a:solidFill>
                <a:latin typeface="微软雅黑" panose="020B0503020204020204" pitchFamily="34" charset="-122"/>
                <a:ea typeface="微软雅黑" panose="020B0503020204020204" pitchFamily="34" charset="-122"/>
              </a:rPr>
              <a:t>FRAMU</a:t>
            </a:r>
            <a:r>
              <a:rPr lang="zh-CN" altLang="en-US" sz="1600" b="1">
                <a:solidFill>
                  <a:schemeClr val="tx1"/>
                </a:solidFill>
                <a:latin typeface="微软雅黑" panose="020B0503020204020204" pitchFamily="34" charset="-122"/>
                <a:ea typeface="微软雅黑" panose="020B0503020204020204" pitchFamily="34" charset="-122"/>
              </a:rPr>
              <a:t>框架总览</a:t>
            </a:r>
            <a:endParaRPr lang="zh-CN" altLang="en-US" sz="1600" b="1" dirty="0">
              <a:solidFill>
                <a:schemeClr val="tx1"/>
              </a:solidFill>
              <a:latin typeface="微软雅黑" panose="020B0503020204020204" pitchFamily="34" charset="-122"/>
              <a:ea typeface="微软雅黑" panose="020B0503020204020204" pitchFamily="34" charset="-122"/>
            </a:endParaRPr>
          </a:p>
        </p:txBody>
      </p:sp>
      <p:sp>
        <p:nvSpPr>
          <p:cNvPr id="22" name="矩形: 圆角 21"/>
          <p:cNvSpPr/>
          <p:nvPr/>
        </p:nvSpPr>
        <p:spPr>
          <a:xfrm flipH="1">
            <a:off x="-218450" y="224311"/>
            <a:ext cx="739545" cy="724771"/>
          </a:xfrm>
          <a:prstGeom prst="roundRect">
            <a:avLst>
              <a:gd name="adj" fmla="val 1461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lumMod val="75000"/>
                  <a:lumOff val="25000"/>
                </a:schemeClr>
              </a:solidFill>
            </a:endParaRPr>
          </a:p>
        </p:txBody>
      </p:sp>
      <p:sp>
        <p:nvSpPr>
          <p:cNvPr id="2" name="文本框 1"/>
          <p:cNvSpPr txBox="1"/>
          <p:nvPr/>
        </p:nvSpPr>
        <p:spPr>
          <a:xfrm>
            <a:off x="415150" y="1145540"/>
            <a:ext cx="7280719" cy="2086725"/>
          </a:xfrm>
          <a:prstGeom prst="rect">
            <a:avLst/>
          </a:prstGeom>
        </p:spPr>
        <p:txBody>
          <a:bodyPr wrap="square">
            <a:spAutoFit/>
          </a:bodyPr>
          <a:lstStyle/>
          <a:p>
            <a:pPr algn="just">
              <a:lnSpc>
                <a:spcPct val="120000"/>
              </a:lnSpc>
              <a:buClrTx/>
              <a:buSzTx/>
            </a:pPr>
            <a:endParaRPr lang="zh-CN" altLang="en-US" b="1">
              <a:solidFill>
                <a:schemeClr val="tx1">
                  <a:lumMod val="85000"/>
                  <a:lumOff val="15000"/>
                </a:schemeClr>
              </a:solidFill>
              <a:uFillTx/>
              <a:latin typeface="Times New Roman" panose="02020603050405020304" charset="0"/>
              <a:ea typeface="等线" panose="02010600030101010101" charset="-122"/>
              <a:cs typeface="Times New Roman" panose="02020603050405020304" charset="0"/>
            </a:endParaRPr>
          </a:p>
          <a:p>
            <a:r>
              <a:rPr lang="en-US" altLang="zh-CN" b="1">
                <a:latin typeface="Times New Roman" panose="02020603050405020304" charset="0"/>
                <a:ea typeface="等线" panose="02010600030101010101" charset="-122"/>
              </a:rPr>
              <a:t>Federated Reinforcement Learning based Attention Machine Unlearning </a:t>
            </a:r>
            <a:r>
              <a:rPr lang="zh-CN" altLang="en-US" b="1">
                <a:latin typeface="Times New Roman" panose="02020603050405020304" charset="0"/>
                <a:ea typeface="等线" panose="02010600030101010101" charset="-122"/>
              </a:rPr>
              <a:t>核心流程</a:t>
            </a:r>
            <a:r>
              <a:rPr lang="en-US" altLang="zh-CN" b="1">
                <a:latin typeface="Times New Roman" panose="02020603050405020304" charset="0"/>
                <a:ea typeface="等线" panose="02010600030101010101" charset="-122"/>
              </a:rPr>
              <a:t>:</a:t>
            </a:r>
          </a:p>
          <a:p>
            <a:pPr marL="285750" indent="-285750">
              <a:buFont typeface="Arial" panose="020B0604020202020204" pitchFamily="34" charset="0"/>
              <a:buChar char="•"/>
            </a:pPr>
            <a:r>
              <a:rPr lang="zh-CN" altLang="en-US" b="1">
                <a:latin typeface="Times New Roman" panose="02020603050405020304" charset="0"/>
                <a:ea typeface="等线" panose="02010600030101010101" charset="-122"/>
              </a:rPr>
              <a:t>本地 </a:t>
            </a:r>
            <a:r>
              <a:rPr lang="en-US" altLang="zh-CN" b="1">
                <a:latin typeface="Times New Roman" panose="02020603050405020304" charset="0"/>
                <a:ea typeface="等线" panose="02010600030101010101" charset="-122"/>
              </a:rPr>
              <a:t>Agent (RL) </a:t>
            </a:r>
            <a:r>
              <a:rPr lang="zh-CN" altLang="en-US" b="1">
                <a:latin typeface="Times New Roman" panose="02020603050405020304" charset="0"/>
                <a:ea typeface="等线" panose="02010600030101010101" charset="-122"/>
              </a:rPr>
              <a:t>学习 </a:t>
            </a:r>
            <a:r>
              <a:rPr lang="en-US" altLang="zh-CN" b="1">
                <a:latin typeface="Times New Roman" panose="02020603050405020304" charset="0"/>
                <a:ea typeface="等线" panose="02010600030101010101" charset="-122"/>
              </a:rPr>
              <a:t>+ </a:t>
            </a:r>
            <a:r>
              <a:rPr lang="zh-CN" altLang="en-US" b="1">
                <a:latin typeface="Times New Roman" panose="02020603050405020304" charset="0"/>
                <a:ea typeface="等线" panose="02010600030101010101" charset="-122"/>
              </a:rPr>
              <a:t>计算注意力分数。</a:t>
            </a:r>
          </a:p>
          <a:p>
            <a:pPr marL="285750" indent="-285750">
              <a:buFont typeface="Arial" panose="020B0604020202020204" pitchFamily="34" charset="0"/>
              <a:buChar char="•"/>
            </a:pPr>
            <a:r>
              <a:rPr lang="zh-CN" altLang="en-US" b="1">
                <a:latin typeface="Times New Roman" panose="02020603050405020304" charset="0"/>
                <a:ea typeface="等线" panose="02010600030101010101" charset="-122"/>
              </a:rPr>
              <a:t>上传模型更新 </a:t>
            </a:r>
            <a:r>
              <a:rPr lang="en-US" altLang="zh-CN" b="1">
                <a:latin typeface="Times New Roman" panose="02020603050405020304" charset="0"/>
                <a:ea typeface="等线" panose="02010600030101010101" charset="-122"/>
              </a:rPr>
              <a:t>+ </a:t>
            </a:r>
            <a:r>
              <a:rPr lang="zh-CN" altLang="en-US" b="1">
                <a:latin typeface="Times New Roman" panose="02020603050405020304" charset="0"/>
                <a:ea typeface="等线" panose="02010600030101010101" charset="-122"/>
              </a:rPr>
              <a:t>注意力分数。</a:t>
            </a:r>
          </a:p>
          <a:p>
            <a:pPr marL="285750" indent="-285750">
              <a:buFont typeface="Arial" panose="020B0604020202020204" pitchFamily="34" charset="0"/>
              <a:buChar char="•"/>
            </a:pPr>
            <a:r>
              <a:rPr lang="zh-CN" altLang="en-US" b="1">
                <a:latin typeface="Times New Roman" panose="02020603050405020304" charset="0"/>
                <a:ea typeface="等线" panose="02010600030101010101" charset="-122"/>
              </a:rPr>
              <a:t>服务器聚合模型 </a:t>
            </a:r>
            <a:r>
              <a:rPr lang="en-US" altLang="zh-CN" b="1">
                <a:latin typeface="Times New Roman" panose="02020603050405020304" charset="0"/>
                <a:ea typeface="等线" panose="02010600030101010101" charset="-122"/>
              </a:rPr>
              <a:t>+ </a:t>
            </a:r>
            <a:r>
              <a:rPr lang="zh-CN" altLang="en-US" b="1">
                <a:latin typeface="Times New Roman" panose="02020603050405020304" charset="0"/>
                <a:ea typeface="等线" panose="02010600030101010101" charset="-122"/>
              </a:rPr>
              <a:t>基于分数执行遗忘。</a:t>
            </a:r>
          </a:p>
          <a:p>
            <a:pPr marL="285750" indent="-285750">
              <a:buFont typeface="Arial" panose="020B0604020202020204" pitchFamily="34" charset="0"/>
              <a:buChar char="•"/>
            </a:pPr>
            <a:r>
              <a:rPr lang="zh-CN" altLang="en-US" b="1">
                <a:latin typeface="Times New Roman" panose="02020603050405020304" charset="0"/>
                <a:ea typeface="等线" panose="02010600030101010101" charset="-122"/>
              </a:rPr>
              <a:t>下发更新后的全局模型。</a:t>
            </a:r>
          </a:p>
        </p:txBody>
      </p:sp>
      <p:pic>
        <p:nvPicPr>
          <p:cNvPr id="5" name="图片 4"/>
          <p:cNvPicPr>
            <a:picLocks noChangeAspect="1"/>
          </p:cNvPicPr>
          <p:nvPr/>
        </p:nvPicPr>
        <p:blipFill>
          <a:blip r:embed="rId3"/>
          <a:stretch>
            <a:fillRect/>
          </a:stretch>
        </p:blipFill>
        <p:spPr>
          <a:xfrm>
            <a:off x="1216242" y="3429000"/>
            <a:ext cx="10022889" cy="2863683"/>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文本框 19"/>
          <p:cNvSpPr txBox="1"/>
          <p:nvPr/>
        </p:nvSpPr>
        <p:spPr>
          <a:xfrm>
            <a:off x="629331" y="148059"/>
            <a:ext cx="3426179" cy="1107996"/>
          </a:xfrm>
          <a:prstGeom prst="rect">
            <a:avLst/>
          </a:prstGeom>
          <a:noFill/>
        </p:spPr>
        <p:txBody>
          <a:bodyPr wrap="square" rtlCol="0">
            <a:spAutoFit/>
          </a:bodyPr>
          <a:lstStyle/>
          <a:p>
            <a:pPr lvl="0">
              <a:defRPr/>
            </a:pPr>
            <a:r>
              <a:rPr lang="zh-CN" altLang="en-US" sz="3200" b="1">
                <a:solidFill>
                  <a:schemeClr val="tx1"/>
                </a:solidFill>
                <a:latin typeface="微软雅黑" panose="020B0503020204020204" pitchFamily="34" charset="-122"/>
                <a:ea typeface="微软雅黑" panose="020B0503020204020204" pitchFamily="34" charset="-122"/>
              </a:rPr>
              <a:t>本文方法</a:t>
            </a:r>
            <a:endParaRPr lang="en-US" altLang="zh-CN" sz="3200" b="1">
              <a:solidFill>
                <a:schemeClr val="tx1"/>
              </a:solidFill>
              <a:latin typeface="微软雅黑" panose="020B0503020204020204" pitchFamily="34" charset="-122"/>
              <a:ea typeface="微软雅黑" panose="020B0503020204020204" pitchFamily="34" charset="-122"/>
            </a:endParaRPr>
          </a:p>
          <a:p>
            <a:pPr>
              <a:defRPr/>
            </a:pPr>
            <a:r>
              <a:rPr lang="zh-CN" altLang="en-US" sz="1600" b="1">
                <a:latin typeface="微软雅黑" panose="020B0503020204020204" pitchFamily="34" charset="-122"/>
                <a:ea typeface="微软雅黑" panose="020B0503020204020204" pitchFamily="34" charset="-122"/>
              </a:rPr>
              <a:t>注意力机制与遗忘策略</a:t>
            </a:r>
          </a:p>
          <a:p>
            <a:pPr lvl="0">
              <a:defRPr/>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
        <p:nvSpPr>
          <p:cNvPr id="22" name="矩形: 圆角 21"/>
          <p:cNvSpPr/>
          <p:nvPr/>
        </p:nvSpPr>
        <p:spPr>
          <a:xfrm flipH="1">
            <a:off x="-218450" y="224311"/>
            <a:ext cx="739545" cy="724771"/>
          </a:xfrm>
          <a:prstGeom prst="roundRect">
            <a:avLst>
              <a:gd name="adj" fmla="val 1461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lumMod val="75000"/>
                  <a:lumOff val="25000"/>
                </a:schemeClr>
              </a:solidFill>
            </a:endParaRPr>
          </a:p>
        </p:txBody>
      </p:sp>
      <p:sp>
        <p:nvSpPr>
          <p:cNvPr id="2" name="文本框 1"/>
          <p:cNvSpPr txBox="1"/>
          <p:nvPr/>
        </p:nvSpPr>
        <p:spPr>
          <a:xfrm>
            <a:off x="415150" y="1145540"/>
            <a:ext cx="7280719" cy="5132705"/>
          </a:xfrm>
          <a:prstGeom prst="rect">
            <a:avLst/>
          </a:prstGeom>
        </p:spPr>
        <p:txBody>
          <a:bodyPr wrap="square">
            <a:spAutoFit/>
          </a:bodyPr>
          <a:lstStyle/>
          <a:p>
            <a:pPr algn="just">
              <a:lnSpc>
                <a:spcPct val="120000"/>
              </a:lnSpc>
              <a:buClrTx/>
              <a:buSzTx/>
            </a:pPr>
            <a:endParaRPr lang="zh-CN" altLang="en-US" b="1">
              <a:solidFill>
                <a:schemeClr val="tx1">
                  <a:lumMod val="85000"/>
                  <a:lumOff val="15000"/>
                </a:schemeClr>
              </a:solidFill>
              <a:uFillTx/>
              <a:latin typeface="Times New Roman" panose="02020603050405020304" charset="0"/>
              <a:ea typeface="等线" panose="02010600030101010101" charset="-122"/>
              <a:cs typeface="Times New Roman" panose="02020603050405020304" charset="0"/>
            </a:endParaRPr>
          </a:p>
          <a:p>
            <a:r>
              <a:rPr lang="zh-CN" altLang="en-US" b="1">
                <a:latin typeface="Times New Roman" panose="02020603050405020304" charset="0"/>
                <a:ea typeface="等线" panose="02010600030101010101" charset="-122"/>
              </a:rPr>
              <a:t>本地注意力分数计算</a:t>
            </a:r>
            <a:r>
              <a:rPr lang="en-US" altLang="zh-CN" b="1">
                <a:latin typeface="Times New Roman" panose="02020603050405020304" charset="0"/>
                <a:ea typeface="等线" panose="02010600030101010101" charset="-122"/>
              </a:rPr>
              <a:t>:</a:t>
            </a:r>
          </a:p>
          <a:p>
            <a:pPr marL="285750" indent="-285750">
              <a:buFont typeface="Arial" panose="020B0604020202020204" pitchFamily="34" charset="0"/>
              <a:buChar char="•"/>
            </a:pPr>
            <a:r>
              <a:rPr lang="zh-CN" altLang="en-US" b="1">
                <a:latin typeface="Times New Roman" panose="02020603050405020304" charset="0"/>
                <a:ea typeface="等线" panose="02010600030101010101" charset="-122"/>
              </a:rPr>
              <a:t>基于强化学习 </a:t>
            </a:r>
            <a:r>
              <a:rPr lang="en-US" altLang="zh-CN" b="1">
                <a:latin typeface="Times New Roman" panose="02020603050405020304" charset="0"/>
                <a:ea typeface="等线" panose="02010600030101010101" charset="-122"/>
              </a:rPr>
              <a:t>TD-error (</a:t>
            </a:r>
            <a:r>
              <a:rPr lang="zh-CN" altLang="en-US" b="1">
                <a:latin typeface="Times New Roman" panose="02020603050405020304" charset="0"/>
                <a:ea typeface="等线" panose="02010600030101010101" charset="-122"/>
              </a:rPr>
              <a:t>时间差分误差</a:t>
            </a:r>
            <a:r>
              <a:rPr lang="en-US" altLang="zh-CN" b="1">
                <a:latin typeface="Times New Roman" panose="02020603050405020304" charset="0"/>
                <a:ea typeface="等线" panose="02010600030101010101" charset="-122"/>
              </a:rPr>
              <a:t>) </a:t>
            </a:r>
            <a:r>
              <a:rPr lang="zh-CN" altLang="en-US" b="1">
                <a:latin typeface="Times New Roman" panose="02020603050405020304" charset="0"/>
                <a:ea typeface="等线" panose="02010600030101010101" charset="-122"/>
              </a:rPr>
              <a:t>更新。</a:t>
            </a:r>
            <a:endParaRPr lang="en-US" altLang="zh-CN" b="1">
              <a:latin typeface="Times New Roman" panose="02020603050405020304" charset="0"/>
              <a:ea typeface="等线" panose="02010600030101010101" charset="-122"/>
            </a:endParaRPr>
          </a:p>
          <a:p>
            <a:pPr marL="285750" indent="-285750">
              <a:buFont typeface="Arial" panose="020B0604020202020204" pitchFamily="34" charset="0"/>
              <a:buChar char="•"/>
            </a:pPr>
            <a:r>
              <a:rPr lang="zh-CN" altLang="en-US" b="1">
                <a:latin typeface="Times New Roman" panose="02020603050405020304" charset="0"/>
                <a:ea typeface="等线" panose="02010600030101010101" charset="-122"/>
              </a:rPr>
              <a:t>直观理解</a:t>
            </a:r>
            <a:r>
              <a:rPr lang="en-US" altLang="zh-CN" b="1">
                <a:latin typeface="Times New Roman" panose="02020603050405020304" charset="0"/>
                <a:ea typeface="等线" panose="02010600030101010101" charset="-122"/>
              </a:rPr>
              <a:t>: </a:t>
            </a:r>
            <a:r>
              <a:rPr lang="zh-CN" altLang="en-US" b="1">
                <a:latin typeface="Times New Roman" panose="02020603050405020304" charset="0"/>
                <a:ea typeface="等线" panose="02010600030101010101" charset="-122"/>
              </a:rPr>
              <a:t>让模型“吃惊”的数据更重要，注意力分数可能增加；模型预测准确的数据，分数可能不变或降低。 </a:t>
            </a:r>
            <a:endParaRPr lang="en-US" altLang="zh-CN" b="1">
              <a:latin typeface="Times New Roman" panose="02020603050405020304" charset="0"/>
              <a:ea typeface="等线" panose="02010600030101010101" charset="-122"/>
            </a:endParaRPr>
          </a:p>
          <a:p>
            <a:endParaRPr lang="en-US" altLang="zh-CN" b="1">
              <a:latin typeface="Times New Roman" panose="02020603050405020304" charset="0"/>
              <a:ea typeface="等线" panose="02010600030101010101" charset="-122"/>
            </a:endParaRPr>
          </a:p>
          <a:p>
            <a:r>
              <a:rPr lang="zh-CN" altLang="en-US" b="1">
                <a:latin typeface="Times New Roman" panose="02020603050405020304" charset="0"/>
                <a:ea typeface="等线" panose="02010600030101010101" charset="-122"/>
              </a:rPr>
              <a:t>全局遗忘决策</a:t>
            </a:r>
            <a:r>
              <a:rPr lang="en-US" altLang="zh-CN" b="1">
                <a:latin typeface="Times New Roman" panose="02020603050405020304" charset="0"/>
                <a:ea typeface="等线" panose="02010600030101010101" charset="-122"/>
              </a:rPr>
              <a:t>:</a:t>
            </a:r>
          </a:p>
          <a:p>
            <a:pPr marL="285750" indent="-285750">
              <a:buFont typeface="Arial" panose="020B0604020202020204" pitchFamily="34" charset="0"/>
              <a:buChar char="•"/>
            </a:pPr>
            <a:r>
              <a:rPr lang="zh-CN" altLang="en-US" b="1">
                <a:latin typeface="Times New Roman" panose="02020603050405020304" charset="0"/>
                <a:ea typeface="等线" panose="02010600030101010101" charset="-122"/>
              </a:rPr>
              <a:t>服务器聚合所有客户端对数据点的平均注意力分数 。</a:t>
            </a:r>
          </a:p>
          <a:p>
            <a:pPr marL="285750" indent="-285750">
              <a:buFont typeface="Arial" panose="020B0604020202020204" pitchFamily="34" charset="0"/>
              <a:buChar char="•"/>
            </a:pPr>
            <a:r>
              <a:rPr lang="zh-CN" altLang="en-US" b="1">
                <a:latin typeface="Times New Roman" panose="02020603050405020304" charset="0"/>
                <a:ea typeface="等线" panose="02010600030101010101" charset="-122"/>
              </a:rPr>
              <a:t>设定遗忘阈值 。</a:t>
            </a:r>
            <a:endParaRPr lang="en-US" altLang="zh-CN" b="1">
              <a:latin typeface="Times New Roman" panose="02020603050405020304" charset="0"/>
              <a:ea typeface="等线" panose="02010600030101010101" charset="-122"/>
            </a:endParaRPr>
          </a:p>
          <a:p>
            <a:endParaRPr lang="zh-CN" altLang="en-US" b="1">
              <a:latin typeface="Times New Roman" panose="02020603050405020304" charset="0"/>
              <a:ea typeface="等线" panose="02010600030101010101" charset="-122"/>
            </a:endParaRPr>
          </a:p>
          <a:p>
            <a:r>
              <a:rPr lang="zh-CN" altLang="en-US" b="1">
                <a:latin typeface="Times New Roman" panose="02020603050405020304" charset="0"/>
                <a:ea typeface="等线" panose="02010600030101010101" charset="-122"/>
              </a:rPr>
              <a:t>遗忘触发</a:t>
            </a:r>
            <a:r>
              <a:rPr lang="en-US" altLang="zh-CN" b="1">
                <a:latin typeface="Times New Roman" panose="02020603050405020304" charset="0"/>
                <a:ea typeface="等线" panose="02010600030101010101" charset="-122"/>
              </a:rPr>
              <a:t>: </a:t>
            </a:r>
            <a:r>
              <a:rPr lang="zh-CN" altLang="en-US" b="1">
                <a:latin typeface="Times New Roman" panose="02020603050405020304" charset="0"/>
                <a:ea typeface="等线" panose="02010600030101010101" charset="-122"/>
              </a:rPr>
              <a:t>若触发，则降低数据点对全局模型的影响 </a:t>
            </a:r>
          </a:p>
          <a:p>
            <a:r>
              <a:rPr lang="zh-CN" altLang="en-US" b="1">
                <a:latin typeface="Times New Roman" panose="02020603050405020304" charset="0"/>
                <a:ea typeface="等线" panose="02010600030101010101" charset="-122"/>
              </a:rPr>
              <a:t>如何降低影响</a:t>
            </a:r>
            <a:r>
              <a:rPr lang="en-US" altLang="zh-CN" b="1">
                <a:latin typeface="Times New Roman" panose="02020603050405020304" charset="0"/>
                <a:ea typeface="等线" panose="02010600030101010101" charset="-122"/>
              </a:rPr>
              <a:t>: </a:t>
            </a:r>
            <a:r>
              <a:rPr lang="zh-CN" altLang="en-US" b="1">
                <a:latin typeface="Times New Roman" panose="02020603050405020304" charset="0"/>
                <a:ea typeface="等线" panose="02010600030101010101" charset="-122"/>
              </a:rPr>
              <a:t>例如，在聚合模型更新时，给与该数据点相关的更新分配一个非常低的权重；或者更彻底地，触发一个精确遗忘算法来移除其影响。</a:t>
            </a:r>
            <a:endParaRPr lang="en-US" altLang="zh-CN" b="1">
              <a:latin typeface="Times New Roman" panose="02020603050405020304" charset="0"/>
              <a:ea typeface="等线" panose="02010600030101010101" charset="-122"/>
            </a:endParaRPr>
          </a:p>
          <a:p>
            <a:endParaRPr lang="en-US" altLang="zh-CN" b="1">
              <a:latin typeface="Times New Roman" panose="02020603050405020304" charset="0"/>
              <a:ea typeface="等线" panose="02010600030101010101" charset="-122"/>
            </a:endParaRPr>
          </a:p>
          <a:p>
            <a:r>
              <a:rPr lang="zh-CN" altLang="en-US" b="1">
                <a:latin typeface="Times New Roman" panose="02020603050405020304" charset="0"/>
                <a:ea typeface="等线" panose="02010600030101010101" charset="-122"/>
              </a:rPr>
              <a:t> 多模态处理</a:t>
            </a:r>
            <a:r>
              <a:rPr lang="en-US" altLang="zh-CN" b="1">
                <a:latin typeface="Times New Roman" panose="02020603050405020304" charset="0"/>
                <a:ea typeface="等线" panose="02010600030101010101" charset="-122"/>
              </a:rPr>
              <a:t>:</a:t>
            </a:r>
          </a:p>
          <a:p>
            <a:pPr marL="285750" indent="-285750">
              <a:buFont typeface="Arial" panose="020B0604020202020204" pitchFamily="34" charset="0"/>
              <a:buChar char="•"/>
            </a:pPr>
            <a:r>
              <a:rPr lang="zh-CN" altLang="en-US" b="1">
                <a:latin typeface="Times New Roman" panose="02020603050405020304" charset="0"/>
                <a:ea typeface="等线" panose="02010600030101010101" charset="-122"/>
              </a:rPr>
              <a:t>为不同模态数据 </a:t>
            </a:r>
            <a:r>
              <a:rPr lang="en-US" altLang="zh-CN" b="1">
                <a:latin typeface="Times New Roman" panose="02020603050405020304" charset="0"/>
                <a:ea typeface="等线" panose="02010600030101010101" charset="-122"/>
              </a:rPr>
              <a:t>(</a:t>
            </a:r>
            <a:r>
              <a:rPr lang="zh-CN" altLang="en-US" b="1">
                <a:latin typeface="Times New Roman" panose="02020603050405020304" charset="0"/>
                <a:ea typeface="等线" panose="02010600030101010101" charset="-122"/>
              </a:rPr>
              <a:t>如图像、文本</a:t>
            </a:r>
            <a:r>
              <a:rPr lang="en-US" altLang="zh-CN" b="1">
                <a:latin typeface="Times New Roman" panose="02020603050405020304" charset="0"/>
                <a:ea typeface="等线" panose="02010600030101010101" charset="-122"/>
              </a:rPr>
              <a:t>) </a:t>
            </a:r>
            <a:r>
              <a:rPr lang="zh-CN" altLang="en-US" b="1">
                <a:latin typeface="Times New Roman" panose="02020603050405020304" charset="0"/>
                <a:ea typeface="等线" panose="02010600030101010101" charset="-122"/>
              </a:rPr>
              <a:t>计算各自注意力分数 。</a:t>
            </a:r>
          </a:p>
          <a:p>
            <a:pPr marL="285750" indent="-285750">
              <a:buFont typeface="Arial" panose="020B0604020202020204" pitchFamily="34" charset="0"/>
              <a:buChar char="•"/>
            </a:pPr>
            <a:r>
              <a:rPr lang="zh-CN" altLang="en-US" b="1">
                <a:latin typeface="Times New Roman" panose="02020603050405020304" charset="0"/>
                <a:ea typeface="等线" panose="02010600030101010101" charset="-122"/>
              </a:rPr>
              <a:t>融合（如平均）各模态分数 ，进行统一的全局遗忘决策</a:t>
            </a:r>
          </a:p>
        </p:txBody>
      </p:sp>
      <p:pic>
        <p:nvPicPr>
          <p:cNvPr id="11" name="图形 10"/>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031387" y="3527245"/>
            <a:ext cx="1004954" cy="369167"/>
          </a:xfrm>
          <a:prstGeom prst="rect">
            <a:avLst/>
          </a:prstGeom>
        </p:spPr>
      </p:pic>
      <p:pic>
        <p:nvPicPr>
          <p:cNvPr id="13" name="图形 12"/>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476398" y="1959936"/>
            <a:ext cx="2232066" cy="361957"/>
          </a:xfrm>
          <a:prstGeom prst="rect">
            <a:avLst/>
          </a:prstGeom>
        </p:spPr>
      </p:pic>
      <p:pic>
        <p:nvPicPr>
          <p:cNvPr id="19" name="图形 18"/>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476397" y="4920154"/>
            <a:ext cx="2116321" cy="901737"/>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文本框 19"/>
          <p:cNvSpPr txBox="1"/>
          <p:nvPr/>
        </p:nvSpPr>
        <p:spPr>
          <a:xfrm>
            <a:off x="629331" y="148059"/>
            <a:ext cx="3426179" cy="1107996"/>
          </a:xfrm>
          <a:prstGeom prst="rect">
            <a:avLst/>
          </a:prstGeom>
          <a:noFill/>
        </p:spPr>
        <p:txBody>
          <a:bodyPr wrap="square" rtlCol="0">
            <a:spAutoFit/>
          </a:bodyPr>
          <a:lstStyle/>
          <a:p>
            <a:pPr lvl="0">
              <a:defRPr/>
            </a:pPr>
            <a:r>
              <a:rPr lang="zh-CN" altLang="en-US" sz="3200" b="1">
                <a:solidFill>
                  <a:schemeClr val="tx1"/>
                </a:solidFill>
                <a:latin typeface="微软雅黑" panose="020B0503020204020204" pitchFamily="34" charset="-122"/>
                <a:ea typeface="微软雅黑" panose="020B0503020204020204" pitchFamily="34" charset="-122"/>
              </a:rPr>
              <a:t>本文方法</a:t>
            </a:r>
            <a:endParaRPr lang="en-US" altLang="zh-CN" sz="3200" b="1">
              <a:solidFill>
                <a:schemeClr val="tx1"/>
              </a:solidFill>
              <a:latin typeface="微软雅黑" panose="020B0503020204020204" pitchFamily="34" charset="-122"/>
              <a:ea typeface="微软雅黑" panose="020B0503020204020204" pitchFamily="34" charset="-122"/>
            </a:endParaRPr>
          </a:p>
          <a:p>
            <a:pPr>
              <a:defRPr/>
            </a:pPr>
            <a:r>
              <a:rPr lang="zh-CN" altLang="en-US" sz="1600" b="1">
                <a:latin typeface="微软雅黑" panose="020B0503020204020204" pitchFamily="34" charset="-122"/>
                <a:ea typeface="微软雅黑" panose="020B0503020204020204" pitchFamily="34" charset="-122"/>
              </a:rPr>
              <a:t>联邦与持续学习</a:t>
            </a:r>
          </a:p>
          <a:p>
            <a:pPr lvl="0">
              <a:defRPr/>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
        <p:nvSpPr>
          <p:cNvPr id="22" name="矩形: 圆角 21"/>
          <p:cNvSpPr/>
          <p:nvPr/>
        </p:nvSpPr>
        <p:spPr>
          <a:xfrm flipH="1">
            <a:off x="-218450" y="224311"/>
            <a:ext cx="739545" cy="724771"/>
          </a:xfrm>
          <a:prstGeom prst="roundRect">
            <a:avLst>
              <a:gd name="adj" fmla="val 1461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lumMod val="75000"/>
                  <a:lumOff val="25000"/>
                </a:schemeClr>
              </a:solidFill>
            </a:endParaRPr>
          </a:p>
        </p:txBody>
      </p:sp>
      <p:sp>
        <p:nvSpPr>
          <p:cNvPr id="2" name="文本框 1"/>
          <p:cNvSpPr txBox="1"/>
          <p:nvPr/>
        </p:nvSpPr>
        <p:spPr>
          <a:xfrm>
            <a:off x="415150" y="1145540"/>
            <a:ext cx="7280719" cy="3748719"/>
          </a:xfrm>
          <a:prstGeom prst="rect">
            <a:avLst/>
          </a:prstGeom>
        </p:spPr>
        <p:txBody>
          <a:bodyPr wrap="square">
            <a:spAutoFit/>
          </a:bodyPr>
          <a:lstStyle/>
          <a:p>
            <a:pPr algn="just">
              <a:lnSpc>
                <a:spcPct val="120000"/>
              </a:lnSpc>
              <a:buClrTx/>
              <a:buSzTx/>
            </a:pPr>
            <a:endParaRPr lang="zh-CN" altLang="en-US" b="1">
              <a:solidFill>
                <a:schemeClr val="tx1">
                  <a:lumMod val="85000"/>
                  <a:lumOff val="15000"/>
                </a:schemeClr>
              </a:solidFill>
              <a:uFillTx/>
              <a:latin typeface="Times New Roman" panose="02020603050405020304" charset="0"/>
              <a:ea typeface="等线" panose="02010600030101010101" charset="-122"/>
              <a:cs typeface="Times New Roman" panose="02020603050405020304" charset="0"/>
            </a:endParaRPr>
          </a:p>
          <a:p>
            <a:r>
              <a:rPr lang="zh-CN" altLang="en-US" b="1">
                <a:latin typeface="Times New Roman" panose="02020603050405020304" charset="0"/>
                <a:ea typeface="等线" panose="02010600030101010101" charset="-122"/>
              </a:rPr>
              <a:t>联邦聚合</a:t>
            </a:r>
            <a:r>
              <a:rPr lang="en-US" altLang="zh-CN" b="1">
                <a:latin typeface="Times New Roman" panose="02020603050405020304" charset="0"/>
                <a:ea typeface="等线" panose="02010600030101010101" charset="-122"/>
              </a:rPr>
              <a:t>:</a:t>
            </a:r>
          </a:p>
          <a:p>
            <a:pPr marL="285750" indent="-285750">
              <a:buFont typeface="Arial" panose="020B0604020202020204" pitchFamily="34" charset="0"/>
              <a:buChar char="•"/>
            </a:pPr>
            <a:r>
              <a:rPr lang="zh-CN" altLang="en-US" b="1">
                <a:latin typeface="Times New Roman" panose="02020603050405020304" charset="0"/>
                <a:ea typeface="等线" panose="02010600030101010101" charset="-122"/>
              </a:rPr>
              <a:t>使用 </a:t>
            </a:r>
            <a:r>
              <a:rPr lang="en-US" altLang="zh-CN" b="1">
                <a:latin typeface="Times New Roman" panose="02020603050405020304" charset="0"/>
                <a:ea typeface="等线" panose="02010600030101010101" charset="-122"/>
              </a:rPr>
              <a:t>FedAvg </a:t>
            </a:r>
            <a:r>
              <a:rPr lang="zh-CN" altLang="en-US" b="1">
                <a:latin typeface="Times New Roman" panose="02020603050405020304" charset="0"/>
                <a:ea typeface="等线" panose="02010600030101010101" charset="-122"/>
              </a:rPr>
              <a:t>聚合本地模型参数 更新全局模型。 </a:t>
            </a:r>
            <a:r>
              <a:rPr lang="en-US" altLang="zh-CN" b="1">
                <a:latin typeface="Times New Roman" panose="02020603050405020304" charset="0"/>
                <a:ea typeface="等线" panose="02010600030101010101" charset="-122"/>
              </a:rPr>
              <a:t>(</a:t>
            </a:r>
            <a:r>
              <a:rPr lang="zh-CN" altLang="en-US" b="1">
                <a:latin typeface="Times New Roman" panose="02020603050405020304" charset="0"/>
                <a:ea typeface="等线" panose="02010600030101010101" charset="-122"/>
              </a:rPr>
              <a:t>会考虑注意力分数进行加权或筛选</a:t>
            </a:r>
            <a:r>
              <a:rPr lang="en-US" altLang="zh-CN" b="1">
                <a:latin typeface="Times New Roman" panose="02020603050405020304" charset="0"/>
                <a:ea typeface="等线" panose="02010600030101010101" charset="-122"/>
              </a:rPr>
              <a:t>)</a:t>
            </a:r>
          </a:p>
          <a:p>
            <a:pPr marL="285750" indent="-285750">
              <a:buFont typeface="Arial" panose="020B0604020202020204" pitchFamily="34" charset="0"/>
              <a:buChar char="•"/>
            </a:pPr>
            <a:endParaRPr lang="en-US" altLang="zh-CN" b="1">
              <a:latin typeface="Times New Roman" panose="02020603050405020304" charset="0"/>
              <a:ea typeface="等线" panose="02010600030101010101" charset="-122"/>
            </a:endParaRPr>
          </a:p>
          <a:p>
            <a:r>
              <a:rPr lang="zh-CN" altLang="en-US" b="1">
                <a:latin typeface="Times New Roman" panose="02020603050405020304" charset="0"/>
                <a:ea typeface="等线" panose="02010600030101010101" charset="-122"/>
              </a:rPr>
              <a:t>模型同步与本地微调</a:t>
            </a:r>
            <a:r>
              <a:rPr lang="en-US" altLang="zh-CN" b="1">
                <a:latin typeface="Times New Roman" panose="02020603050405020304" charset="0"/>
                <a:ea typeface="等线" panose="02010600030101010101" charset="-122"/>
              </a:rPr>
              <a:t>:</a:t>
            </a:r>
          </a:p>
          <a:p>
            <a:pPr marL="285750" indent="-285750">
              <a:buFont typeface="Arial" panose="020B0604020202020204" pitchFamily="34" charset="0"/>
              <a:buChar char="•"/>
            </a:pPr>
            <a:r>
              <a:rPr lang="zh-CN" altLang="en-US" b="1">
                <a:latin typeface="Times New Roman" panose="02020603050405020304" charset="0"/>
                <a:ea typeface="等线" panose="02010600030101010101" charset="-122"/>
              </a:rPr>
              <a:t>服务器下发更新后的 </a:t>
            </a:r>
            <a:r>
              <a:rPr lang="en-US" altLang="zh-CN" b="1">
                <a:latin typeface="Times New Roman" panose="02020603050405020304" charset="0"/>
                <a:ea typeface="等线" panose="02010600030101010101" charset="-122"/>
              </a:rPr>
              <a:t>(</a:t>
            </a:r>
            <a:r>
              <a:rPr lang="zh-CN" altLang="en-US" b="1">
                <a:latin typeface="Times New Roman" panose="02020603050405020304" charset="0"/>
                <a:ea typeface="等线" panose="02010600030101010101" charset="-122"/>
              </a:rPr>
              <a:t>可能已遗忘部分数据的</a:t>
            </a:r>
            <a:r>
              <a:rPr lang="en-US" altLang="zh-CN" b="1">
                <a:latin typeface="Times New Roman" panose="02020603050405020304" charset="0"/>
                <a:ea typeface="等线" panose="02010600030101010101" charset="-122"/>
              </a:rPr>
              <a:t>) </a:t>
            </a:r>
            <a:r>
              <a:rPr lang="zh-CN" altLang="en-US" b="1">
                <a:latin typeface="Times New Roman" panose="02020603050405020304" charset="0"/>
                <a:ea typeface="等线" panose="02010600030101010101" charset="-122"/>
              </a:rPr>
              <a:t>全局模型 。</a:t>
            </a:r>
          </a:p>
          <a:p>
            <a:pPr marL="285750" indent="-285750">
              <a:buFont typeface="Arial" panose="020B0604020202020204" pitchFamily="34" charset="0"/>
              <a:buChar char="•"/>
            </a:pPr>
            <a:r>
              <a:rPr lang="zh-CN" altLang="en-US" b="1">
                <a:latin typeface="Times New Roman" panose="02020603050405020304" charset="0"/>
                <a:ea typeface="等线" panose="02010600030101010101" charset="-122"/>
              </a:rPr>
              <a:t>客户端融合全局与本地模型</a:t>
            </a:r>
            <a:endParaRPr lang="en-US" altLang="zh-CN" b="1">
              <a:latin typeface="Times New Roman" panose="02020603050405020304" charset="0"/>
              <a:ea typeface="等线" panose="02010600030101010101" charset="-122"/>
            </a:endParaRPr>
          </a:p>
          <a:p>
            <a:endParaRPr lang="en-US" altLang="zh-CN" b="1">
              <a:latin typeface="Times New Roman" panose="02020603050405020304" charset="0"/>
              <a:ea typeface="等线" panose="02010600030101010101" charset="-122"/>
            </a:endParaRPr>
          </a:p>
          <a:p>
            <a:r>
              <a:rPr lang="zh-CN" altLang="en-US" b="1">
                <a:latin typeface="Times New Roman" panose="02020603050405020304" charset="0"/>
                <a:ea typeface="等线" panose="02010600030101010101" charset="-122"/>
              </a:rPr>
              <a:t>持续适应</a:t>
            </a:r>
            <a:r>
              <a:rPr lang="en-US" altLang="zh-CN" b="1">
                <a:latin typeface="Times New Roman" panose="02020603050405020304" charset="0"/>
                <a:ea typeface="等线" panose="02010600030101010101" charset="-122"/>
              </a:rPr>
              <a:t>:</a:t>
            </a:r>
          </a:p>
          <a:p>
            <a:pPr marL="285750" indent="-285750">
              <a:buFont typeface="Arial" panose="020B0604020202020204" pitchFamily="34" charset="0"/>
              <a:buChar char="•"/>
            </a:pPr>
            <a:r>
              <a:rPr lang="zh-CN" altLang="en-US" b="1">
                <a:latin typeface="Times New Roman" panose="02020603050405020304" charset="0"/>
                <a:ea typeface="等线" panose="02010600030101010101" charset="-122"/>
              </a:rPr>
              <a:t>闭环流程</a:t>
            </a:r>
            <a:r>
              <a:rPr lang="en-US" altLang="zh-CN" b="1">
                <a:latin typeface="Times New Roman" panose="02020603050405020304" charset="0"/>
                <a:ea typeface="等线" panose="02010600030101010101" charset="-122"/>
              </a:rPr>
              <a:t>: </a:t>
            </a:r>
            <a:r>
              <a:rPr lang="zh-CN" altLang="en-US" b="1">
                <a:latin typeface="Times New Roman" panose="02020603050405020304" charset="0"/>
                <a:ea typeface="等线" panose="02010600030101010101" charset="-122"/>
              </a:rPr>
              <a:t>本地学习</a:t>
            </a:r>
            <a:r>
              <a:rPr lang="en-US" altLang="zh-CN" b="1">
                <a:latin typeface="Times New Roman" panose="02020603050405020304" charset="0"/>
                <a:ea typeface="等线" panose="02010600030101010101" charset="-122"/>
              </a:rPr>
              <a:t>/</a:t>
            </a:r>
            <a:r>
              <a:rPr lang="zh-CN" altLang="en-US" b="1">
                <a:latin typeface="Times New Roman" panose="02020603050405020304" charset="0"/>
                <a:ea typeface="等线" panose="02010600030101010101" charset="-122"/>
              </a:rPr>
              <a:t>打分 </a:t>
            </a:r>
            <a:r>
              <a:rPr lang="en-US" altLang="zh-CN" b="1">
                <a:latin typeface="Times New Roman" panose="02020603050405020304" charset="0"/>
                <a:ea typeface="等线" panose="02010600030101010101" charset="-122"/>
              </a:rPr>
              <a:t>-&gt; </a:t>
            </a:r>
            <a:r>
              <a:rPr lang="zh-CN" altLang="en-US" b="1">
                <a:latin typeface="Times New Roman" panose="02020603050405020304" charset="0"/>
                <a:ea typeface="等线" panose="02010600030101010101" charset="-122"/>
              </a:rPr>
              <a:t>上传 </a:t>
            </a:r>
            <a:r>
              <a:rPr lang="en-US" altLang="zh-CN" b="1">
                <a:latin typeface="Times New Roman" panose="02020603050405020304" charset="0"/>
                <a:ea typeface="等线" panose="02010600030101010101" charset="-122"/>
              </a:rPr>
              <a:t>-&gt; </a:t>
            </a:r>
            <a:r>
              <a:rPr lang="zh-CN" altLang="en-US" b="1">
                <a:latin typeface="Times New Roman" panose="02020603050405020304" charset="0"/>
                <a:ea typeface="等线" panose="02010600030101010101" charset="-122"/>
              </a:rPr>
              <a:t>全局聚合</a:t>
            </a:r>
            <a:r>
              <a:rPr lang="en-US" altLang="zh-CN" b="1">
                <a:latin typeface="Times New Roman" panose="02020603050405020304" charset="0"/>
                <a:ea typeface="等线" panose="02010600030101010101" charset="-122"/>
              </a:rPr>
              <a:t>/</a:t>
            </a:r>
            <a:r>
              <a:rPr lang="zh-CN" altLang="en-US" b="1">
                <a:latin typeface="Times New Roman" panose="02020603050405020304" charset="0"/>
                <a:ea typeface="等线" panose="02010600030101010101" charset="-122"/>
              </a:rPr>
              <a:t>遗忘 </a:t>
            </a:r>
            <a:r>
              <a:rPr lang="en-US" altLang="zh-CN" b="1">
                <a:latin typeface="Times New Roman" panose="02020603050405020304" charset="0"/>
                <a:ea typeface="等线" panose="02010600030101010101" charset="-122"/>
              </a:rPr>
              <a:t>-&gt; </a:t>
            </a:r>
            <a:r>
              <a:rPr lang="zh-CN" altLang="en-US" b="1">
                <a:latin typeface="Times New Roman" panose="02020603050405020304" charset="0"/>
                <a:ea typeface="等线" panose="02010600030101010101" charset="-122"/>
              </a:rPr>
              <a:t>下发 </a:t>
            </a:r>
            <a:r>
              <a:rPr lang="en-US" altLang="zh-CN" b="1">
                <a:latin typeface="Times New Roman" panose="02020603050405020304" charset="0"/>
                <a:ea typeface="等线" panose="02010600030101010101" charset="-122"/>
              </a:rPr>
              <a:t>-&gt; </a:t>
            </a:r>
            <a:r>
              <a:rPr lang="zh-CN" altLang="en-US" b="1">
                <a:latin typeface="Times New Roman" panose="02020603050405020304" charset="0"/>
                <a:ea typeface="等线" panose="02010600030101010101" charset="-122"/>
              </a:rPr>
              <a:t>本地融合 </a:t>
            </a:r>
            <a:r>
              <a:rPr lang="en-US" altLang="zh-CN" b="1">
                <a:latin typeface="Times New Roman" panose="02020603050405020304" charset="0"/>
                <a:ea typeface="等线" panose="02010600030101010101" charset="-122"/>
              </a:rPr>
              <a:t>-&gt; </a:t>
            </a:r>
            <a:r>
              <a:rPr lang="zh-CN" altLang="en-US" b="1">
                <a:latin typeface="Times New Roman" panose="02020603050405020304" charset="0"/>
                <a:ea typeface="等线" panose="02010600030101010101" charset="-122"/>
              </a:rPr>
              <a:t>继续学习</a:t>
            </a:r>
            <a:endParaRPr lang="en-US" altLang="zh-CN" b="1">
              <a:latin typeface="Times New Roman" panose="02020603050405020304" charset="0"/>
              <a:ea typeface="等线" panose="02010600030101010101" charset="-122"/>
            </a:endParaRPr>
          </a:p>
          <a:p>
            <a:pPr marL="285750" indent="-285750">
              <a:buFont typeface="Arial" panose="020B0604020202020204" pitchFamily="34" charset="0"/>
              <a:buChar char="•"/>
            </a:pPr>
            <a:r>
              <a:rPr lang="zh-CN" altLang="en-US" b="1">
                <a:latin typeface="Times New Roman" panose="02020603050405020304" charset="0"/>
                <a:ea typeface="等线" panose="02010600030101010101" charset="-122"/>
              </a:rPr>
              <a:t>效果</a:t>
            </a:r>
            <a:r>
              <a:rPr lang="en-US" altLang="zh-CN" b="1">
                <a:latin typeface="Times New Roman" panose="02020603050405020304" charset="0"/>
                <a:ea typeface="等线" panose="02010600030101010101" charset="-122"/>
              </a:rPr>
              <a:t>: </a:t>
            </a:r>
            <a:r>
              <a:rPr lang="zh-CN" altLang="en-US" b="1">
                <a:latin typeface="Times New Roman" panose="02020603050405020304" charset="0"/>
                <a:ea typeface="等线" panose="02010600030101010101" charset="-122"/>
              </a:rPr>
              <a:t>实现模型在分布式、动态环境中的持续学习与自适应遗忘。</a:t>
            </a:r>
          </a:p>
        </p:txBody>
      </p:sp>
      <p:pic>
        <p:nvPicPr>
          <p:cNvPr id="4" name="图片 3"/>
          <p:cNvPicPr>
            <a:picLocks noChangeAspect="1"/>
          </p:cNvPicPr>
          <p:nvPr/>
        </p:nvPicPr>
        <p:blipFill>
          <a:blip r:embed="rId3"/>
          <a:stretch>
            <a:fillRect/>
          </a:stretch>
        </p:blipFill>
        <p:spPr>
          <a:xfrm>
            <a:off x="7793392" y="1699964"/>
            <a:ext cx="3687017" cy="3754838"/>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文本框 19"/>
          <p:cNvSpPr txBox="1"/>
          <p:nvPr/>
        </p:nvSpPr>
        <p:spPr>
          <a:xfrm>
            <a:off x="629331" y="148059"/>
            <a:ext cx="3426179" cy="1077218"/>
          </a:xfrm>
          <a:prstGeom prst="rect">
            <a:avLst/>
          </a:prstGeom>
          <a:noFill/>
        </p:spPr>
        <p:txBody>
          <a:bodyPr wrap="square" rtlCol="0">
            <a:spAutoFit/>
          </a:bodyPr>
          <a:lstStyle/>
          <a:p>
            <a:pPr lvl="0">
              <a:defRPr/>
            </a:pPr>
            <a:r>
              <a:rPr lang="zh-CN" altLang="en-US" sz="3200" b="1">
                <a:solidFill>
                  <a:schemeClr val="tx1"/>
                </a:solidFill>
                <a:latin typeface="微软雅黑" panose="020B0503020204020204" pitchFamily="34" charset="-122"/>
                <a:ea typeface="微软雅黑" panose="020B0503020204020204" pitchFamily="34" charset="-122"/>
              </a:rPr>
              <a:t>实验设置</a:t>
            </a:r>
            <a:endParaRPr lang="en-US" altLang="zh-CN" sz="3200" b="1">
              <a:solidFill>
                <a:schemeClr val="tx1"/>
              </a:solidFill>
              <a:latin typeface="微软雅黑" panose="020B0503020204020204" pitchFamily="34" charset="-122"/>
              <a:ea typeface="微软雅黑" panose="020B0503020204020204" pitchFamily="34" charset="-122"/>
            </a:endParaRPr>
          </a:p>
          <a:p>
            <a:pPr lvl="0">
              <a:defRPr/>
            </a:pPr>
            <a:r>
              <a:rPr lang="zh-CN" altLang="en-US" sz="1600" b="1">
                <a:latin typeface="微软雅黑" panose="020B0503020204020204" pitchFamily="34" charset="-122"/>
                <a:ea typeface="微软雅黑" panose="020B0503020204020204" pitchFamily="34" charset="-122"/>
              </a:rPr>
              <a:t>数据集</a:t>
            </a:r>
          </a:p>
          <a:p>
            <a:pPr lvl="0">
              <a:defRPr/>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
        <p:nvSpPr>
          <p:cNvPr id="22" name="矩形: 圆角 21"/>
          <p:cNvSpPr/>
          <p:nvPr/>
        </p:nvSpPr>
        <p:spPr>
          <a:xfrm flipH="1">
            <a:off x="-218450" y="224311"/>
            <a:ext cx="739545" cy="724771"/>
          </a:xfrm>
          <a:prstGeom prst="roundRect">
            <a:avLst>
              <a:gd name="adj" fmla="val 1461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lumMod val="75000"/>
                  <a:lumOff val="25000"/>
                </a:schemeClr>
              </a:solidFill>
            </a:endParaRPr>
          </a:p>
        </p:txBody>
      </p:sp>
      <p:pic>
        <p:nvPicPr>
          <p:cNvPr id="5" name="图片 4"/>
          <p:cNvPicPr>
            <a:picLocks noChangeAspect="1"/>
          </p:cNvPicPr>
          <p:nvPr/>
        </p:nvPicPr>
        <p:blipFill>
          <a:blip r:embed="rId3"/>
          <a:stretch>
            <a:fillRect/>
          </a:stretch>
        </p:blipFill>
        <p:spPr>
          <a:xfrm>
            <a:off x="7414019" y="1908699"/>
            <a:ext cx="4539160" cy="3449188"/>
          </a:xfrm>
          <a:prstGeom prst="rect">
            <a:avLst/>
          </a:prstGeom>
        </p:spPr>
      </p:pic>
      <p:sp>
        <p:nvSpPr>
          <p:cNvPr id="6" name="文本框 5"/>
          <p:cNvSpPr txBox="1"/>
          <p:nvPr/>
        </p:nvSpPr>
        <p:spPr>
          <a:xfrm>
            <a:off x="415150" y="1145540"/>
            <a:ext cx="6917805" cy="5016758"/>
          </a:xfrm>
          <a:prstGeom prst="rect">
            <a:avLst/>
          </a:prstGeom>
        </p:spPr>
        <p:txBody>
          <a:bodyPr wrap="square">
            <a:spAutoFit/>
          </a:bodyPr>
          <a:lstStyle/>
          <a:p>
            <a:r>
              <a:rPr lang="zh-CN" altLang="en-US" sz="1600" b="1">
                <a:latin typeface="Times New Roman" panose="02020603050405020304" charset="0"/>
                <a:ea typeface="等线" panose="02010600030101010101" charset="-122"/>
              </a:rPr>
              <a:t>数据集与模型：</a:t>
            </a:r>
            <a:br>
              <a:rPr lang="zh-CN" altLang="en-US" sz="1600" b="1">
                <a:latin typeface="Times New Roman" panose="02020603050405020304" charset="0"/>
                <a:ea typeface="等线" panose="02010600030101010101" charset="-122"/>
              </a:rPr>
            </a:br>
            <a:r>
              <a:rPr lang="zh-CN" altLang="en-US" sz="1600" b="1">
                <a:latin typeface="Times New Roman" panose="02020603050405020304" charset="0"/>
                <a:ea typeface="等线" panose="02010600030101010101" charset="-122"/>
              </a:rPr>
              <a:t>为全面验证</a:t>
            </a:r>
            <a:r>
              <a:rPr lang="en-US" altLang="zh-CN" sz="1600" b="1">
                <a:latin typeface="Times New Roman" panose="02020603050405020304" charset="0"/>
                <a:ea typeface="等线" panose="02010600030101010101" charset="-122"/>
              </a:rPr>
              <a:t>FRAMU</a:t>
            </a:r>
            <a:r>
              <a:rPr lang="zh-CN" altLang="en-US" sz="1600" b="1">
                <a:latin typeface="Times New Roman" panose="02020603050405020304" charset="0"/>
                <a:ea typeface="等线" panose="02010600030101010101" charset="-122"/>
              </a:rPr>
              <a:t>框架的有效性，实验选用了六个涵盖不同领域的真实世界数据集。</a:t>
            </a:r>
          </a:p>
          <a:p>
            <a:pPr marL="285750" indent="-285750">
              <a:buFont typeface="Arial" panose="020B0604020202020204" pitchFamily="34" charset="0"/>
              <a:buChar char="•"/>
            </a:pPr>
            <a:r>
              <a:rPr lang="zh-CN" altLang="en-US" sz="1600" b="1">
                <a:latin typeface="Times New Roman" panose="02020603050405020304" charset="0"/>
                <a:ea typeface="等线" panose="02010600030101010101" charset="-122"/>
              </a:rPr>
              <a:t>单模态场景：采用</a:t>
            </a:r>
            <a:r>
              <a:rPr lang="en-US" altLang="zh-CN" sz="1600" b="1">
                <a:latin typeface="Times New Roman" panose="02020603050405020304" charset="0"/>
                <a:ea typeface="等线" panose="02010600030101010101" charset="-122"/>
              </a:rPr>
              <a:t>AMPds2 (</a:t>
            </a:r>
            <a:r>
              <a:rPr lang="zh-CN" altLang="en-US" sz="1600" b="1">
                <a:latin typeface="Times New Roman" panose="02020603050405020304" charset="0"/>
                <a:ea typeface="等线" panose="02010600030101010101" charset="-122"/>
              </a:rPr>
              <a:t>能耗</a:t>
            </a:r>
            <a:r>
              <a:rPr lang="en-US" altLang="zh-CN" sz="1600" b="1">
                <a:latin typeface="Times New Roman" panose="02020603050405020304" charset="0"/>
                <a:ea typeface="等线" panose="02010600030101010101" charset="-122"/>
              </a:rPr>
              <a:t>)</a:t>
            </a:r>
            <a:r>
              <a:rPr lang="zh-CN" altLang="en-US" sz="1600" b="1">
                <a:latin typeface="Times New Roman" panose="02020603050405020304" charset="0"/>
                <a:ea typeface="等线" panose="02010600030101010101" charset="-122"/>
              </a:rPr>
              <a:t>、</a:t>
            </a:r>
            <a:r>
              <a:rPr lang="en-US" altLang="zh-CN" sz="1600" b="1">
                <a:latin typeface="Times New Roman" panose="02020603050405020304" charset="0"/>
                <a:ea typeface="等线" panose="02010600030101010101" charset="-122"/>
              </a:rPr>
              <a:t>METR-LA (</a:t>
            </a:r>
            <a:r>
              <a:rPr lang="zh-CN" altLang="en-US" sz="1600" b="1">
                <a:latin typeface="Times New Roman" panose="02020603050405020304" charset="0"/>
                <a:ea typeface="等线" panose="02010600030101010101" charset="-122"/>
              </a:rPr>
              <a:t>交通</a:t>
            </a:r>
            <a:r>
              <a:rPr lang="en-US" altLang="zh-CN" sz="1600" b="1">
                <a:latin typeface="Times New Roman" panose="02020603050405020304" charset="0"/>
                <a:ea typeface="等线" panose="02010600030101010101" charset="-122"/>
              </a:rPr>
              <a:t>)</a:t>
            </a:r>
            <a:r>
              <a:rPr lang="zh-CN" altLang="en-US" sz="1600" b="1">
                <a:latin typeface="Times New Roman" panose="02020603050405020304" charset="0"/>
                <a:ea typeface="等线" panose="02010600030101010101" charset="-122"/>
              </a:rPr>
              <a:t>、</a:t>
            </a:r>
            <a:r>
              <a:rPr lang="en-US" altLang="zh-CN" sz="1600" b="1">
                <a:latin typeface="Times New Roman" panose="02020603050405020304" charset="0"/>
                <a:ea typeface="等线" panose="02010600030101010101" charset="-122"/>
              </a:rPr>
              <a:t>MIMIC-III (</a:t>
            </a:r>
            <a:r>
              <a:rPr lang="zh-CN" altLang="en-US" sz="1600" b="1">
                <a:latin typeface="Times New Roman" panose="02020603050405020304" charset="0"/>
                <a:ea typeface="等线" panose="02010600030101010101" charset="-122"/>
              </a:rPr>
              <a:t>医疗</a:t>
            </a:r>
            <a:r>
              <a:rPr lang="en-US" altLang="zh-CN" sz="1600" b="1">
                <a:latin typeface="Times New Roman" panose="02020603050405020304" charset="0"/>
                <a:ea typeface="等线" panose="02010600030101010101" charset="-122"/>
              </a:rPr>
              <a:t>) </a:t>
            </a:r>
            <a:r>
              <a:rPr lang="zh-CN" altLang="en-US" sz="1600" b="1">
                <a:latin typeface="Times New Roman" panose="02020603050405020304" charset="0"/>
                <a:ea typeface="等线" panose="02010600030101010101" charset="-122"/>
              </a:rPr>
              <a:t>数据集，以验证对单一数据类型的遗忘能力。</a:t>
            </a:r>
          </a:p>
          <a:p>
            <a:pPr marL="285750" indent="-285750">
              <a:buFont typeface="Arial" panose="020B0604020202020204" pitchFamily="34" charset="0"/>
              <a:buChar char="•"/>
            </a:pPr>
            <a:r>
              <a:rPr lang="zh-CN" altLang="en-US" sz="1600" b="1">
                <a:latin typeface="Times New Roman" panose="02020603050405020304" charset="0"/>
                <a:ea typeface="等线" panose="02010600030101010101" charset="-122"/>
              </a:rPr>
              <a:t>多模态场景：采用</a:t>
            </a:r>
            <a:r>
              <a:rPr lang="en-US" altLang="zh-CN" sz="1600" b="1">
                <a:latin typeface="Times New Roman" panose="02020603050405020304" charset="0"/>
                <a:ea typeface="等线" panose="02010600030101010101" charset="-122"/>
              </a:rPr>
              <a:t>NYPD (</a:t>
            </a:r>
            <a:r>
              <a:rPr lang="zh-CN" altLang="en-US" sz="1600" b="1">
                <a:latin typeface="Times New Roman" panose="02020603050405020304" charset="0"/>
                <a:ea typeface="等线" panose="02010600030101010101" charset="-122"/>
              </a:rPr>
              <a:t>投诉数据</a:t>
            </a:r>
            <a:r>
              <a:rPr lang="en-US" altLang="zh-CN" sz="1600" b="1">
                <a:latin typeface="Times New Roman" panose="02020603050405020304" charset="0"/>
                <a:ea typeface="等线" panose="02010600030101010101" charset="-122"/>
              </a:rPr>
              <a:t>)</a:t>
            </a:r>
            <a:r>
              <a:rPr lang="zh-CN" altLang="en-US" sz="1600" b="1">
                <a:latin typeface="Times New Roman" panose="02020603050405020304" charset="0"/>
                <a:ea typeface="等线" panose="02010600030101010101" charset="-122"/>
              </a:rPr>
              <a:t>、</a:t>
            </a:r>
            <a:r>
              <a:rPr lang="en-US" altLang="zh-CN" sz="1600" b="1">
                <a:latin typeface="Times New Roman" panose="02020603050405020304" charset="0"/>
                <a:ea typeface="等线" panose="02010600030101010101" charset="-122"/>
              </a:rPr>
              <a:t>MIMIC-CXR (</a:t>
            </a:r>
            <a:r>
              <a:rPr lang="zh-CN" altLang="en-US" sz="1600" b="1">
                <a:latin typeface="Times New Roman" panose="02020603050405020304" charset="0"/>
                <a:ea typeface="等线" panose="02010600030101010101" charset="-122"/>
              </a:rPr>
              <a:t>医疗影像与文本</a:t>
            </a:r>
            <a:r>
              <a:rPr lang="en-US" altLang="zh-CN" sz="1600" b="1">
                <a:latin typeface="Times New Roman" panose="02020603050405020304" charset="0"/>
                <a:ea typeface="等线" panose="02010600030101010101" charset="-122"/>
              </a:rPr>
              <a:t>)</a:t>
            </a:r>
            <a:r>
              <a:rPr lang="zh-CN" altLang="en-US" sz="1600" b="1">
                <a:latin typeface="Times New Roman" panose="02020603050405020304" charset="0"/>
                <a:ea typeface="等线" panose="02010600030101010101" charset="-122"/>
              </a:rPr>
              <a:t>、</a:t>
            </a:r>
            <a:r>
              <a:rPr lang="en-US" altLang="zh-CN" sz="1600" b="1">
                <a:latin typeface="Times New Roman" panose="02020603050405020304" charset="0"/>
                <a:ea typeface="等线" panose="02010600030101010101" charset="-122"/>
              </a:rPr>
              <a:t>SHED (</a:t>
            </a:r>
            <a:r>
              <a:rPr lang="zh-CN" altLang="en-US" sz="1600" b="1">
                <a:latin typeface="Times New Roman" panose="02020603050405020304" charset="0"/>
                <a:ea typeface="等线" panose="02010600030101010101" charset="-122"/>
              </a:rPr>
              <a:t>智能家居</a:t>
            </a:r>
            <a:r>
              <a:rPr lang="en-US" altLang="zh-CN" sz="1600" b="1">
                <a:latin typeface="Times New Roman" panose="02020603050405020304" charset="0"/>
                <a:ea typeface="等线" panose="02010600030101010101" charset="-122"/>
              </a:rPr>
              <a:t>) </a:t>
            </a:r>
            <a:r>
              <a:rPr lang="zh-CN" altLang="en-US" sz="1600" b="1">
                <a:latin typeface="Times New Roman" panose="02020603050405020304" charset="0"/>
                <a:ea typeface="等线" panose="02010600030101010101" charset="-122"/>
              </a:rPr>
              <a:t>数据集，以评估处理复杂异构数据的能力。</a:t>
            </a:r>
          </a:p>
          <a:p>
            <a:r>
              <a:rPr lang="zh-CN" altLang="en-US" sz="1600" b="1">
                <a:latin typeface="Times New Roman" panose="02020603050405020304" charset="0"/>
                <a:ea typeface="等线" panose="02010600030101010101" charset="-122"/>
              </a:rPr>
              <a:t>基础模型依据数据类型选用业界通用的</a:t>
            </a:r>
            <a:r>
              <a:rPr lang="en-US" altLang="zh-CN" sz="1600" b="1">
                <a:latin typeface="Times New Roman" panose="02020603050405020304" charset="0"/>
                <a:ea typeface="等线" panose="02010600030101010101" charset="-122"/>
              </a:rPr>
              <a:t>CNN (</a:t>
            </a:r>
            <a:r>
              <a:rPr lang="zh-CN" altLang="en-US" sz="1600" b="1">
                <a:latin typeface="Times New Roman" panose="02020603050405020304" charset="0"/>
                <a:ea typeface="等线" panose="02010600030101010101" charset="-122"/>
              </a:rPr>
              <a:t>处理图像与传感器数据</a:t>
            </a:r>
            <a:r>
              <a:rPr lang="en-US" altLang="zh-CN" sz="1600" b="1">
                <a:latin typeface="Times New Roman" panose="02020603050405020304" charset="0"/>
                <a:ea typeface="等线" panose="02010600030101010101" charset="-122"/>
              </a:rPr>
              <a:t>) </a:t>
            </a:r>
            <a:r>
              <a:rPr lang="zh-CN" altLang="en-US" sz="1600" b="1">
                <a:latin typeface="Times New Roman" panose="02020603050405020304" charset="0"/>
                <a:ea typeface="等线" panose="02010600030101010101" charset="-122"/>
              </a:rPr>
              <a:t>与</a:t>
            </a:r>
            <a:r>
              <a:rPr lang="en-US" altLang="zh-CN" sz="1600" b="1">
                <a:latin typeface="Times New Roman" panose="02020603050405020304" charset="0"/>
                <a:ea typeface="等线" panose="02010600030101010101" charset="-122"/>
              </a:rPr>
              <a:t>LSTM (</a:t>
            </a:r>
            <a:r>
              <a:rPr lang="zh-CN" altLang="en-US" sz="1600" b="1">
                <a:latin typeface="Times New Roman" panose="02020603050405020304" charset="0"/>
                <a:ea typeface="等线" panose="02010600030101010101" charset="-122"/>
              </a:rPr>
              <a:t>处理时序与文本数据</a:t>
            </a:r>
            <a:r>
              <a:rPr lang="en-US" altLang="zh-CN" sz="1600" b="1">
                <a:latin typeface="Times New Roman" panose="02020603050405020304" charset="0"/>
                <a:ea typeface="等线" panose="02010600030101010101" charset="-122"/>
              </a:rPr>
              <a:t>)</a:t>
            </a:r>
            <a:r>
              <a:rPr lang="zh-CN" altLang="en-US" sz="1600" b="1">
                <a:latin typeface="Times New Roman" panose="02020603050405020304" charset="0"/>
                <a:ea typeface="等线" panose="02010600030101010101" charset="-122"/>
              </a:rPr>
              <a:t>。</a:t>
            </a:r>
          </a:p>
          <a:p>
            <a:r>
              <a:rPr lang="zh-CN" altLang="en-US" sz="1600" b="1">
                <a:latin typeface="Times New Roman" panose="02020603050405020304" charset="0"/>
                <a:ea typeface="等线" panose="02010600030101010101" charset="-122"/>
              </a:rPr>
              <a:t>对比基线：</a:t>
            </a:r>
            <a:br>
              <a:rPr lang="zh-CN" altLang="en-US" sz="1600" b="1">
                <a:latin typeface="Times New Roman" panose="02020603050405020304" charset="0"/>
                <a:ea typeface="等线" panose="02010600030101010101" charset="-122"/>
              </a:rPr>
            </a:br>
            <a:r>
              <a:rPr lang="zh-CN" altLang="en-US" sz="1600" b="1">
                <a:latin typeface="Times New Roman" panose="02020603050405020304" charset="0"/>
                <a:ea typeface="等线" panose="02010600030101010101" charset="-122"/>
              </a:rPr>
              <a:t>为公平体现</a:t>
            </a:r>
            <a:r>
              <a:rPr lang="en-US" altLang="zh-CN" sz="1600" b="1">
                <a:latin typeface="Times New Roman" panose="02020603050405020304" charset="0"/>
                <a:ea typeface="等线" panose="02010600030101010101" charset="-122"/>
              </a:rPr>
              <a:t>FRAMU</a:t>
            </a:r>
            <a:r>
              <a:rPr lang="zh-CN" altLang="en-US" sz="1600" b="1">
                <a:latin typeface="Times New Roman" panose="02020603050405020304" charset="0"/>
                <a:ea typeface="等线" panose="02010600030101010101" charset="-122"/>
              </a:rPr>
              <a:t>的先进性，选取了多个领域的代表性工作作为基线模型进行对比。</a:t>
            </a:r>
          </a:p>
          <a:p>
            <a:pPr marL="285750" indent="-285750">
              <a:buFont typeface="Arial" panose="020B0604020202020204" pitchFamily="34" charset="0"/>
              <a:buChar char="•"/>
            </a:pPr>
            <a:r>
              <a:rPr lang="zh-CN" altLang="en-US" sz="1600" b="1">
                <a:latin typeface="Times New Roman" panose="02020603050405020304" charset="0"/>
              </a:rPr>
              <a:t>包括专注于联邦知识图谱的</a:t>
            </a:r>
            <a:r>
              <a:rPr lang="en-US" altLang="zh-CN" sz="1600" b="1">
                <a:latin typeface="Times New Roman" panose="02020603050405020304" charset="0"/>
              </a:rPr>
              <a:t>FedLU</a:t>
            </a:r>
            <a:r>
              <a:rPr lang="zh-CN" altLang="en-US" sz="1600" b="1">
                <a:latin typeface="Times New Roman" panose="02020603050405020304" charset="0"/>
              </a:rPr>
              <a:t>、实现零样本遗忘的</a:t>
            </a:r>
            <a:r>
              <a:rPr lang="en-US" altLang="zh-CN" sz="1600" b="1">
                <a:latin typeface="Times New Roman" panose="02020603050405020304" charset="0"/>
              </a:rPr>
              <a:t>Zero-shot MU</a:t>
            </a:r>
            <a:r>
              <a:rPr lang="zh-CN" altLang="en-US" sz="1600" b="1">
                <a:latin typeface="Times New Roman" panose="02020603050405020304" charset="0"/>
              </a:rPr>
              <a:t>，以及采用分片训练的</a:t>
            </a:r>
            <a:r>
              <a:rPr lang="en-US" altLang="zh-CN" sz="1600" b="1">
                <a:latin typeface="Times New Roman" panose="02020603050405020304" charset="0"/>
              </a:rPr>
              <a:t>SISA</a:t>
            </a:r>
            <a:r>
              <a:rPr lang="zh-CN" altLang="en-US" sz="1600" b="1">
                <a:latin typeface="Times New Roman" panose="02020603050405020304" charset="0"/>
              </a:rPr>
              <a:t>。</a:t>
            </a:r>
            <a:endParaRPr lang="zh-CN" altLang="en-US" sz="1600" b="1">
              <a:latin typeface="Times New Roman" panose="02020603050405020304" charset="0"/>
              <a:ea typeface="等线" panose="02010600030101010101" charset="-122"/>
            </a:endParaRPr>
          </a:p>
          <a:p>
            <a:r>
              <a:rPr lang="zh-CN" altLang="en-US" sz="1600" b="1">
                <a:latin typeface="Times New Roman" panose="02020603050405020304" charset="0"/>
                <a:ea typeface="等线" panose="02010600030101010101" charset="-122"/>
              </a:rPr>
              <a:t>评估体系：</a:t>
            </a:r>
            <a:endParaRPr lang="en-US" altLang="zh-CN" sz="1600" b="1">
              <a:latin typeface="Times New Roman" panose="02020603050405020304" charset="0"/>
              <a:ea typeface="等线" panose="02010600030101010101" charset="-122"/>
            </a:endParaRPr>
          </a:p>
          <a:p>
            <a:pPr marL="285750" indent="-285750">
              <a:buFont typeface="Arial" panose="020B0604020202020204" pitchFamily="34" charset="0"/>
              <a:buChar char="•"/>
            </a:pPr>
            <a:r>
              <a:rPr lang="zh-CN" altLang="en-US" sz="1600" b="1">
                <a:latin typeface="Times New Roman" panose="02020603050405020304" charset="0"/>
                <a:ea typeface="等线" panose="02010600030101010101" charset="-122"/>
              </a:rPr>
              <a:t>模型性能保持度：采用</a:t>
            </a:r>
            <a:r>
              <a:rPr lang="en-US" altLang="zh-CN" sz="1600" b="1">
                <a:latin typeface="Times New Roman" panose="02020603050405020304" charset="0"/>
                <a:ea typeface="等线" panose="02010600030101010101" charset="-122"/>
              </a:rPr>
              <a:t>MSE (</a:t>
            </a:r>
            <a:r>
              <a:rPr lang="zh-CN" altLang="en-US" sz="1600" b="1">
                <a:latin typeface="Times New Roman" panose="02020603050405020304" charset="0"/>
                <a:ea typeface="等线" panose="02010600030101010101" charset="-122"/>
              </a:rPr>
              <a:t>均方误差</a:t>
            </a:r>
            <a:r>
              <a:rPr lang="en-US" altLang="zh-CN" sz="1600" b="1">
                <a:latin typeface="Times New Roman" panose="02020603050405020304" charset="0"/>
                <a:ea typeface="等线" panose="02010600030101010101" charset="-122"/>
              </a:rPr>
              <a:t>) </a:t>
            </a:r>
            <a:r>
              <a:rPr lang="zh-CN" altLang="en-US" sz="1600" b="1">
                <a:latin typeface="Times New Roman" panose="02020603050405020304" charset="0"/>
                <a:ea typeface="等线" panose="02010600030101010101" charset="-122"/>
              </a:rPr>
              <a:t>与</a:t>
            </a:r>
            <a:r>
              <a:rPr lang="en-US" altLang="zh-CN" sz="1600" b="1">
                <a:latin typeface="Times New Roman" panose="02020603050405020304" charset="0"/>
                <a:ea typeface="等线" panose="02010600030101010101" charset="-122"/>
              </a:rPr>
              <a:t>MAE (</a:t>
            </a:r>
            <a:r>
              <a:rPr lang="zh-CN" altLang="en-US" sz="1600" b="1">
                <a:latin typeface="Times New Roman" panose="02020603050405020304" charset="0"/>
                <a:ea typeface="等线" panose="02010600030101010101" charset="-122"/>
              </a:rPr>
              <a:t>平均绝对误差</a:t>
            </a:r>
            <a:r>
              <a:rPr lang="en-US" altLang="zh-CN" sz="1600" b="1">
                <a:latin typeface="Times New Roman" panose="02020603050405020304" charset="0"/>
                <a:ea typeface="等线" panose="02010600030101010101" charset="-122"/>
              </a:rPr>
              <a:t>) </a:t>
            </a:r>
            <a:r>
              <a:rPr lang="zh-CN" altLang="en-US" sz="1600" b="1">
                <a:latin typeface="Times New Roman" panose="02020603050405020304" charset="0"/>
                <a:ea typeface="等线" panose="02010600030101010101" charset="-122"/>
              </a:rPr>
              <a:t>衡量遗忘后模型在剩余数据上的预测精度，值越低表明性能保持越好。</a:t>
            </a:r>
          </a:p>
          <a:p>
            <a:pPr marL="285750" indent="-285750">
              <a:buFont typeface="Arial" panose="020B0604020202020204" pitchFamily="34" charset="0"/>
              <a:buChar char="•"/>
            </a:pPr>
            <a:r>
              <a:rPr lang="zh-CN" altLang="en-US" sz="1600" b="1">
                <a:latin typeface="Times New Roman" panose="02020603050405020304" charset="0"/>
                <a:ea typeface="等线" panose="02010600030101010101" charset="-122"/>
              </a:rPr>
              <a:t>遗忘彻底性：采用</a:t>
            </a:r>
            <a:r>
              <a:rPr lang="en-US" altLang="zh-CN" sz="1600" b="1">
                <a:latin typeface="Times New Roman" panose="02020603050405020304" charset="0"/>
                <a:ea typeface="等线" panose="02010600030101010101" charset="-122"/>
              </a:rPr>
              <a:t>RE (</a:t>
            </a:r>
            <a:r>
              <a:rPr lang="zh-CN" altLang="en-US" sz="1600" b="1">
                <a:latin typeface="Times New Roman" panose="02020603050405020304" charset="0"/>
                <a:ea typeface="等线" panose="02010600030101010101" charset="-122"/>
              </a:rPr>
              <a:t>重构误差</a:t>
            </a:r>
            <a:r>
              <a:rPr lang="en-US" altLang="zh-CN" sz="1600" b="1">
                <a:latin typeface="Times New Roman" panose="02020603050405020304" charset="0"/>
                <a:ea typeface="等线" panose="02010600030101010101" charset="-122"/>
              </a:rPr>
              <a:t>) </a:t>
            </a:r>
            <a:r>
              <a:rPr lang="zh-CN" altLang="en-US" sz="1600" b="1">
                <a:latin typeface="Times New Roman" panose="02020603050405020304" charset="0"/>
                <a:ea typeface="等线" panose="02010600030101010101" charset="-122"/>
              </a:rPr>
              <a:t>与</a:t>
            </a:r>
            <a:r>
              <a:rPr lang="en-US" altLang="zh-CN" sz="1600" b="1">
                <a:latin typeface="Times New Roman" panose="02020603050405020304" charset="0"/>
                <a:ea typeface="等线" panose="02010600030101010101" charset="-122"/>
              </a:rPr>
              <a:t>AD (</a:t>
            </a:r>
            <a:r>
              <a:rPr lang="zh-CN" altLang="en-US" sz="1600" b="1">
                <a:latin typeface="Times New Roman" panose="02020603050405020304" charset="0"/>
                <a:ea typeface="等线" panose="02010600030101010101" charset="-122"/>
              </a:rPr>
              <a:t>激活距离</a:t>
            </a:r>
            <a:r>
              <a:rPr lang="en-US" altLang="zh-CN" sz="1600" b="1">
                <a:latin typeface="Times New Roman" panose="02020603050405020304" charset="0"/>
                <a:ea typeface="等线" panose="02010600030101010101" charset="-122"/>
              </a:rPr>
              <a:t>) </a:t>
            </a:r>
            <a:r>
              <a:rPr lang="zh-CN" altLang="en-US" sz="1600" b="1">
                <a:latin typeface="Times New Roman" panose="02020603050405020304" charset="0"/>
                <a:ea typeface="等线" panose="02010600030101010101" charset="-122"/>
              </a:rPr>
              <a:t>衡量遗忘后模型与“理想遗忘状态”的差距，值越低表明遗忘越干净、越接近从未学习过该数据的状态。</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文本框 19"/>
          <p:cNvSpPr txBox="1"/>
          <p:nvPr/>
        </p:nvSpPr>
        <p:spPr>
          <a:xfrm>
            <a:off x="629331" y="148059"/>
            <a:ext cx="3426179" cy="830997"/>
          </a:xfrm>
          <a:prstGeom prst="rect">
            <a:avLst/>
          </a:prstGeom>
          <a:noFill/>
        </p:spPr>
        <p:txBody>
          <a:bodyPr wrap="square" rtlCol="0">
            <a:spAutoFit/>
          </a:bodyPr>
          <a:lstStyle/>
          <a:p>
            <a:pPr lvl="0">
              <a:defRPr/>
            </a:pPr>
            <a:r>
              <a:rPr lang="zh-CN" altLang="en-US" sz="3200" b="1">
                <a:solidFill>
                  <a:schemeClr val="tx1"/>
                </a:solidFill>
                <a:latin typeface="微软雅黑" panose="020B0503020204020204" pitchFamily="34" charset="-122"/>
                <a:ea typeface="微软雅黑" panose="020B0503020204020204" pitchFamily="34" charset="-122"/>
              </a:rPr>
              <a:t>实验设置</a:t>
            </a:r>
            <a:endParaRPr lang="en-US" altLang="zh-CN" sz="3200" b="1">
              <a:solidFill>
                <a:schemeClr val="tx1"/>
              </a:solidFill>
              <a:latin typeface="微软雅黑" panose="020B0503020204020204" pitchFamily="34" charset="-122"/>
              <a:ea typeface="微软雅黑" panose="020B0503020204020204" pitchFamily="34" charset="-122"/>
            </a:endParaRPr>
          </a:p>
          <a:p>
            <a:pPr lvl="0">
              <a:defRPr/>
            </a:pPr>
            <a:r>
              <a:rPr lang="zh-CN" altLang="en-US" sz="1600" b="1">
                <a:latin typeface="微软雅黑" panose="020B0503020204020204" pitchFamily="34" charset="-122"/>
                <a:ea typeface="微软雅黑" panose="020B0503020204020204" pitchFamily="34" charset="-122"/>
              </a:rPr>
              <a:t>单模态遗忘</a:t>
            </a:r>
            <a:endParaRPr lang="zh-CN" altLang="en-US" sz="1600" b="1" dirty="0">
              <a:solidFill>
                <a:schemeClr val="tx1"/>
              </a:solidFill>
              <a:latin typeface="微软雅黑" panose="020B0503020204020204" pitchFamily="34" charset="-122"/>
              <a:ea typeface="微软雅黑" panose="020B0503020204020204" pitchFamily="34" charset="-122"/>
            </a:endParaRPr>
          </a:p>
        </p:txBody>
      </p:sp>
      <p:sp>
        <p:nvSpPr>
          <p:cNvPr id="22" name="矩形: 圆角 21"/>
          <p:cNvSpPr/>
          <p:nvPr/>
        </p:nvSpPr>
        <p:spPr>
          <a:xfrm flipH="1">
            <a:off x="-218450" y="224311"/>
            <a:ext cx="739545" cy="724771"/>
          </a:xfrm>
          <a:prstGeom prst="roundRect">
            <a:avLst>
              <a:gd name="adj" fmla="val 1461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lumMod val="75000"/>
                  <a:lumOff val="25000"/>
                </a:schemeClr>
              </a:solidFill>
            </a:endParaRPr>
          </a:p>
        </p:txBody>
      </p:sp>
      <p:pic>
        <p:nvPicPr>
          <p:cNvPr id="11" name="图片 10"/>
          <p:cNvPicPr>
            <a:picLocks noChangeAspect="1"/>
          </p:cNvPicPr>
          <p:nvPr/>
        </p:nvPicPr>
        <p:blipFill>
          <a:blip r:embed="rId3"/>
          <a:stretch>
            <a:fillRect/>
          </a:stretch>
        </p:blipFill>
        <p:spPr>
          <a:xfrm>
            <a:off x="1251752" y="3221563"/>
            <a:ext cx="9384251" cy="2921784"/>
          </a:xfrm>
          <a:prstGeom prst="rect">
            <a:avLst/>
          </a:prstGeom>
        </p:spPr>
      </p:pic>
      <p:sp>
        <p:nvSpPr>
          <p:cNvPr id="12" name="文本框 11"/>
          <p:cNvSpPr txBox="1"/>
          <p:nvPr/>
        </p:nvSpPr>
        <p:spPr>
          <a:xfrm>
            <a:off x="629331" y="1332489"/>
            <a:ext cx="8237855" cy="1780744"/>
          </a:xfrm>
          <a:prstGeom prst="rect">
            <a:avLst/>
          </a:prstGeom>
        </p:spPr>
        <p:txBody>
          <a:bodyPr wrap="square">
            <a:spAutoFit/>
          </a:bodyPr>
          <a:lstStyle/>
          <a:p>
            <a:r>
              <a:rPr lang="zh-CN" altLang="en-US" b="1">
                <a:latin typeface="Times New Roman" panose="02020603050405020304" charset="0"/>
                <a:ea typeface="等线" panose="02010600030101010101" charset="-122"/>
              </a:rPr>
              <a:t>核心发现：</a:t>
            </a:r>
            <a:endParaRPr lang="en-US" altLang="zh-CN" b="1">
              <a:latin typeface="Times New Roman" panose="02020603050405020304" charset="0"/>
              <a:ea typeface="等线" panose="02010600030101010101" charset="-122"/>
            </a:endParaRPr>
          </a:p>
          <a:p>
            <a:pPr marL="285750" indent="-285750">
              <a:buFont typeface="Arial" panose="020B0604020202020204" pitchFamily="34" charset="0"/>
              <a:buChar char="•"/>
            </a:pPr>
            <a:r>
              <a:rPr lang="en-US" altLang="zh-CN" b="1">
                <a:latin typeface="Times New Roman" panose="02020603050405020304" charset="0"/>
                <a:ea typeface="等线" panose="02010600030101010101" charset="-122"/>
              </a:rPr>
              <a:t>FRAMU </a:t>
            </a:r>
            <a:r>
              <a:rPr lang="zh-CN" altLang="en-US" b="1">
                <a:latin typeface="Times New Roman" panose="02020603050405020304" charset="0"/>
                <a:ea typeface="等线" panose="02010600030101010101" charset="-122"/>
              </a:rPr>
              <a:t>在遗忘过时、隐私、无关数据方面，</a:t>
            </a:r>
            <a:r>
              <a:rPr lang="en-US" altLang="zh-CN" b="1">
                <a:latin typeface="Times New Roman" panose="02020603050405020304" charset="0"/>
                <a:ea typeface="等线" panose="02010600030101010101" charset="-122"/>
              </a:rPr>
              <a:t>MSE </a:t>
            </a:r>
            <a:r>
              <a:rPr lang="zh-CN" altLang="en-US" b="1">
                <a:latin typeface="Times New Roman" panose="02020603050405020304" charset="0"/>
                <a:ea typeface="等线" panose="02010600030101010101" charset="-122"/>
              </a:rPr>
              <a:t>和 </a:t>
            </a:r>
            <a:r>
              <a:rPr lang="en-US" altLang="zh-CN" b="1">
                <a:latin typeface="Times New Roman" panose="02020603050405020304" charset="0"/>
                <a:ea typeface="等线" panose="02010600030101010101" charset="-122"/>
              </a:rPr>
              <a:t>MAE </a:t>
            </a:r>
            <a:r>
              <a:rPr lang="zh-CN" altLang="en-US" b="1">
                <a:latin typeface="Times New Roman" panose="02020603050405020304" charset="0"/>
                <a:ea typeface="等线" panose="02010600030101010101" charset="-122"/>
              </a:rPr>
              <a:t>显著低于所有基线模型 </a:t>
            </a:r>
            <a:r>
              <a:rPr lang="en-US" altLang="zh-CN" b="1">
                <a:latin typeface="Times New Roman" panose="02020603050405020304" charset="0"/>
                <a:ea typeface="等线" panose="02010600030101010101" charset="-122"/>
              </a:rPr>
              <a:t>(p&lt;0.05)</a:t>
            </a:r>
            <a:r>
              <a:rPr lang="zh-CN" altLang="en-US" b="1">
                <a:latin typeface="Times New Roman" panose="02020603050405020304" charset="0"/>
                <a:ea typeface="等线" panose="02010600030101010101" charset="-122"/>
              </a:rPr>
              <a:t>。 </a:t>
            </a:r>
            <a:endParaRPr lang="en-US" altLang="zh-CN" b="1">
              <a:latin typeface="Times New Roman" panose="02020603050405020304" charset="0"/>
              <a:ea typeface="等线" panose="02010600030101010101" charset="-122"/>
            </a:endParaRPr>
          </a:p>
          <a:p>
            <a:pPr marL="285750" indent="-285750">
              <a:buFont typeface="Arial" panose="020B0604020202020204" pitchFamily="34" charset="0"/>
              <a:buChar char="•"/>
            </a:pPr>
            <a:r>
              <a:rPr lang="zh-CN" altLang="en-US" b="1">
                <a:latin typeface="Times New Roman" panose="02020603050405020304" charset="0"/>
                <a:ea typeface="等线" panose="02010600030101010101" charset="-122"/>
              </a:rPr>
              <a:t>遗忘质量指标 </a:t>
            </a:r>
            <a:r>
              <a:rPr lang="en-US" altLang="zh-CN" b="1">
                <a:latin typeface="Times New Roman" panose="02020603050405020304" charset="0"/>
                <a:ea typeface="等线" panose="02010600030101010101" charset="-122"/>
              </a:rPr>
              <a:t>RE </a:t>
            </a:r>
            <a:r>
              <a:rPr lang="zh-CN" altLang="en-US" b="1">
                <a:latin typeface="Times New Roman" panose="02020603050405020304" charset="0"/>
                <a:ea typeface="等线" panose="02010600030101010101" charset="-122"/>
              </a:rPr>
              <a:t>和 </a:t>
            </a:r>
            <a:r>
              <a:rPr lang="en-US" altLang="zh-CN" b="1">
                <a:latin typeface="Times New Roman" panose="02020603050405020304" charset="0"/>
                <a:ea typeface="等线" panose="02010600030101010101" charset="-122"/>
              </a:rPr>
              <a:t>AD </a:t>
            </a:r>
            <a:r>
              <a:rPr lang="zh-CN" altLang="en-US" b="1">
                <a:latin typeface="Times New Roman" panose="02020603050405020304" charset="0"/>
                <a:ea typeface="等线" panose="02010600030101010101" charset="-122"/>
              </a:rPr>
              <a:t>同样显示 </a:t>
            </a:r>
            <a:r>
              <a:rPr lang="en-US" altLang="zh-CN" b="1">
                <a:latin typeface="Times New Roman" panose="02020603050405020304" charset="0"/>
                <a:ea typeface="等线" panose="02010600030101010101" charset="-122"/>
              </a:rPr>
              <a:t>FRAMU </a:t>
            </a:r>
            <a:r>
              <a:rPr lang="zh-CN" altLang="en-US" b="1">
                <a:latin typeface="Times New Roman" panose="02020603050405020304" charset="0"/>
                <a:ea typeface="等线" panose="02010600030101010101" charset="-122"/>
              </a:rPr>
              <a:t>最优。 </a:t>
            </a:r>
            <a:endParaRPr lang="en-US" altLang="zh-CN" b="1">
              <a:latin typeface="Times New Roman" panose="02020603050405020304" charset="0"/>
              <a:ea typeface="等线" panose="02010600030101010101" charset="-122"/>
            </a:endParaRPr>
          </a:p>
          <a:p>
            <a:pPr marL="285750" indent="-285750">
              <a:buFont typeface="Arial" panose="020B0604020202020204" pitchFamily="34" charset="0"/>
              <a:buChar char="•"/>
            </a:pPr>
            <a:r>
              <a:rPr lang="zh-CN" altLang="en-US" b="1">
                <a:latin typeface="Times New Roman" panose="02020603050405020304" charset="0"/>
                <a:ea typeface="等线" panose="02010600030101010101" charset="-122"/>
              </a:rPr>
              <a:t>误差差异 </a:t>
            </a:r>
            <a:r>
              <a:rPr lang="en-US" altLang="zh-CN" b="1">
                <a:latin typeface="Times New Roman" panose="02020603050405020304" charset="0"/>
                <a:ea typeface="等线" panose="02010600030101010101" charset="-122"/>
              </a:rPr>
              <a:t>FRAMU </a:t>
            </a:r>
            <a:r>
              <a:rPr lang="zh-CN" altLang="en-US" b="1">
                <a:latin typeface="Times New Roman" panose="02020603050405020304" charset="0"/>
                <a:ea typeface="等线" panose="02010600030101010101" charset="-122"/>
              </a:rPr>
              <a:t>对遗忘操作响应最强，效果最明显。</a:t>
            </a:r>
          </a:p>
          <a:p>
            <a:pPr indent="0" algn="just">
              <a:lnSpc>
                <a:spcPct val="120000"/>
              </a:lnSpc>
              <a:buClrTx/>
              <a:buSzTx/>
              <a:buFont typeface="Arial" panose="020B0604020202020204" pitchFamily="34" charset="0"/>
              <a:buNone/>
            </a:pPr>
            <a:endParaRPr lang="zh-CN" altLang="en-US" b="1" dirty="0">
              <a:solidFill>
                <a:schemeClr val="tx1">
                  <a:lumMod val="85000"/>
                  <a:lumOff val="15000"/>
                </a:schemeClr>
              </a:solidFill>
              <a:uFillTx/>
              <a:latin typeface="Times New Roman" panose="02020603050405020304" charset="0"/>
              <a:ea typeface="等线" panose="02010600030101010101" charset="-122"/>
              <a:cs typeface="Times New Roman" panose="02020603050405020304" charset="0"/>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文本框 19"/>
          <p:cNvSpPr txBox="1"/>
          <p:nvPr/>
        </p:nvSpPr>
        <p:spPr>
          <a:xfrm>
            <a:off x="629331" y="148059"/>
            <a:ext cx="3426179" cy="830997"/>
          </a:xfrm>
          <a:prstGeom prst="rect">
            <a:avLst/>
          </a:prstGeom>
          <a:noFill/>
        </p:spPr>
        <p:txBody>
          <a:bodyPr wrap="square" rtlCol="0">
            <a:spAutoFit/>
          </a:bodyPr>
          <a:lstStyle/>
          <a:p>
            <a:pPr lvl="0">
              <a:defRPr/>
            </a:pPr>
            <a:r>
              <a:rPr lang="zh-CN" altLang="en-US" sz="3200" b="1">
                <a:solidFill>
                  <a:schemeClr val="tx1"/>
                </a:solidFill>
                <a:latin typeface="微软雅黑" panose="020B0503020204020204" pitchFamily="34" charset="-122"/>
                <a:ea typeface="微软雅黑" panose="020B0503020204020204" pitchFamily="34" charset="-122"/>
              </a:rPr>
              <a:t>实验设置</a:t>
            </a:r>
            <a:endParaRPr lang="en-US" altLang="zh-CN" sz="3200" b="1">
              <a:solidFill>
                <a:schemeClr val="tx1"/>
              </a:solidFill>
              <a:latin typeface="微软雅黑" panose="020B0503020204020204" pitchFamily="34" charset="-122"/>
              <a:ea typeface="微软雅黑" panose="020B0503020204020204" pitchFamily="34" charset="-122"/>
            </a:endParaRPr>
          </a:p>
          <a:p>
            <a:pPr lvl="0">
              <a:defRPr/>
            </a:pPr>
            <a:r>
              <a:rPr lang="zh-CN" altLang="en-US" sz="1600" b="1">
                <a:latin typeface="微软雅黑" panose="020B0503020204020204" pitchFamily="34" charset="-122"/>
                <a:ea typeface="微软雅黑" panose="020B0503020204020204" pitchFamily="34" charset="-122"/>
              </a:rPr>
              <a:t>单模态遗忘</a:t>
            </a:r>
            <a:endParaRPr lang="zh-CN" altLang="en-US" sz="1600" b="1" dirty="0">
              <a:solidFill>
                <a:schemeClr val="tx1"/>
              </a:solidFill>
              <a:latin typeface="微软雅黑" panose="020B0503020204020204" pitchFamily="34" charset="-122"/>
              <a:ea typeface="微软雅黑" panose="020B0503020204020204" pitchFamily="34" charset="-122"/>
            </a:endParaRPr>
          </a:p>
        </p:txBody>
      </p:sp>
      <p:sp>
        <p:nvSpPr>
          <p:cNvPr id="22" name="矩形: 圆角 21"/>
          <p:cNvSpPr/>
          <p:nvPr/>
        </p:nvSpPr>
        <p:spPr>
          <a:xfrm flipH="1">
            <a:off x="-218450" y="224311"/>
            <a:ext cx="739545" cy="724771"/>
          </a:xfrm>
          <a:prstGeom prst="roundRect">
            <a:avLst>
              <a:gd name="adj" fmla="val 1461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lumMod val="75000"/>
                  <a:lumOff val="25000"/>
                </a:schemeClr>
              </a:solidFill>
            </a:endParaRPr>
          </a:p>
        </p:txBody>
      </p:sp>
      <p:pic>
        <p:nvPicPr>
          <p:cNvPr id="3" name="图片 2"/>
          <p:cNvPicPr>
            <a:picLocks noChangeAspect="1"/>
          </p:cNvPicPr>
          <p:nvPr/>
        </p:nvPicPr>
        <p:blipFill>
          <a:blip r:embed="rId3"/>
          <a:stretch>
            <a:fillRect/>
          </a:stretch>
        </p:blipFill>
        <p:spPr>
          <a:xfrm>
            <a:off x="2757188" y="1363616"/>
            <a:ext cx="6228657" cy="2396315"/>
          </a:xfrm>
          <a:prstGeom prst="rect">
            <a:avLst/>
          </a:prstGeom>
        </p:spPr>
      </p:pic>
      <p:pic>
        <p:nvPicPr>
          <p:cNvPr id="5" name="图片 4"/>
          <p:cNvPicPr>
            <a:picLocks noChangeAspect="1"/>
          </p:cNvPicPr>
          <p:nvPr/>
        </p:nvPicPr>
        <p:blipFill>
          <a:blip r:embed="rId4"/>
          <a:stretch>
            <a:fillRect/>
          </a:stretch>
        </p:blipFill>
        <p:spPr>
          <a:xfrm>
            <a:off x="3197278" y="3907657"/>
            <a:ext cx="5158252" cy="2802284"/>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文本框 19"/>
          <p:cNvSpPr txBox="1"/>
          <p:nvPr/>
        </p:nvSpPr>
        <p:spPr>
          <a:xfrm>
            <a:off x="629331" y="148059"/>
            <a:ext cx="3426179" cy="830997"/>
          </a:xfrm>
          <a:prstGeom prst="rect">
            <a:avLst/>
          </a:prstGeom>
          <a:noFill/>
        </p:spPr>
        <p:txBody>
          <a:bodyPr wrap="square" rtlCol="0">
            <a:spAutoFit/>
          </a:bodyPr>
          <a:lstStyle/>
          <a:p>
            <a:pPr lvl="0">
              <a:defRPr/>
            </a:pPr>
            <a:r>
              <a:rPr lang="zh-CN" altLang="en-US" sz="3200" b="1">
                <a:solidFill>
                  <a:schemeClr val="tx1"/>
                </a:solidFill>
                <a:latin typeface="微软雅黑" panose="020B0503020204020204" pitchFamily="34" charset="-122"/>
                <a:ea typeface="微软雅黑" panose="020B0503020204020204" pitchFamily="34" charset="-122"/>
              </a:rPr>
              <a:t>实验设置</a:t>
            </a:r>
            <a:endParaRPr lang="en-US" altLang="zh-CN" sz="3200" b="1">
              <a:solidFill>
                <a:schemeClr val="tx1"/>
              </a:solidFill>
              <a:latin typeface="微软雅黑" panose="020B0503020204020204" pitchFamily="34" charset="-122"/>
              <a:ea typeface="微软雅黑" panose="020B0503020204020204" pitchFamily="34" charset="-122"/>
            </a:endParaRPr>
          </a:p>
          <a:p>
            <a:pPr lvl="0">
              <a:defRPr/>
            </a:pPr>
            <a:r>
              <a:rPr lang="zh-CN" altLang="en-US" sz="1600" b="1">
                <a:latin typeface="微软雅黑" panose="020B0503020204020204" pitchFamily="34" charset="-122"/>
                <a:ea typeface="微软雅黑" panose="020B0503020204020204" pitchFamily="34" charset="-122"/>
              </a:rPr>
              <a:t>多模态遗忘</a:t>
            </a:r>
            <a:endParaRPr lang="zh-CN" altLang="en-US" sz="1600" b="1" dirty="0">
              <a:solidFill>
                <a:schemeClr val="tx1"/>
              </a:solidFill>
              <a:latin typeface="微软雅黑" panose="020B0503020204020204" pitchFamily="34" charset="-122"/>
              <a:ea typeface="微软雅黑" panose="020B0503020204020204" pitchFamily="34" charset="-122"/>
            </a:endParaRPr>
          </a:p>
        </p:txBody>
      </p:sp>
      <p:sp>
        <p:nvSpPr>
          <p:cNvPr id="22" name="矩形: 圆角 21"/>
          <p:cNvSpPr/>
          <p:nvPr/>
        </p:nvSpPr>
        <p:spPr>
          <a:xfrm flipH="1">
            <a:off x="-218450" y="224311"/>
            <a:ext cx="739545" cy="724771"/>
          </a:xfrm>
          <a:prstGeom prst="roundRect">
            <a:avLst>
              <a:gd name="adj" fmla="val 1461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lumMod val="75000"/>
                  <a:lumOff val="25000"/>
                </a:schemeClr>
              </a:solidFill>
            </a:endParaRPr>
          </a:p>
        </p:txBody>
      </p:sp>
      <p:pic>
        <p:nvPicPr>
          <p:cNvPr id="4" name="图片 3"/>
          <p:cNvPicPr>
            <a:picLocks noChangeAspect="1"/>
          </p:cNvPicPr>
          <p:nvPr/>
        </p:nvPicPr>
        <p:blipFill>
          <a:blip r:embed="rId3"/>
          <a:stretch>
            <a:fillRect/>
          </a:stretch>
        </p:blipFill>
        <p:spPr>
          <a:xfrm>
            <a:off x="1714086" y="2993964"/>
            <a:ext cx="8763828" cy="3202168"/>
          </a:xfrm>
          <a:prstGeom prst="rect">
            <a:avLst/>
          </a:prstGeom>
        </p:spPr>
      </p:pic>
      <p:sp>
        <p:nvSpPr>
          <p:cNvPr id="6" name="文本框 5"/>
          <p:cNvSpPr txBox="1"/>
          <p:nvPr/>
        </p:nvSpPr>
        <p:spPr>
          <a:xfrm>
            <a:off x="629331" y="1332489"/>
            <a:ext cx="8237855" cy="1780744"/>
          </a:xfrm>
          <a:prstGeom prst="rect">
            <a:avLst/>
          </a:prstGeom>
        </p:spPr>
        <p:txBody>
          <a:bodyPr wrap="square">
            <a:spAutoFit/>
          </a:bodyPr>
          <a:lstStyle/>
          <a:p>
            <a:r>
              <a:rPr lang="zh-CN" altLang="en-US" b="1">
                <a:latin typeface="Times New Roman" panose="02020603050405020304" charset="0"/>
                <a:ea typeface="等线" panose="02010600030101010101" charset="-122"/>
              </a:rPr>
              <a:t>核心发现：</a:t>
            </a:r>
            <a:endParaRPr lang="en-US" altLang="zh-CN" b="1">
              <a:latin typeface="Times New Roman" panose="02020603050405020304" charset="0"/>
              <a:ea typeface="等线" panose="02010600030101010101" charset="-122"/>
            </a:endParaRPr>
          </a:p>
          <a:p>
            <a:pPr marL="285750" indent="-285750">
              <a:buFont typeface="Arial" panose="020B0604020202020204" pitchFamily="34" charset="0"/>
              <a:buChar char="•"/>
            </a:pPr>
            <a:r>
              <a:rPr lang="zh-CN" altLang="en-US" b="1">
                <a:latin typeface="Times New Roman" panose="02020603050405020304" charset="0"/>
                <a:ea typeface="等线" panose="02010600030101010101" charset="-122"/>
              </a:rPr>
              <a:t>在更复杂的多模态数据集上 </a:t>
            </a:r>
            <a:r>
              <a:rPr lang="en-US" altLang="zh-CN" b="1">
                <a:latin typeface="Times New Roman" panose="02020603050405020304" charset="0"/>
                <a:ea typeface="等线" panose="02010600030101010101" charset="-122"/>
              </a:rPr>
              <a:t>(NYPD, MIMIC-CXR, SHED)</a:t>
            </a:r>
            <a:r>
              <a:rPr lang="zh-CN" altLang="en-US" b="1">
                <a:latin typeface="Times New Roman" panose="02020603050405020304" charset="0"/>
                <a:ea typeface="等线" panose="02010600030101010101" charset="-122"/>
              </a:rPr>
              <a:t>，</a:t>
            </a:r>
            <a:r>
              <a:rPr lang="en-US" altLang="zh-CN" b="1">
                <a:latin typeface="Times New Roman" panose="02020603050405020304" charset="0"/>
                <a:ea typeface="等线" panose="02010600030101010101" charset="-122"/>
              </a:rPr>
              <a:t>FRAMU </a:t>
            </a:r>
            <a:r>
              <a:rPr lang="zh-CN" altLang="en-US" b="1">
                <a:latin typeface="Times New Roman" panose="02020603050405020304" charset="0"/>
                <a:ea typeface="等线" panose="02010600030101010101" charset="-122"/>
              </a:rPr>
              <a:t>同样在各种遗忘场景下，</a:t>
            </a:r>
            <a:r>
              <a:rPr lang="en-US" altLang="zh-CN" b="1">
                <a:latin typeface="Times New Roman" panose="02020603050405020304" charset="0"/>
                <a:ea typeface="等线" panose="02010600030101010101" charset="-122"/>
              </a:rPr>
              <a:t>MSE </a:t>
            </a:r>
            <a:r>
              <a:rPr lang="zh-CN" altLang="en-US" b="1">
                <a:latin typeface="Times New Roman" panose="02020603050405020304" charset="0"/>
                <a:ea typeface="等线" panose="02010600030101010101" charset="-122"/>
              </a:rPr>
              <a:t>和 </a:t>
            </a:r>
            <a:r>
              <a:rPr lang="en-US" altLang="zh-CN" b="1">
                <a:latin typeface="Times New Roman" panose="02020603050405020304" charset="0"/>
                <a:ea typeface="等线" panose="02010600030101010101" charset="-122"/>
              </a:rPr>
              <a:t>MAE </a:t>
            </a:r>
            <a:r>
              <a:rPr lang="zh-CN" altLang="en-US" b="1">
                <a:latin typeface="Times New Roman" panose="02020603050405020304" charset="0"/>
                <a:ea typeface="等线" panose="02010600030101010101" charset="-122"/>
              </a:rPr>
              <a:t>全面优于基线模型 </a:t>
            </a:r>
            <a:r>
              <a:rPr lang="en-US" altLang="zh-CN" b="1">
                <a:latin typeface="Times New Roman" panose="02020603050405020304" charset="0"/>
                <a:ea typeface="等线" panose="02010600030101010101" charset="-122"/>
              </a:rPr>
              <a:t>(p&lt;0.05)</a:t>
            </a:r>
            <a:r>
              <a:rPr lang="zh-CN" altLang="en-US" b="1">
                <a:latin typeface="Times New Roman" panose="02020603050405020304" charset="0"/>
                <a:ea typeface="等线" panose="02010600030101010101" charset="-122"/>
              </a:rPr>
              <a:t>。</a:t>
            </a:r>
          </a:p>
          <a:p>
            <a:pPr marL="285750" indent="-285750">
              <a:buFont typeface="Arial" panose="020B0604020202020204" pitchFamily="34" charset="0"/>
              <a:buChar char="•"/>
            </a:pPr>
            <a:r>
              <a:rPr lang="zh-CN" altLang="en-US" b="1">
                <a:latin typeface="Times New Roman" panose="02020603050405020304" charset="0"/>
                <a:ea typeface="等线" panose="02010600030101010101" charset="-122"/>
              </a:rPr>
              <a:t>遗忘质量指标 </a:t>
            </a:r>
            <a:r>
              <a:rPr lang="en-US" altLang="zh-CN" b="1">
                <a:latin typeface="Times New Roman" panose="02020603050405020304" charset="0"/>
                <a:ea typeface="等线" panose="02010600030101010101" charset="-122"/>
              </a:rPr>
              <a:t>RE </a:t>
            </a:r>
            <a:r>
              <a:rPr lang="zh-CN" altLang="en-US" b="1">
                <a:latin typeface="Times New Roman" panose="02020603050405020304" charset="0"/>
                <a:ea typeface="等线" panose="02010600030101010101" charset="-122"/>
              </a:rPr>
              <a:t>和 </a:t>
            </a:r>
            <a:r>
              <a:rPr lang="en-US" altLang="zh-CN" b="1">
                <a:latin typeface="Times New Roman" panose="02020603050405020304" charset="0"/>
                <a:ea typeface="等线" panose="02010600030101010101" charset="-122"/>
              </a:rPr>
              <a:t>AD </a:t>
            </a:r>
            <a:r>
              <a:rPr lang="zh-CN" altLang="en-US" b="1">
                <a:latin typeface="Times New Roman" panose="02020603050405020304" charset="0"/>
                <a:ea typeface="等线" panose="02010600030101010101" charset="-122"/>
              </a:rPr>
              <a:t>再次验证 </a:t>
            </a:r>
            <a:r>
              <a:rPr lang="en-US" altLang="zh-CN" b="1">
                <a:latin typeface="Times New Roman" panose="02020603050405020304" charset="0"/>
                <a:ea typeface="等线" panose="02010600030101010101" charset="-122"/>
              </a:rPr>
              <a:t>FRAMU </a:t>
            </a:r>
            <a:r>
              <a:rPr lang="zh-CN" altLang="en-US" b="1">
                <a:latin typeface="Times New Roman" panose="02020603050405020304" charset="0"/>
                <a:ea typeface="等线" panose="02010600030101010101" charset="-122"/>
              </a:rPr>
              <a:t>的领先地位。</a:t>
            </a:r>
          </a:p>
          <a:p>
            <a:pPr marL="285750" indent="-285750">
              <a:buFont typeface="Arial" panose="020B0604020202020204" pitchFamily="34" charset="0"/>
              <a:buChar char="•"/>
            </a:pPr>
            <a:r>
              <a:rPr lang="zh-CN" altLang="en-US" b="1">
                <a:latin typeface="Times New Roman" panose="02020603050405020304" charset="0"/>
                <a:ea typeface="等线" panose="02010600030101010101" charset="-122"/>
              </a:rPr>
              <a:t>误差差异 </a:t>
            </a:r>
            <a:r>
              <a:rPr lang="en-US" altLang="zh-CN" b="1">
                <a:latin typeface="Times New Roman" panose="02020603050405020304" charset="0"/>
                <a:ea typeface="等线" panose="02010600030101010101" charset="-122"/>
              </a:rPr>
              <a:t>FRAMU </a:t>
            </a:r>
            <a:r>
              <a:rPr lang="zh-CN" altLang="en-US" b="1">
                <a:latin typeface="Times New Roman" panose="02020603050405020304" charset="0"/>
                <a:ea typeface="等线" panose="02010600030101010101" charset="-122"/>
              </a:rPr>
              <a:t>在多模态上响应依然最强。</a:t>
            </a:r>
          </a:p>
          <a:p>
            <a:pPr indent="0" algn="just">
              <a:lnSpc>
                <a:spcPct val="120000"/>
              </a:lnSpc>
              <a:buClrTx/>
              <a:buSzTx/>
              <a:buFont typeface="Arial" panose="020B0604020202020204" pitchFamily="34" charset="0"/>
              <a:buNone/>
            </a:pPr>
            <a:endParaRPr lang="zh-CN" altLang="en-US" b="1" dirty="0">
              <a:solidFill>
                <a:schemeClr val="tx1">
                  <a:lumMod val="85000"/>
                  <a:lumOff val="15000"/>
                </a:schemeClr>
              </a:solidFill>
              <a:uFillTx/>
              <a:latin typeface="Times New Roman" panose="02020603050405020304" charset="0"/>
              <a:ea typeface="等线" panose="02010600030101010101" charset="-122"/>
              <a:cs typeface="Times New Roman" panose="02020603050405020304" charset="0"/>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文本框 19"/>
          <p:cNvSpPr txBox="1"/>
          <p:nvPr/>
        </p:nvSpPr>
        <p:spPr>
          <a:xfrm>
            <a:off x="629331" y="148059"/>
            <a:ext cx="3426179" cy="830997"/>
          </a:xfrm>
          <a:prstGeom prst="rect">
            <a:avLst/>
          </a:prstGeom>
          <a:noFill/>
        </p:spPr>
        <p:txBody>
          <a:bodyPr wrap="square" rtlCol="0">
            <a:spAutoFit/>
          </a:bodyPr>
          <a:lstStyle/>
          <a:p>
            <a:pPr lvl="0">
              <a:defRPr/>
            </a:pPr>
            <a:r>
              <a:rPr lang="zh-CN" altLang="en-US" sz="3200" b="1">
                <a:solidFill>
                  <a:schemeClr val="tx1"/>
                </a:solidFill>
                <a:latin typeface="微软雅黑" panose="020B0503020204020204" pitchFamily="34" charset="-122"/>
                <a:ea typeface="微软雅黑" panose="020B0503020204020204" pitchFamily="34" charset="-122"/>
              </a:rPr>
              <a:t>实验设置</a:t>
            </a:r>
            <a:endParaRPr lang="en-US" altLang="zh-CN" sz="3200" b="1">
              <a:solidFill>
                <a:schemeClr val="tx1"/>
              </a:solidFill>
              <a:latin typeface="微软雅黑" panose="020B0503020204020204" pitchFamily="34" charset="-122"/>
              <a:ea typeface="微软雅黑" panose="020B0503020204020204" pitchFamily="34" charset="-122"/>
            </a:endParaRPr>
          </a:p>
          <a:p>
            <a:pPr lvl="0">
              <a:defRPr/>
            </a:pPr>
            <a:r>
              <a:rPr lang="zh-CN" altLang="en-US" sz="1600" b="1">
                <a:latin typeface="微软雅黑" panose="020B0503020204020204" pitchFamily="34" charset="-122"/>
                <a:ea typeface="微软雅黑" panose="020B0503020204020204" pitchFamily="34" charset="-122"/>
              </a:rPr>
              <a:t>多模态遗忘</a:t>
            </a:r>
            <a:endParaRPr lang="zh-CN" altLang="en-US" sz="1600" b="1" dirty="0">
              <a:solidFill>
                <a:schemeClr val="tx1"/>
              </a:solidFill>
              <a:latin typeface="微软雅黑" panose="020B0503020204020204" pitchFamily="34" charset="-122"/>
              <a:ea typeface="微软雅黑" panose="020B0503020204020204" pitchFamily="34" charset="-122"/>
            </a:endParaRPr>
          </a:p>
        </p:txBody>
      </p:sp>
      <p:sp>
        <p:nvSpPr>
          <p:cNvPr id="22" name="矩形: 圆角 21"/>
          <p:cNvSpPr/>
          <p:nvPr/>
        </p:nvSpPr>
        <p:spPr>
          <a:xfrm flipH="1">
            <a:off x="-218450" y="224311"/>
            <a:ext cx="739545" cy="724771"/>
          </a:xfrm>
          <a:prstGeom prst="roundRect">
            <a:avLst>
              <a:gd name="adj" fmla="val 1461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lumMod val="75000"/>
                  <a:lumOff val="25000"/>
                </a:schemeClr>
              </a:solidFill>
            </a:endParaRPr>
          </a:p>
        </p:txBody>
      </p:sp>
      <p:pic>
        <p:nvPicPr>
          <p:cNvPr id="4" name="图片 3"/>
          <p:cNvPicPr>
            <a:picLocks noChangeAspect="1"/>
          </p:cNvPicPr>
          <p:nvPr/>
        </p:nvPicPr>
        <p:blipFill>
          <a:blip r:embed="rId3"/>
          <a:stretch>
            <a:fillRect/>
          </a:stretch>
        </p:blipFill>
        <p:spPr>
          <a:xfrm>
            <a:off x="3228353" y="4015409"/>
            <a:ext cx="4672073" cy="2534478"/>
          </a:xfrm>
          <a:prstGeom prst="rect">
            <a:avLst/>
          </a:prstGeom>
        </p:spPr>
      </p:pic>
      <p:pic>
        <p:nvPicPr>
          <p:cNvPr id="7" name="图片 6"/>
          <p:cNvPicPr>
            <a:picLocks noChangeAspect="1"/>
          </p:cNvPicPr>
          <p:nvPr/>
        </p:nvPicPr>
        <p:blipFill>
          <a:blip r:embed="rId4"/>
          <a:stretch>
            <a:fillRect/>
          </a:stretch>
        </p:blipFill>
        <p:spPr>
          <a:xfrm>
            <a:off x="3228353" y="1124390"/>
            <a:ext cx="5176424" cy="2745685"/>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文本框 19"/>
          <p:cNvSpPr txBox="1"/>
          <p:nvPr/>
        </p:nvSpPr>
        <p:spPr>
          <a:xfrm>
            <a:off x="521095" y="293393"/>
            <a:ext cx="3426179" cy="830997"/>
          </a:xfrm>
          <a:prstGeom prst="rect">
            <a:avLst/>
          </a:prstGeom>
          <a:noFill/>
        </p:spPr>
        <p:txBody>
          <a:bodyPr wrap="square" rtlCol="0">
            <a:spAutoFit/>
          </a:bodyPr>
          <a:lstStyle/>
          <a:p>
            <a:pPr lvl="0">
              <a:defRPr/>
            </a:pPr>
            <a:r>
              <a:rPr lang="zh-CN" altLang="en-US" sz="3200" b="1">
                <a:latin typeface="微软雅黑" panose="020B0503020204020204" pitchFamily="34" charset="-122"/>
                <a:ea typeface="微软雅黑" panose="020B0503020204020204" pitchFamily="34" charset="-122"/>
              </a:rPr>
              <a:t>结论与讨论</a:t>
            </a:r>
            <a:endParaRPr lang="en-US" altLang="zh-CN" sz="3200" b="1">
              <a:solidFill>
                <a:schemeClr val="tx1"/>
              </a:solidFill>
              <a:latin typeface="微软雅黑" panose="020B0503020204020204" pitchFamily="34" charset="-122"/>
              <a:ea typeface="微软雅黑" panose="020B0503020204020204" pitchFamily="34" charset="-122"/>
            </a:endParaRPr>
          </a:p>
          <a:p>
            <a:pPr lvl="0">
              <a:defRPr/>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
        <p:nvSpPr>
          <p:cNvPr id="22" name="矩形: 圆角 21"/>
          <p:cNvSpPr/>
          <p:nvPr/>
        </p:nvSpPr>
        <p:spPr>
          <a:xfrm flipH="1">
            <a:off x="-218450" y="224311"/>
            <a:ext cx="739545" cy="724771"/>
          </a:xfrm>
          <a:prstGeom prst="roundRect">
            <a:avLst>
              <a:gd name="adj" fmla="val 1461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lumMod val="75000"/>
                  <a:lumOff val="25000"/>
                </a:schemeClr>
              </a:solidFill>
            </a:endParaRPr>
          </a:p>
        </p:txBody>
      </p:sp>
      <p:sp>
        <p:nvSpPr>
          <p:cNvPr id="2" name="文本框 1"/>
          <p:cNvSpPr txBox="1"/>
          <p:nvPr/>
        </p:nvSpPr>
        <p:spPr>
          <a:xfrm>
            <a:off x="629331" y="1332489"/>
            <a:ext cx="8727320" cy="5381730"/>
          </a:xfrm>
          <a:prstGeom prst="rect">
            <a:avLst/>
          </a:prstGeom>
        </p:spPr>
        <p:txBody>
          <a:bodyPr wrap="square">
            <a:spAutoFit/>
          </a:bodyPr>
          <a:lstStyle/>
          <a:p>
            <a:r>
              <a:rPr lang="zh-CN" altLang="en-US" b="1">
                <a:latin typeface="Times New Roman" panose="02020603050405020304" charset="0"/>
                <a:ea typeface="等线" panose="02010600030101010101" charset="-122"/>
              </a:rPr>
              <a:t>总结：</a:t>
            </a:r>
            <a:endParaRPr lang="en-US" altLang="zh-CN" b="1">
              <a:latin typeface="Times New Roman" panose="02020603050405020304" charset="0"/>
              <a:ea typeface="等线" panose="02010600030101010101" charset="-122"/>
            </a:endParaRPr>
          </a:p>
          <a:p>
            <a:r>
              <a:rPr lang="en-US" altLang="zh-CN" b="1">
                <a:latin typeface="Times New Roman" panose="02020603050405020304" charset="0"/>
                <a:ea typeface="等线" panose="02010600030101010101" charset="-122"/>
              </a:rPr>
              <a:t>FRAMU </a:t>
            </a:r>
            <a:r>
              <a:rPr lang="zh-CN" altLang="en-US" b="1">
                <a:latin typeface="Times New Roman" panose="02020603050405020304" charset="0"/>
                <a:ea typeface="等线" panose="02010600030101010101" charset="-122"/>
              </a:rPr>
              <a:t>框架有效结合 </a:t>
            </a:r>
            <a:r>
              <a:rPr lang="en-US" altLang="zh-CN" b="1">
                <a:latin typeface="Times New Roman" panose="02020603050405020304" charset="0"/>
                <a:ea typeface="等线" panose="02010600030101010101" charset="-122"/>
              </a:rPr>
              <a:t>FL + RL + Attention</a:t>
            </a:r>
            <a:r>
              <a:rPr lang="zh-CN" altLang="en-US" b="1">
                <a:latin typeface="Times New Roman" panose="02020603050405020304" charset="0"/>
                <a:ea typeface="等线" panose="02010600030101010101" charset="-122"/>
              </a:rPr>
              <a:t> 实现自适应机器遗忘。</a:t>
            </a:r>
          </a:p>
          <a:p>
            <a:r>
              <a:rPr lang="zh-CN" altLang="en-US" b="1">
                <a:latin typeface="Times New Roman" panose="02020603050405020304" charset="0"/>
                <a:ea typeface="等线" panose="02010600030101010101" charset="-122"/>
              </a:rPr>
              <a:t>在单模态和多模态场景下，高效处理过时、隐私、无关数据，性能优越。</a:t>
            </a:r>
            <a:endParaRPr lang="en-US" altLang="zh-CN" b="1">
              <a:latin typeface="Times New Roman" panose="02020603050405020304" charset="0"/>
              <a:ea typeface="等线" panose="02010600030101010101" charset="-122"/>
            </a:endParaRPr>
          </a:p>
          <a:p>
            <a:endParaRPr lang="en-US" altLang="zh-CN" b="1">
              <a:latin typeface="Times New Roman" panose="02020603050405020304" charset="0"/>
              <a:ea typeface="等线" panose="02010600030101010101" charset="-122"/>
            </a:endParaRPr>
          </a:p>
          <a:p>
            <a:r>
              <a:rPr lang="zh-CN" altLang="en-US" b="1">
                <a:latin typeface="Times New Roman" panose="02020603050405020304" charset="0"/>
                <a:ea typeface="等线" panose="02010600030101010101" charset="-122"/>
              </a:rPr>
              <a:t>关键发现：</a:t>
            </a:r>
            <a:endParaRPr lang="en-US" altLang="zh-CN" b="1">
              <a:latin typeface="Times New Roman" panose="02020603050405020304" charset="0"/>
              <a:ea typeface="等线" panose="02010600030101010101" charset="-122"/>
            </a:endParaRPr>
          </a:p>
          <a:p>
            <a:pPr marL="285750" indent="-285750">
              <a:buFont typeface="Arial" panose="020B0604020202020204" pitchFamily="34" charset="0"/>
              <a:buChar char="•"/>
            </a:pPr>
            <a:r>
              <a:rPr lang="zh-CN" altLang="en-US" b="1">
                <a:latin typeface="Times New Roman" panose="02020603050405020304" charset="0"/>
                <a:ea typeface="等线" panose="02010600030101010101" charset="-122"/>
              </a:rPr>
              <a:t>量化证明了注意力机制作为核心驱动力，在指导选择性遗忘中的有效性与优势。</a:t>
            </a:r>
          </a:p>
          <a:p>
            <a:pPr marL="285750" indent="-285750">
              <a:buFont typeface="Arial" panose="020B0604020202020204" pitchFamily="34" charset="0"/>
              <a:buChar char="•"/>
            </a:pPr>
            <a:r>
              <a:rPr lang="zh-CN" altLang="en-US" b="1">
                <a:latin typeface="Times New Roman" panose="02020603050405020304" charset="0"/>
                <a:ea typeface="等线" panose="02010600030101010101" charset="-122"/>
              </a:rPr>
              <a:t>验证了 </a:t>
            </a:r>
            <a:r>
              <a:rPr lang="en-US" altLang="zh-CN" b="1">
                <a:latin typeface="Times New Roman" panose="02020603050405020304" charset="0"/>
                <a:ea typeface="等线" panose="02010600030101010101" charset="-122"/>
              </a:rPr>
              <a:t>FL+RL+Attention</a:t>
            </a:r>
            <a:r>
              <a:rPr lang="zh-CN" altLang="en-US" b="1">
                <a:latin typeface="Times New Roman" panose="02020603050405020304" charset="0"/>
                <a:ea typeface="等线" panose="02010600030101010101" charset="-122"/>
              </a:rPr>
              <a:t> 这一组合在解决分布式动态遗忘任务上的可行性与潜力。</a:t>
            </a:r>
            <a:endParaRPr lang="en-US" altLang="zh-CN" b="1">
              <a:latin typeface="Times New Roman" panose="02020603050405020304" charset="0"/>
              <a:ea typeface="等线" panose="02010600030101010101" charset="-122"/>
            </a:endParaRPr>
          </a:p>
          <a:p>
            <a:endParaRPr lang="en-US" altLang="zh-CN" b="1">
              <a:latin typeface="Times New Roman" panose="02020603050405020304" charset="0"/>
              <a:ea typeface="等线" panose="02010600030101010101" charset="-122"/>
            </a:endParaRPr>
          </a:p>
          <a:p>
            <a:r>
              <a:rPr lang="zh-CN" altLang="en-US" b="1">
                <a:latin typeface="Times New Roman" panose="02020603050405020304" charset="0"/>
                <a:ea typeface="等线" panose="02010600030101010101" charset="-122"/>
              </a:rPr>
              <a:t> 研究意义</a:t>
            </a:r>
            <a:r>
              <a:rPr lang="en-US" altLang="zh-CN" b="1">
                <a:latin typeface="Times New Roman" panose="02020603050405020304" charset="0"/>
                <a:ea typeface="等线" panose="02010600030101010101" charset="-122"/>
              </a:rPr>
              <a:t>:</a:t>
            </a:r>
          </a:p>
          <a:p>
            <a:pPr marL="285750" indent="-285750">
              <a:buFont typeface="Arial" panose="020B0604020202020204" pitchFamily="34" charset="0"/>
              <a:buChar char="•"/>
            </a:pPr>
            <a:r>
              <a:rPr lang="zh-CN" altLang="en-US" b="1">
                <a:latin typeface="Times New Roman" panose="02020603050405020304" charset="0"/>
                <a:ea typeface="等线" panose="02010600030101010101" charset="-122"/>
              </a:rPr>
              <a:t>为实现“被遗忘权”和保持模型时效性提供了新的技术路径。</a:t>
            </a:r>
          </a:p>
          <a:p>
            <a:pPr marL="285750" indent="-285750">
              <a:buFont typeface="Arial" panose="020B0604020202020204" pitchFamily="34" charset="0"/>
              <a:buChar char="•"/>
            </a:pPr>
            <a:r>
              <a:rPr lang="zh-CN" altLang="en-US" b="1">
                <a:latin typeface="Times New Roman" panose="02020603050405020304" charset="0"/>
                <a:ea typeface="等线" panose="02010600030101010101" charset="-122"/>
              </a:rPr>
              <a:t>促进了 </a:t>
            </a:r>
            <a:r>
              <a:rPr lang="en-US" altLang="zh-CN" b="1">
                <a:latin typeface="Times New Roman" panose="02020603050405020304" charset="0"/>
                <a:ea typeface="等线" panose="02010600030101010101" charset="-122"/>
              </a:rPr>
              <a:t>FL, RL, Attention</a:t>
            </a:r>
            <a:r>
              <a:rPr lang="zh-CN" altLang="en-US" b="1">
                <a:latin typeface="Times New Roman" panose="02020603050405020304" charset="0"/>
                <a:ea typeface="等线" panose="02010600030101010101" charset="-122"/>
              </a:rPr>
              <a:t> 三大领域技术的交叉融合与应用探索。 </a:t>
            </a:r>
            <a:endParaRPr lang="en-US" altLang="zh-CN" b="1">
              <a:latin typeface="Times New Roman" panose="02020603050405020304" charset="0"/>
              <a:ea typeface="等线" panose="02010600030101010101" charset="-122"/>
            </a:endParaRPr>
          </a:p>
          <a:p>
            <a:endParaRPr lang="en-US" altLang="zh-CN" b="1">
              <a:latin typeface="Times New Roman" panose="02020603050405020304" charset="0"/>
              <a:ea typeface="等线" panose="02010600030101010101" charset="-122"/>
            </a:endParaRPr>
          </a:p>
          <a:p>
            <a:r>
              <a:rPr lang="zh-CN" altLang="en-US" b="1">
                <a:latin typeface="Times New Roman" panose="02020603050405020304" charset="0"/>
                <a:ea typeface="等线" panose="02010600030101010101" charset="-122"/>
              </a:rPr>
              <a:t>局限性</a:t>
            </a:r>
            <a:r>
              <a:rPr lang="en-US" altLang="zh-CN" b="1">
                <a:latin typeface="Times New Roman" panose="02020603050405020304" charset="0"/>
                <a:ea typeface="等线" panose="02010600030101010101" charset="-122"/>
              </a:rPr>
              <a:t>: </a:t>
            </a:r>
          </a:p>
          <a:p>
            <a:pPr marL="285750" indent="-285750">
              <a:buFont typeface="Arial" panose="020B0604020202020204" pitchFamily="34" charset="0"/>
              <a:buChar char="•"/>
            </a:pPr>
            <a:r>
              <a:rPr lang="zh-CN" altLang="en-US" b="1">
                <a:latin typeface="Times New Roman" panose="02020603050405020304" charset="0"/>
                <a:ea typeface="等线" panose="02010600030101010101" charset="-122"/>
              </a:rPr>
              <a:t>计算复杂度</a:t>
            </a:r>
            <a:r>
              <a:rPr lang="en-US" altLang="zh-CN" b="1">
                <a:latin typeface="Times New Roman" panose="02020603050405020304" charset="0"/>
                <a:ea typeface="等线" panose="02010600030101010101" charset="-122"/>
              </a:rPr>
              <a:t>, </a:t>
            </a:r>
            <a:r>
              <a:rPr lang="zh-CN" altLang="en-US" b="1">
                <a:latin typeface="Times New Roman" panose="02020603050405020304" charset="0"/>
                <a:ea typeface="等线" panose="02010600030101010101" charset="-122"/>
              </a:rPr>
              <a:t>大规模场景下的可扩展性</a:t>
            </a:r>
            <a:r>
              <a:rPr lang="en-US" altLang="zh-CN" b="1">
                <a:latin typeface="Times New Roman" panose="02020603050405020304" charset="0"/>
                <a:ea typeface="等线" panose="02010600030101010101" charset="-122"/>
              </a:rPr>
              <a:t>, </a:t>
            </a:r>
            <a:r>
              <a:rPr lang="zh-CN" altLang="en-US" b="1">
                <a:latin typeface="Times New Roman" panose="02020603050405020304" charset="0"/>
                <a:ea typeface="等线" panose="02010600030101010101" charset="-122"/>
              </a:rPr>
              <a:t>超参数敏感性与调优等仍是挑战。</a:t>
            </a:r>
            <a:endParaRPr lang="en-US" altLang="zh-CN" b="1">
              <a:latin typeface="Times New Roman" panose="02020603050405020304" charset="0"/>
              <a:ea typeface="等线" panose="02010600030101010101" charset="-122"/>
            </a:endParaRPr>
          </a:p>
          <a:p>
            <a:endParaRPr lang="en-US" altLang="zh-CN" b="1">
              <a:latin typeface="Times New Roman" panose="02020603050405020304" charset="0"/>
              <a:ea typeface="等线" panose="02010600030101010101" charset="-122"/>
            </a:endParaRPr>
          </a:p>
          <a:p>
            <a:r>
              <a:rPr lang="zh-CN" altLang="en-US" b="1">
                <a:latin typeface="Times New Roman" panose="02020603050405020304" charset="0"/>
                <a:ea typeface="等线" panose="02010600030101010101" charset="-122"/>
              </a:rPr>
              <a:t>未来工作</a:t>
            </a:r>
            <a:r>
              <a:rPr lang="en-US" altLang="zh-CN" b="1">
                <a:latin typeface="Times New Roman" panose="02020603050405020304" charset="0"/>
                <a:ea typeface="等线" panose="02010600030101010101" charset="-122"/>
              </a:rPr>
              <a:t>: </a:t>
            </a:r>
          </a:p>
          <a:p>
            <a:pPr marL="285750" indent="-285750">
              <a:buFont typeface="Arial" panose="020B0604020202020204" pitchFamily="34" charset="0"/>
              <a:buChar char="•"/>
            </a:pPr>
            <a:r>
              <a:rPr lang="zh-CN" altLang="en-US" b="1">
                <a:latin typeface="Times New Roman" panose="02020603050405020304" charset="0"/>
                <a:ea typeface="等线" panose="02010600030101010101" charset="-122"/>
              </a:rPr>
              <a:t>优化遗忘操作的计算效率</a:t>
            </a:r>
            <a:r>
              <a:rPr lang="en-US" altLang="zh-CN" b="1">
                <a:latin typeface="Times New Roman" panose="02020603050405020304" charset="0"/>
                <a:ea typeface="等线" panose="02010600030101010101" charset="-122"/>
              </a:rPr>
              <a:t>, </a:t>
            </a:r>
            <a:r>
              <a:rPr lang="zh-CN" altLang="en-US" b="1">
                <a:latin typeface="Times New Roman" panose="02020603050405020304" charset="0"/>
                <a:ea typeface="等线" panose="02010600030101010101" charset="-122"/>
              </a:rPr>
              <a:t>提升框架在超大规模联邦网络中的应用能力</a:t>
            </a:r>
            <a:r>
              <a:rPr lang="en-US" altLang="zh-CN" b="1">
                <a:latin typeface="Times New Roman" panose="02020603050405020304" charset="0"/>
                <a:ea typeface="等线" panose="02010600030101010101" charset="-122"/>
              </a:rPr>
              <a:t>, </a:t>
            </a:r>
            <a:r>
              <a:rPr lang="zh-CN" altLang="en-US" b="1">
                <a:latin typeface="Times New Roman" panose="02020603050405020304" charset="0"/>
                <a:ea typeface="等线" panose="02010600030101010101" charset="-122"/>
              </a:rPr>
              <a:t>探索更智能的自适应策略。</a:t>
            </a:r>
          </a:p>
          <a:p>
            <a:pPr indent="0" algn="just">
              <a:lnSpc>
                <a:spcPct val="120000"/>
              </a:lnSpc>
              <a:buClrTx/>
              <a:buSzTx/>
              <a:buFont typeface="Arial" panose="020B0604020202020204" pitchFamily="34" charset="0"/>
              <a:buNone/>
            </a:pPr>
            <a:endParaRPr lang="zh-CN" altLang="en-US" b="1" dirty="0">
              <a:solidFill>
                <a:schemeClr val="tx1">
                  <a:lumMod val="85000"/>
                  <a:lumOff val="15000"/>
                </a:schemeClr>
              </a:solidFill>
              <a:uFillTx/>
              <a:latin typeface="Times New Roman" panose="02020603050405020304" charset="0"/>
              <a:ea typeface="等线" panose="02010600030101010101" charset="-122"/>
              <a:cs typeface="Times New Roman" panose="02020603050405020304" charset="0"/>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直角三角形 3"/>
          <p:cNvSpPr/>
          <p:nvPr/>
        </p:nvSpPr>
        <p:spPr>
          <a:xfrm flipV="1">
            <a:off x="-1" y="-2"/>
            <a:ext cx="3310360" cy="3310360"/>
          </a:xfrm>
          <a:prstGeom prst="r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nvSpPr>
        <p:spPr>
          <a:xfrm rot="18900000" flipH="1">
            <a:off x="-1125758" y="1252138"/>
            <a:ext cx="4421529" cy="22132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直角三角形 7"/>
          <p:cNvSpPr/>
          <p:nvPr/>
        </p:nvSpPr>
        <p:spPr>
          <a:xfrm flipH="1">
            <a:off x="8881640" y="3547640"/>
            <a:ext cx="3310360" cy="3310360"/>
          </a:xfrm>
          <a:prstGeom prst="r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rot="18900000" flipV="1">
            <a:off x="8688882" y="5578872"/>
            <a:ext cx="4421529" cy="7988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p:nvSpPr>
        <p:spPr>
          <a:xfrm rot="18900000" flipV="1">
            <a:off x="8955099" y="5578872"/>
            <a:ext cx="4421529" cy="7988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nvSpPr>
        <p:spPr>
          <a:xfrm rot="10800000">
            <a:off x="5692775" y="2580640"/>
            <a:ext cx="805815" cy="1309370"/>
          </a:xfrm>
          <a:prstGeom prst="rect">
            <a:avLst/>
          </a:prstGeom>
        </p:spPr>
        <p:txBody>
          <a:bodyPr wrap="square">
            <a:spAutoFit/>
          </a:bodyPr>
          <a:lstStyle/>
          <a:p>
            <a:pPr indent="0" algn="just">
              <a:lnSpc>
                <a:spcPct val="120000"/>
              </a:lnSpc>
              <a:buClrTx/>
              <a:buSzTx/>
              <a:buFont typeface="Arial" panose="020B0604020202020204" pitchFamily="34" charset="0"/>
              <a:buNone/>
            </a:pPr>
            <a:r>
              <a:rPr lang="en-US" sz="6600" b="1">
                <a:latin typeface="Times New Roman" panose="02020603050405020304" charset="0"/>
                <a:ea typeface="等线" panose="02010600030101010101" charset="-122"/>
              </a:rPr>
              <a:t>?</a:t>
            </a:r>
            <a:endParaRPr lang="en-US" sz="6600" b="1" dirty="0">
              <a:solidFill>
                <a:schemeClr val="tx1">
                  <a:lumMod val="85000"/>
                  <a:lumOff val="15000"/>
                </a:schemeClr>
              </a:solidFill>
              <a:uFillTx/>
              <a:latin typeface="Times New Roman" panose="02020603050405020304" charset="0"/>
              <a:ea typeface="等线" panose="02010600030101010101" charset="-122"/>
              <a:cs typeface="Times New Roman" panose="02020603050405020304" charset="0"/>
            </a:endParaRP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DIAGRAM_VIRTUALLY_FRAME" val="{&quot;height&quot;:334.55259842519683,&quot;left&quot;:168.46086614173228,&quot;top&quot;:148.61535433070867,&quot;width&quot;:764.7699212598425}"/>
</p:tagLst>
</file>

<file path=ppt/tags/tag2.xml><?xml version="1.0" encoding="utf-8"?>
<p:tagLst xmlns:a="http://schemas.openxmlformats.org/drawingml/2006/main" xmlns:r="http://schemas.openxmlformats.org/officeDocument/2006/relationships" xmlns:p="http://schemas.openxmlformats.org/presentationml/2006/main">
  <p:tag name="KSO_WM_DIAGRAM_VIRTUALLY_FRAME" val="{&quot;height&quot;:334.55259842519683,&quot;left&quot;:168.46086614173228,&quot;top&quot;:148.61535433070867,&quot;width&quot;:764.7699212598425}"/>
</p:tagLst>
</file>

<file path=ppt/tags/tag3.xml><?xml version="1.0" encoding="utf-8"?>
<p:tagLst xmlns:a="http://schemas.openxmlformats.org/drawingml/2006/main" xmlns:r="http://schemas.openxmlformats.org/officeDocument/2006/relationships" xmlns:p="http://schemas.openxmlformats.org/presentationml/2006/main">
  <p:tag name="KSO_WM_DIAGRAM_VIRTUALLY_FRAME" val="{&quot;height&quot;:334.55259842519683,&quot;left&quot;:168.46086614173228,&quot;top&quot;:148.61535433070867,&quot;width&quot;:764.7699212598425}"/>
</p:tagLst>
</file>

<file path=ppt/tags/tag4.xml><?xml version="1.0" encoding="utf-8"?>
<p:tagLst xmlns:a="http://schemas.openxmlformats.org/drawingml/2006/main" xmlns:r="http://schemas.openxmlformats.org/officeDocument/2006/relationships" xmlns:p="http://schemas.openxmlformats.org/presentationml/2006/main">
  <p:tag name="KSO_WM_DIAGRAM_VIRTUALLY_FRAME" val="{&quot;height&quot;:280.648188976378,&quot;left&quot;:451.27511811023624,&quot;top&quot;:131.0531496062992,&quot;width&quot;:515.8355118110237}"/>
</p:tagLst>
</file>

<file path=ppt/tags/tag5.xml><?xml version="1.0" encoding="utf-8"?>
<p:tagLst xmlns:a="http://schemas.openxmlformats.org/drawingml/2006/main" xmlns:r="http://schemas.openxmlformats.org/officeDocument/2006/relationships" xmlns:p="http://schemas.openxmlformats.org/presentationml/2006/main">
  <p:tag name="KSO_WM_DIAGRAM_VIRTUALLY_FRAME" val="{&quot;height&quot;:280.648188976378,&quot;left&quot;:451.27511811023624,&quot;top&quot;:131.0531496062992,&quot;width&quot;:515.8355118110237}"/>
</p:tagLst>
</file>

<file path=ppt/tags/tag6.xml><?xml version="1.0" encoding="utf-8"?>
<p:tagLst xmlns:a="http://schemas.openxmlformats.org/drawingml/2006/main" xmlns:r="http://schemas.openxmlformats.org/officeDocument/2006/relationships" xmlns:p="http://schemas.openxmlformats.org/presentationml/2006/main">
  <p:tag name="KSO_WM_DIAGRAM_VIRTUALLY_FRAME" val="{&quot;height&quot;:280.648188976378,&quot;left&quot;:451.27511811023624,&quot;top&quot;:131.0531496062992,&quot;width&quot;:515.8355118110237}"/>
</p:tagLst>
</file>

<file path=ppt/tags/tag7.xml><?xml version="1.0" encoding="utf-8"?>
<p:tagLst xmlns:a="http://schemas.openxmlformats.org/drawingml/2006/main" xmlns:r="http://schemas.openxmlformats.org/officeDocument/2006/relationships" xmlns:p="http://schemas.openxmlformats.org/presentationml/2006/main">
  <p:tag name="KSO_WM_DIAGRAM_VIRTUALLY_FRAME" val="{&quot;height&quot;:280.648188976378,&quot;left&quot;:451.27511811023624,&quot;top&quot;:131.0531496062992,&quot;width&quot;:515.8355118110237}"/>
</p:tagLst>
</file>

<file path=ppt/tags/tag8.xml><?xml version="1.0" encoding="utf-8"?>
<p:tagLst xmlns:a="http://schemas.openxmlformats.org/drawingml/2006/main" xmlns:r="http://schemas.openxmlformats.org/officeDocument/2006/relationships" xmlns:p="http://schemas.openxmlformats.org/presentationml/2006/main">
  <p:tag name="KSO_WM_DIAGRAM_VIRTUALLY_FRAME" val="{&quot;height&quot;:280.648188976378,&quot;left&quot;:451.27511811023624,&quot;top&quot;:131.0531496062992,&quot;width&quot;:515.8355118110237}"/>
</p:tagLst>
</file>

<file path=ppt/tags/tag9.xml><?xml version="1.0" encoding="utf-8"?>
<p:tagLst xmlns:a="http://schemas.openxmlformats.org/drawingml/2006/main" xmlns:r="http://schemas.openxmlformats.org/officeDocument/2006/relationships" xmlns:p="http://schemas.openxmlformats.org/presentationml/2006/main">
  <p:tag name="KSO_WM_DIAGRAM_VIRTUALLY_FRAME" val="{&quot;height&quot;:280.648188976378,&quot;left&quot;:451.27511811023624,&quot;top&quot;:131.0531496062992,&quot;width&quot;:515.8355118110237}"/>
</p:tagLst>
</file>

<file path=ppt/tags/tag10.xml><?xml version="1.0" encoding="utf-8"?>
<p:tagLst xmlns:a="http://schemas.openxmlformats.org/drawingml/2006/main" xmlns:r="http://schemas.openxmlformats.org/officeDocument/2006/relationships" xmlns:p="http://schemas.openxmlformats.org/presentationml/2006/main">
  <p:tag name="KSO_WM_DIAGRAM_VIRTUALLY_FRAME" val="{&quot;height&quot;:280.648188976378,&quot;left&quot;:451.27511811023624,&quot;top&quot;:131.0531496062992,&quot;width&quot;:515.8355118110237}"/>
</p:tagLst>
</file>

<file path=ppt/tags/tag11.xml><?xml version="1.0" encoding="utf-8"?>
<p:tagLst xmlns:a="http://schemas.openxmlformats.org/drawingml/2006/main" xmlns:r="http://schemas.openxmlformats.org/officeDocument/2006/relationships" xmlns:p="http://schemas.openxmlformats.org/presentationml/2006/main">
  <p:tag name="KSO_WM_DIAGRAM_VIRTUALLY_FRAME" val="{&quot;height&quot;:280.648188976378,&quot;left&quot;:451.27511811023624,&quot;top&quot;:131.0531496062992,&quot;width&quot;:515.8355118110237}"/>
</p:tagLst>
</file>

<file path=ppt/tags/tag12.xml><?xml version="1.0" encoding="utf-8"?>
<p:tagLst xmlns:a="http://schemas.openxmlformats.org/drawingml/2006/main" xmlns:r="http://schemas.openxmlformats.org/officeDocument/2006/relationships" xmlns:p="http://schemas.openxmlformats.org/presentationml/2006/main">
  <p:tag name="KSO_WM_DIAGRAM_VIRTUALLY_FRAME" val="{&quot;height&quot;:280.648188976378,&quot;left&quot;:451.27511811023624,&quot;top&quot;:131.0531496062992,&quot;width&quot;:515.8355118110237}"/>
</p:tagLst>
</file>

<file path=ppt/tags/tag13.xml><?xml version="1.0" encoding="utf-8"?>
<p:tagLst xmlns:a="http://schemas.openxmlformats.org/drawingml/2006/main" xmlns:r="http://schemas.openxmlformats.org/officeDocument/2006/relationships" xmlns:p="http://schemas.openxmlformats.org/presentationml/2006/main">
  <p:tag name="KSO_WM_DIAGRAM_VIRTUALLY_FRAME" val="{&quot;height&quot;:280.648188976378,&quot;left&quot;:451.27511811023624,&quot;top&quot;:131.0531496062992,&quot;width&quot;:515.8355118110237}"/>
</p:tagLst>
</file>

<file path=ppt/tags/tag14.xml><?xml version="1.0" encoding="utf-8"?>
<p:tagLst xmlns:a="http://schemas.openxmlformats.org/drawingml/2006/main" xmlns:r="http://schemas.openxmlformats.org/officeDocument/2006/relationships" xmlns:p="http://schemas.openxmlformats.org/presentationml/2006/main">
  <p:tag name="KSO_WM_DIAGRAM_VIRTUALLY_FRAME" val="{&quot;height&quot;:280.648188976378,&quot;left&quot;:451.27511811023624,&quot;top&quot;:131.0531496062992,&quot;width&quot;:515.8355118110237}"/>
</p:tagLst>
</file>

<file path=ppt/tags/tag15.xml><?xml version="1.0" encoding="utf-8"?>
<p:tagLst xmlns:a="http://schemas.openxmlformats.org/drawingml/2006/main" xmlns:r="http://schemas.openxmlformats.org/officeDocument/2006/relationships" xmlns:p="http://schemas.openxmlformats.org/presentationml/2006/main">
  <p:tag name="KSO_WM_DIAGRAM_VIRTUALLY_FRAME" val="{&quot;height&quot;:280.648188976378,&quot;left&quot;:451.27511811023624,&quot;top&quot;:131.0531496062992,&quot;width&quot;:515.8355118110237}"/>
</p:tagLst>
</file>

<file path=ppt/tags/tag16.xml><?xml version="1.0" encoding="utf-8"?>
<p:tagLst xmlns:a="http://schemas.openxmlformats.org/drawingml/2006/main" xmlns:r="http://schemas.openxmlformats.org/officeDocument/2006/relationships" xmlns:p="http://schemas.openxmlformats.org/presentationml/2006/main">
  <p:tag name="KSO_WM_DIAGRAM_VIRTUALLY_FRAME" val="{&quot;height&quot;:280.648188976378,&quot;left&quot;:451.27511811023624,&quot;top&quot;:131.0531496062992,&quot;width&quot;:515.8355118110237}"/>
</p:tagLst>
</file>

<file path=ppt/tags/tag17.xml><?xml version="1.0" encoding="utf-8"?>
<p:tagLst xmlns:a="http://schemas.openxmlformats.org/drawingml/2006/main" xmlns:r="http://schemas.openxmlformats.org/officeDocument/2006/relationships" xmlns:p="http://schemas.openxmlformats.org/presentationml/2006/main">
  <p:tag name="KSO_WM_DIAGRAM_VIRTUALLY_FRAME" val="{&quot;height&quot;:280.648188976378,&quot;left&quot;:451.27511811023624,&quot;top&quot;:131.0531496062992,&quot;width&quot;:515.8355118110237}"/>
</p:tagLst>
</file>

<file path=ppt/tags/tag18.xml><?xml version="1.0" encoding="utf-8"?>
<p:tagLst xmlns:a="http://schemas.openxmlformats.org/drawingml/2006/main" xmlns:r="http://schemas.openxmlformats.org/officeDocument/2006/relationships" xmlns:p="http://schemas.openxmlformats.org/presentationml/2006/main">
  <p:tag name="KSO_WM_DIAGRAM_VIRTUALLY_FRAME" val="{&quot;height&quot;:280.648188976378,&quot;left&quot;:451.27511811023624,&quot;top&quot;:131.0531496062992,&quot;width&quot;:515.8355118110237}"/>
</p:tagLst>
</file>

<file path=ppt/tags/tag19.xml><?xml version="1.0" encoding="utf-8"?>
<p:tagLst xmlns:a="http://schemas.openxmlformats.org/drawingml/2006/main" xmlns:r="http://schemas.openxmlformats.org/officeDocument/2006/relationships" xmlns:p="http://schemas.openxmlformats.org/presentationml/2006/main">
  <p:tag name="KSO_WM_DIAGRAM_VIRTUALLY_FRAME" val="{&quot;height&quot;:280.648188976378,&quot;left&quot;:451.27511811023624,&quot;top&quot;:131.0531496062992,&quot;width&quot;:515.8355118110237}"/>
</p:tagLst>
</file>

<file path=ppt/tags/tag20.xml><?xml version="1.0" encoding="utf-8"?>
<p:tagLst xmlns:a="http://schemas.openxmlformats.org/drawingml/2006/main" xmlns:r="http://schemas.openxmlformats.org/officeDocument/2006/relationships" xmlns:p="http://schemas.openxmlformats.org/presentationml/2006/main">
  <p:tag name="KSO_WM_DIAGRAM_VIRTUALLY_FRAME" val="{&quot;height&quot;:280.648188976378,&quot;left&quot;:451.27511811023624,&quot;top&quot;:131.0531496062992,&quot;width&quot;:515.8355118110237}"/>
</p:tagLst>
</file>

<file path=ppt/tags/tag21.xml><?xml version="1.0" encoding="utf-8"?>
<p:tagLst xmlns:a="http://schemas.openxmlformats.org/drawingml/2006/main" xmlns:r="http://schemas.openxmlformats.org/officeDocument/2006/relationships" xmlns:p="http://schemas.openxmlformats.org/presentationml/2006/main">
  <p:tag name="KSO_WM_DIAGRAM_VIRTUALLY_FRAME" val="{&quot;height&quot;:280.648188976378,&quot;left&quot;:451.27511811023624,&quot;top&quot;:131.0531496062992,&quot;width&quot;:515.8355118110237}"/>
</p:tagLst>
</file>

<file path=ppt/tags/tag22.xml><?xml version="1.0" encoding="utf-8"?>
<p:tagLst xmlns:a="http://schemas.openxmlformats.org/drawingml/2006/main" xmlns:r="http://schemas.openxmlformats.org/officeDocument/2006/relationships" xmlns:p="http://schemas.openxmlformats.org/presentationml/2006/main">
  <p:tag name="KSO_WM_DIAGRAM_VIRTUALLY_FRAME" val="{&quot;height&quot;:334.55259842519683,&quot;left&quot;:168.46086614173228,&quot;top&quot;:148.61535433070867,&quot;width&quot;:764.7699212598425}"/>
</p:tagLst>
</file>

<file path=ppt/theme/theme1.xml><?xml version="1.0" encoding="utf-8"?>
<a:theme xmlns:a="http://schemas.openxmlformats.org/drawingml/2006/main" name="Office 主题​​">
  <a:themeElements>
    <a:clrScheme name="自定义 990">
      <a:dk1>
        <a:sysClr val="windowText" lastClr="000000"/>
      </a:dk1>
      <a:lt1>
        <a:sysClr val="window" lastClr="FFFFFF"/>
      </a:lt1>
      <a:dk2>
        <a:srgbClr val="44546A"/>
      </a:dk2>
      <a:lt2>
        <a:srgbClr val="E7E6E6"/>
      </a:lt2>
      <a:accent1>
        <a:srgbClr val="315597"/>
      </a:accent1>
      <a:accent2>
        <a:srgbClr val="517BC7"/>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178</TotalTime>
  <Words>9033</Words>
  <Application>Microsoft Office PowerPoint</Application>
  <PresentationFormat>宽屏</PresentationFormat>
  <Paragraphs>441</Paragraphs>
  <Slides>28</Slides>
  <Notes>26</Notes>
  <HiddenSlides>0</HiddenSlides>
  <MMClips>0</MMClips>
  <ScaleCrop>false</ScaleCrop>
  <HeadingPairs>
    <vt:vector size="6" baseType="variant">
      <vt:variant>
        <vt:lpstr>已用的字体</vt:lpstr>
      </vt:variant>
      <vt:variant>
        <vt:i4>10</vt:i4>
      </vt:variant>
      <vt:variant>
        <vt:lpstr>主题</vt:lpstr>
      </vt:variant>
      <vt:variant>
        <vt:i4>1</vt:i4>
      </vt:variant>
      <vt:variant>
        <vt:lpstr>幻灯片标题</vt:lpstr>
      </vt:variant>
      <vt:variant>
        <vt:i4>28</vt:i4>
      </vt:variant>
    </vt:vector>
  </HeadingPairs>
  <TitlesOfParts>
    <vt:vector size="39" baseType="lpstr">
      <vt:lpstr>HarmonyOS Sans SC</vt:lpstr>
      <vt:lpstr>等线</vt:lpstr>
      <vt:lpstr>等线 Light</vt:lpstr>
      <vt:lpstr>微软雅黑</vt:lpstr>
      <vt:lpstr>微软雅黑 Light</vt:lpstr>
      <vt:lpstr>Arial</vt:lpstr>
      <vt:lpstr>Calibri</vt:lpstr>
      <vt:lpstr>Cambria Math</vt:lpstr>
      <vt:lpstr>Impact</vt:lpstr>
      <vt:lpstr>Times New Roman</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稻壳儿演示武汉组</dc:creator>
  <cp:lastModifiedBy>Andy Lau</cp:lastModifiedBy>
  <cp:revision>248</cp:revision>
  <dcterms:created xsi:type="dcterms:W3CDTF">2019-05-21T01:13:00Z</dcterms:created>
  <dcterms:modified xsi:type="dcterms:W3CDTF">2025-11-09T04:08:31Z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2052-12.1.0.23542</vt:lpwstr>
  </property>
  <property fmtid="{D5CDD505-2E9C-101B-9397-08002B2CF9AE}" pid="3" name="KSOTemplateUUID">
    <vt:lpwstr>v1.0_mb_ORTAqKTmL1a0mAz1St5ElQ==</vt:lpwstr>
  </property>
  <property fmtid="{D5CDD505-2E9C-101B-9397-08002B2CF9AE}" pid="4" name="ICV">
    <vt:lpwstr>39EA6B8FC9D24D8FB9C108715FF2DABC_13</vt:lpwstr>
  </property>
</Properties>
</file>