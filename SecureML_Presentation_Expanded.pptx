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SecureML: A System for Scalable Privacy-Preserving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作者：Payman Mohassel &amp; Yupeng Zhang</a:t>
            </a:r>
          </a:p>
          <a:p>
            <a:r>
              <a:rPr sz="2000">
                <a:solidFill>
                  <a:srgbClr val="285AA0"/>
                </a:solidFill>
              </a:rPr>
              <a:t>会议：IEEE Symposium on Security and Privacy (S&amp;P) 2017</a:t>
            </a:r>
          </a:p>
          <a:p>
            <a:r>
              <a:rPr sz="2000">
                <a:solidFill>
                  <a:srgbClr val="285AA0"/>
                </a:solidFill>
              </a:rPr>
              <a:t>汇报人：李旭杰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研究背景①：数据隐私困境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· 数据分散在不同机构（医疗、金融、政府等）</a:t>
            </a:r>
          </a:p>
          <a:p>
            <a:r>
              <a:rPr sz="2000">
                <a:solidFill>
                  <a:srgbClr val="285AA0"/>
                </a:solidFill>
              </a:rPr>
              <a:t>· 法规限制（GDPR、个人信息保护法）导致数据孤岛</a:t>
            </a:r>
          </a:p>
          <a:p>
            <a:r>
              <a:rPr sz="2000">
                <a:solidFill>
                  <a:srgbClr val="285AA0"/>
                </a:solidFill>
              </a:rPr>
              <a:t>· 数据越多模型越准，数据越敏感越难共享</a:t>
            </a:r>
          </a:p>
          <a:p>
            <a:r>
              <a:rPr sz="2000">
                <a:solidFill>
                  <a:srgbClr val="285AA0"/>
                </a:solidFill>
              </a:rPr>
              <a:t>· 隐私保护成为机器学习瓶颈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研究背景②：传统方法的局限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同态加密 (HE)：加密状态运算但极慢</a:t>
            </a:r>
          </a:p>
          <a:p>
            <a:r>
              <a:rPr sz="2000">
                <a:solidFill>
                  <a:srgbClr val="285AA0"/>
                </a:solidFill>
              </a:rPr>
              <a:t>多方安全计算 (MPC)：高安全但通信量大</a:t>
            </a:r>
          </a:p>
          <a:p>
            <a:r>
              <a:rPr sz="2000">
                <a:solidFill>
                  <a:srgbClr val="285AA0"/>
                </a:solidFill>
              </a:rPr>
              <a:t>可信执行环境 (TEE)：实用但依赖硬件信任</a:t>
            </a:r>
          </a:p>
          <a:p>
            <a:r>
              <a:rPr sz="2000">
                <a:solidFill>
                  <a:srgbClr val="285AA0"/>
                </a:solidFill>
              </a:rPr>
              <a:t>→ 如何平衡隐私与可扩展性？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· 理论突破：打破“隐私保护=低效”</a:t>
            </a:r>
          </a:p>
          <a:p>
            <a:r>
              <a:rPr sz="2000">
                <a:solidFill>
                  <a:srgbClr val="285AA0"/>
                </a:solidFill>
              </a:rPr>
              <a:t>· 应用突破：首个支持神经网络的隐私保护系统</a:t>
            </a:r>
          </a:p>
          <a:p>
            <a:r>
              <a:rPr sz="2000">
                <a:solidFill>
                  <a:srgbClr val="285AA0"/>
                </a:solidFill>
              </a:rPr>
              <a:t>· 性能提升100–1000倍，精度几乎一致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系统总体架构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· “两服务器模型”：客户端→S₀/S₁→模型输出</a:t>
            </a:r>
          </a:p>
          <a:p>
            <a:r>
              <a:rPr sz="2000">
                <a:solidFill>
                  <a:srgbClr val="285AA0"/>
                </a:solidFill>
              </a:rPr>
              <a:t>· 客户端上传数据后可离线</a:t>
            </a:r>
          </a:p>
          <a:p>
            <a:r>
              <a:rPr sz="2000">
                <a:solidFill>
                  <a:srgbClr val="285AA0"/>
                </a:solidFill>
              </a:rPr>
              <a:t>· 两服务器通过2PC协同训练</a:t>
            </a:r>
          </a:p>
          <a:p>
            <a:r>
              <a:rPr sz="2000">
                <a:solidFill>
                  <a:srgbClr val="285AA0"/>
                </a:solidFill>
              </a:rPr>
              <a:t>· 分为离线与在线阶段：重离线、轻在线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安全模型与假设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· 半诚实模型 (Semi-Honest)</a:t>
            </a:r>
          </a:p>
          <a:p>
            <a:r>
              <a:rPr sz="2000">
                <a:solidFill>
                  <a:srgbClr val="285AA0"/>
                </a:solidFill>
              </a:rPr>
              <a:t>· 两服务器不串通假设</a:t>
            </a:r>
          </a:p>
          <a:p>
            <a:r>
              <a:rPr sz="2000">
                <a:solidFill>
                  <a:srgbClr val="285AA0"/>
                </a:solidFill>
              </a:rPr>
              <a:t>· 客户端不参与在线计算</a:t>
            </a:r>
          </a:p>
          <a:p>
            <a:r>
              <a:rPr sz="2000">
                <a:solidFill>
                  <a:srgbClr val="285AA0"/>
                </a:solidFill>
              </a:rPr>
              <a:t>· 假设被破坏→存在隐私风险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核心创新①：高效小数运算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· 问题：小数计算极慢</a:t>
            </a:r>
          </a:p>
          <a:p>
            <a:r>
              <a:rPr sz="2000">
                <a:solidFill>
                  <a:srgbClr val="285AA0"/>
                </a:solidFill>
              </a:rPr>
              <a:t>· 创新：本地截断 (Local Truncation)</a:t>
            </a:r>
          </a:p>
          <a:p>
            <a:r>
              <a:rPr sz="2000">
                <a:solidFill>
                  <a:srgbClr val="285AA0"/>
                </a:solidFill>
              </a:rPr>
              <a:t>· 各服务器本地截断小数，无需通信</a:t>
            </a:r>
          </a:p>
          <a:p>
            <a:r>
              <a:rPr sz="2000">
                <a:solidFill>
                  <a:srgbClr val="285AA0"/>
                </a:solidFill>
              </a:rPr>
              <a:t>· 误差≤1bit，性能接近明文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核心创新②：MPC 友好激活函数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· Sigmoid→分段线性函数</a:t>
            </a:r>
          </a:p>
          <a:p>
            <a:r>
              <a:rPr sz="2000">
                <a:solidFill>
                  <a:srgbClr val="285AA0"/>
                </a:solidFill>
              </a:rPr>
              <a:t>· Softmax→ReLU+安全除法</a:t>
            </a:r>
          </a:p>
          <a:p>
            <a:r>
              <a:rPr sz="2000">
                <a:solidFill>
                  <a:srgbClr val="285AA0"/>
                </a:solidFill>
              </a:rPr>
              <a:t>· 精度几乎不损失，计算显著加速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核心创新③：协议向量化与批量优化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· 批量生成矩阵三元组</a:t>
            </a:r>
          </a:p>
          <a:p>
            <a:r>
              <a:rPr sz="2000">
                <a:solidFill>
                  <a:srgbClr val="285AA0"/>
                </a:solidFill>
              </a:rPr>
              <a:t>· 离线阶段预处理整块数据</a:t>
            </a:r>
          </a:p>
          <a:p>
            <a:r>
              <a:rPr sz="2000">
                <a:solidFill>
                  <a:srgbClr val="285AA0"/>
                </a:solidFill>
              </a:rPr>
              <a:t>· 在线阶段矩阵乘法+并行</a:t>
            </a:r>
          </a:p>
          <a:p>
            <a:r>
              <a:rPr sz="2000">
                <a:solidFill>
                  <a:srgbClr val="285AA0"/>
                </a:solidFill>
              </a:rPr>
              <a:t>· 通信量↓4倍，离线加速40–60倍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实现细节与安全保证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· 混合使用算术/布尔/Yao分享</a:t>
            </a:r>
          </a:p>
          <a:p>
            <a:r>
              <a:rPr sz="2000">
                <a:solidFill>
                  <a:srgbClr val="285AA0"/>
                </a:solidFill>
              </a:rPr>
              <a:t>· 离线生成三元组，在线仅整数操作</a:t>
            </a:r>
          </a:p>
          <a:p>
            <a:r>
              <a:rPr sz="2000">
                <a:solidFill>
                  <a:srgbClr val="285AA0"/>
                </a:solidFill>
              </a:rPr>
              <a:t>· 误差≤1bit，通信量近似明文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实验结果①：性能对比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线性回归：MNIST 1.4s (+1300×)</a:t>
            </a:r>
          </a:p>
          <a:p>
            <a:r>
              <a:rPr sz="2000">
                <a:solidFill>
                  <a:srgbClr val="285AA0"/>
                </a:solidFill>
              </a:rPr>
              <a:t>逻辑回归：MNIST 29s (+1000×)</a:t>
            </a:r>
          </a:p>
          <a:p>
            <a:r>
              <a:rPr sz="2000">
                <a:solidFill>
                  <a:srgbClr val="285AA0"/>
                </a:solidFill>
              </a:rPr>
              <a:t>神经网络：93.4% 精度 (+500×)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实验结果②：可扩展性分析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· 样本规模与训练时间线性增长</a:t>
            </a:r>
          </a:p>
          <a:p>
            <a:r>
              <a:rPr sz="2000">
                <a:solidFill>
                  <a:srgbClr val="285AA0"/>
                </a:solidFill>
              </a:rPr>
              <a:t>· 明文与SecureML趋势几乎一致</a:t>
            </a:r>
          </a:p>
          <a:p>
            <a:r>
              <a:rPr sz="2000">
                <a:solidFill>
                  <a:srgbClr val="285AA0"/>
                </a:solidFill>
              </a:rPr>
              <a:t>· 可扩展至百万样本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不足与局限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· 仅支持浅层模型</a:t>
            </a:r>
          </a:p>
          <a:p>
            <a:r>
              <a:rPr sz="2000">
                <a:solidFill>
                  <a:srgbClr val="285AA0"/>
                </a:solidFill>
              </a:rPr>
              <a:t>· 半诚实假设强</a:t>
            </a:r>
          </a:p>
          <a:p>
            <a:r>
              <a:rPr sz="2000">
                <a:solidFill>
                  <a:srgbClr val="285AA0"/>
                </a:solidFill>
              </a:rPr>
              <a:t>· 两服务器不串通要求高</a:t>
            </a:r>
          </a:p>
          <a:p>
            <a:r>
              <a:rPr sz="2000">
                <a:solidFill>
                  <a:srgbClr val="285AA0"/>
                </a:solidFill>
              </a:rPr>
              <a:t>· 激活函数仍近似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未来展望与总结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5AA0"/>
                </a:solidFill>
              </a:rPr>
              <a:t>· 结合差分隐私与TEE增强安全</a:t>
            </a:r>
          </a:p>
          <a:p>
            <a:r>
              <a:rPr sz="2000">
                <a:solidFill>
                  <a:srgbClr val="285AA0"/>
                </a:solidFill>
              </a:rPr>
              <a:t>· 扩展至SecureNN、CryptGPU等</a:t>
            </a:r>
          </a:p>
          <a:p>
            <a:r>
              <a:rPr sz="2000">
                <a:solidFill>
                  <a:srgbClr val="285AA0"/>
                </a:solidFill>
              </a:rPr>
              <a:t>· 实现隐私与高效平衡</a:t>
            </a:r>
          </a:p>
          <a:p>
            <a:r>
              <a:rPr sz="2000">
                <a:solidFill>
                  <a:srgbClr val="285AA0"/>
                </a:solidFill>
              </a:rPr>
              <a:t>· 奠定隐私深度学习基础</a:t>
            </a:r>
          </a:p>
          <a:p>
            <a:r>
              <a:rPr sz="2000">
                <a:solidFill>
                  <a:srgbClr val="285AA0"/>
                </a:solidFill>
              </a:rPr>
              <a:t>汇报人：李旭杰  海南大学  2025年11月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